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slideLayouts/slideLayout10.xml" ContentType="application/vnd.openxmlformats-officedocument.presentationml.slideLayout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ags/tag7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80" r:id="rId13"/>
    <p:sldId id="281" r:id="rId14"/>
    <p:sldId id="275" r:id="rId15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CCEC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713" autoAdjust="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868100" cy="3686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C1722-305B-4FD0-977E-DF5BFC7BB589}" type="datetimeFigureOut">
              <a:rPr lang="es-AR" smtClean="0"/>
              <a:pPr/>
              <a:t>17/09/2018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A072C-E133-4ADE-815D-4D49AA53AB67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C1722-305B-4FD0-977E-DF5BFC7BB589}" type="datetimeFigureOut">
              <a:rPr lang="es-AR" smtClean="0"/>
              <a:pPr/>
              <a:t>17/09/2018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A072C-E133-4ADE-815D-4D49AA53AB67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C1722-305B-4FD0-977E-DF5BFC7BB589}" type="datetimeFigureOut">
              <a:rPr lang="es-AR" smtClean="0"/>
              <a:pPr/>
              <a:t>17/09/2018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A072C-E133-4ADE-815D-4D49AA53AB67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C1722-305B-4FD0-977E-DF5BFC7BB589}" type="datetimeFigureOut">
              <a:rPr lang="es-AR" smtClean="0"/>
              <a:pPr/>
              <a:t>17/09/2018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A072C-E133-4ADE-815D-4D49AA53AB67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C1722-305B-4FD0-977E-DF5BFC7BB589}" type="datetimeFigureOut">
              <a:rPr lang="es-AR" smtClean="0"/>
              <a:pPr/>
              <a:t>17/09/2018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A072C-E133-4ADE-815D-4D49AA53AB67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C1722-305B-4FD0-977E-DF5BFC7BB589}" type="datetimeFigureOut">
              <a:rPr lang="es-AR" smtClean="0"/>
              <a:pPr/>
              <a:t>17/09/2018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A072C-E133-4ADE-815D-4D49AA53AB67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C1722-305B-4FD0-977E-DF5BFC7BB589}" type="datetimeFigureOut">
              <a:rPr lang="es-AR" smtClean="0"/>
              <a:pPr/>
              <a:t>17/09/2018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A072C-E133-4ADE-815D-4D49AA53AB67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C1722-305B-4FD0-977E-DF5BFC7BB589}" type="datetimeFigureOut">
              <a:rPr lang="es-AR" smtClean="0"/>
              <a:pPr/>
              <a:t>17/09/2018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A072C-E133-4ADE-815D-4D49AA53AB67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C1722-305B-4FD0-977E-DF5BFC7BB589}" type="datetimeFigureOut">
              <a:rPr lang="es-AR" smtClean="0"/>
              <a:pPr/>
              <a:t>17/09/2018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A072C-E133-4ADE-815D-4D49AA53AB67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C1722-305B-4FD0-977E-DF5BFC7BB589}" type="datetimeFigureOut">
              <a:rPr lang="es-AR" smtClean="0"/>
              <a:pPr/>
              <a:t>17/09/2018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A072C-E133-4ADE-815D-4D49AA53AB67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C1722-305B-4FD0-977E-DF5BFC7BB589}" type="datetimeFigureOut">
              <a:rPr lang="es-AR" smtClean="0"/>
              <a:pPr/>
              <a:t>17/09/2018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A072C-E133-4ADE-815D-4D49AA53AB67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C1722-305B-4FD0-977E-DF5BFC7BB589}" type="datetimeFigureOut">
              <a:rPr lang="es-AR" smtClean="0"/>
              <a:pPr/>
              <a:t>17/09/2018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A072C-E133-4ADE-815D-4D49AA53AB67}" type="slidenum">
              <a:rPr lang="es-AR" smtClean="0"/>
              <a:pPr/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9 Grupo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14" name="Line 3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685800" y="35814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15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3167063"/>
            <a:ext cx="27382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i="1" dirty="0" err="1" smtClean="0">
                <a:latin typeface="Times New Roman" pitchFamily="18" charset="0"/>
              </a:rPr>
              <a:t>Técnicas</a:t>
            </a:r>
            <a:r>
              <a:rPr lang="en-US" sz="2400" i="1" dirty="0" smtClean="0">
                <a:latin typeface="Times New Roman" pitchFamily="18" charset="0"/>
              </a:rPr>
              <a:t> </a:t>
            </a:r>
            <a:r>
              <a:rPr lang="en-US" sz="2400" i="1" dirty="0" err="1" smtClean="0">
                <a:latin typeface="Times New Roman" pitchFamily="18" charset="0"/>
              </a:rPr>
              <a:t>Digitales</a:t>
            </a:r>
            <a:r>
              <a:rPr lang="en-US" sz="2400" i="1" dirty="0" smtClean="0">
                <a:latin typeface="Times New Roman" pitchFamily="18" charset="0"/>
              </a:rPr>
              <a:t> I </a:t>
            </a:r>
            <a:endParaRPr lang="en-GB" sz="2400" i="1" dirty="0">
              <a:latin typeface="Times New Roman" pitchFamily="18" charset="0"/>
            </a:endParaRPr>
          </a:p>
        </p:txBody>
      </p:sp>
      <p:sp>
        <p:nvSpPr>
          <p:cNvPr id="16" name="Text 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189936" y="3595688"/>
            <a:ext cx="21264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smtClean="0">
                <a:latin typeface="Times New Roman" pitchFamily="18" charset="0"/>
              </a:rPr>
              <a:t>Luis Eduardo Toledo</a:t>
            </a:r>
            <a:endParaRPr lang="en-GB" sz="1800" dirty="0">
              <a:latin typeface="Times New Roman" pitchFamily="18" charset="0"/>
            </a:endParaRPr>
          </a:p>
        </p:txBody>
      </p:sp>
      <p:sp>
        <p:nvSpPr>
          <p:cNvPr id="20" name="Rectangle 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/>
                <a:ea typeface="+mj-ea"/>
                <a:cs typeface="Arial"/>
              </a:rPr>
              <a:t>SISTEMAS SECUENCIALES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/>
              <a:ea typeface="+mj-ea"/>
              <a:cs typeface="Arial"/>
            </a:endParaRPr>
          </a:p>
        </p:txBody>
      </p:sp>
      <p:pic>
        <p:nvPicPr>
          <p:cNvPr id="12" name="Picture 3" descr="D:\Luis\Facultad\UTN\240px-UTN_logo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MÁQUINA DE ESTADOS: MEALY Y MOORE</a:t>
            </a:r>
            <a:endParaRPr lang="en-GB" sz="2400" kern="0" dirty="0">
              <a:solidFill>
                <a:srgbClr val="000000"/>
              </a:solidFill>
              <a:latin typeface="Arial Black"/>
              <a:cs typeface="Arial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0488" y="1142764"/>
            <a:ext cx="8963025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EJEMPLO COMPARATIVO MOORE-MEALY</a:t>
            </a:r>
            <a:endParaRPr lang="en-GB" sz="2400" kern="0" dirty="0">
              <a:solidFill>
                <a:srgbClr val="000000"/>
              </a:solidFill>
              <a:latin typeface="Arial Black"/>
              <a:cs typeface="Arial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3383868" y="1328566"/>
            <a:ext cx="561662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 err="1" smtClean="0"/>
              <a:t>Alyssa</a:t>
            </a:r>
            <a:r>
              <a:rPr lang="es-ES" sz="2000" dirty="0" smtClean="0"/>
              <a:t> P. Hacker posee un caracol robotizado de mascota con un cerebro diseñado con una FSM. El caracol se arrastra de izquierda a derecha a lo largo de una cinta de papel que contiene una secuencia de 1s y 0s. En cada ciclo de reloj, el caracol se arrastra hasta el siguiente bit. El caracol sonríe cuando los dos últimos bits sobre los que se ha arrastrado son, de izquierda a derecha, 01. Diseñar la FSM para calcular cuando el caracol debe sonreír. La entrada A es el bit debajo de las antenas del caracol. La salida Y es VERDADERA cuando el caracol sonríe. Comparar los diseños de máquinas de estado de Moore y </a:t>
            </a:r>
            <a:r>
              <a:rPr lang="es-ES" sz="2000" dirty="0" err="1" smtClean="0"/>
              <a:t>Mealy</a:t>
            </a:r>
            <a:r>
              <a:rPr lang="es-ES" sz="2000" dirty="0" smtClean="0"/>
              <a:t>. Dibuje un diagrama de tiempo para cada máquina de estado que muestre la entrada, los estados y la salida cuando el caracol de </a:t>
            </a:r>
            <a:r>
              <a:rPr lang="es-ES" sz="2000" dirty="0" err="1" smtClean="0"/>
              <a:t>Alyssa</a:t>
            </a:r>
            <a:r>
              <a:rPr lang="es-ES" sz="2000" dirty="0" smtClean="0"/>
              <a:t> se arrastra a lo largo de la secuencia 0100110111.</a:t>
            </a:r>
            <a:endParaRPr lang="es-AR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1248" y="1232756"/>
            <a:ext cx="2360572" cy="5134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MÁQUINA DE MOORE</a:t>
            </a:r>
            <a:endParaRPr lang="en-GB" sz="2400" kern="0" dirty="0">
              <a:solidFill>
                <a:srgbClr val="000000"/>
              </a:solidFill>
              <a:latin typeface="Arial Black"/>
              <a:cs typeface="Arial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70162" y="1088740"/>
            <a:ext cx="4210050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04888" y="3266839"/>
            <a:ext cx="7134225" cy="343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2050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MÁQUINA DE MOORE</a:t>
            </a:r>
            <a:endParaRPr lang="en-GB" sz="2400" kern="0" dirty="0">
              <a:solidFill>
                <a:srgbClr val="000000"/>
              </a:solidFill>
              <a:latin typeface="Arial Black"/>
              <a:cs typeface="Arial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70162" y="1088740"/>
            <a:ext cx="4210050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500" y="2996952"/>
            <a:ext cx="706755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416316" y="3212976"/>
            <a:ext cx="1371600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MÁQUINA DE MOORE: IMPLEMENTACIÓN</a:t>
            </a:r>
            <a:endParaRPr lang="en-GB" sz="2400" kern="0" dirty="0">
              <a:solidFill>
                <a:srgbClr val="000000"/>
              </a:solidFill>
              <a:latin typeface="Arial Black"/>
              <a:cs typeface="Arial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39652" y="2176822"/>
            <a:ext cx="3295650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16316" y="3212976"/>
            <a:ext cx="1371600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MÁQUINA DE MEALY</a:t>
            </a:r>
            <a:endParaRPr lang="en-GB" sz="2400" kern="0" dirty="0">
              <a:solidFill>
                <a:srgbClr val="000000"/>
              </a:solidFill>
              <a:latin typeface="Arial Black"/>
              <a:cs typeface="Arial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95638" y="1124744"/>
            <a:ext cx="275272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40979" y="3508970"/>
            <a:ext cx="5267325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MÁQUINA DE MEALY</a:t>
            </a:r>
            <a:endParaRPr lang="en-GB" sz="2400" kern="0" dirty="0">
              <a:solidFill>
                <a:srgbClr val="000000"/>
              </a:solidFill>
              <a:latin typeface="Arial Black"/>
              <a:cs typeface="Arial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95638" y="1124744"/>
            <a:ext cx="275272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4076" y="3608412"/>
            <a:ext cx="5372100" cy="262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337437" y="4488532"/>
            <a:ext cx="942975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MÁQUINA DE MEALY: IMPLEMENTACIÓN</a:t>
            </a:r>
            <a:endParaRPr lang="en-GB" sz="2400" kern="0" dirty="0">
              <a:solidFill>
                <a:srgbClr val="000000"/>
              </a:solidFill>
              <a:latin typeface="Arial Black"/>
              <a:cs typeface="Arial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71700" y="3203798"/>
            <a:ext cx="3152775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37437" y="4488532"/>
            <a:ext cx="942975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DIAGRAMAS MÁQUINAS DE MEALY Y MOORE </a:t>
            </a:r>
            <a:endParaRPr lang="en-GB" sz="2400" kern="0" dirty="0">
              <a:solidFill>
                <a:srgbClr val="000000"/>
              </a:solidFill>
              <a:latin typeface="Arial Black"/>
              <a:cs typeface="Arial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912" y="1952836"/>
            <a:ext cx="9070592" cy="3780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2400" kern="0" dirty="0" smtClean="0">
                <a:solidFill>
                  <a:srgbClr val="FFFF00"/>
                </a:solidFill>
                <a:latin typeface="Arial Black"/>
                <a:cs typeface="Arial"/>
              </a:rPr>
              <a:t>HDL</a:t>
            </a: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 PARA MÁQUINAS DE MEALY Y MOORE </a:t>
            </a:r>
            <a:endParaRPr lang="en-GB" sz="2400" kern="0" dirty="0">
              <a:solidFill>
                <a:srgbClr val="000000"/>
              </a:solidFill>
              <a:latin typeface="Arial Black"/>
              <a:cs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51620" y="1647824"/>
            <a:ext cx="7129369" cy="4429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2400" kern="0" dirty="0" smtClean="0">
                <a:solidFill>
                  <a:srgbClr val="FFFF00"/>
                </a:solidFill>
                <a:latin typeface="Arial Black"/>
                <a:cs typeface="Arial"/>
              </a:rPr>
              <a:t>HDL</a:t>
            </a: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 PARA </a:t>
            </a: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MÁQUINA </a:t>
            </a: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DE </a:t>
            </a: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MOORE </a:t>
            </a:r>
            <a:endParaRPr lang="en-GB" sz="2400" kern="0" dirty="0">
              <a:solidFill>
                <a:srgbClr val="000000"/>
              </a:solidFill>
              <a:latin typeface="Arial Black"/>
              <a:cs typeface="Arial"/>
            </a:endParaRPr>
          </a:p>
        </p:txBody>
      </p:sp>
      <p:sp>
        <p:nvSpPr>
          <p:cNvPr id="11" name="10 CuadroTexto"/>
          <p:cNvSpPr txBox="1"/>
          <p:nvPr/>
        </p:nvSpPr>
        <p:spPr>
          <a:xfrm>
            <a:off x="4716016" y="1375023"/>
            <a:ext cx="4212468" cy="50783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// state </a:t>
            </a:r>
            <a:r>
              <a:rPr lang="en-US" dirty="0" smtClean="0"/>
              <a:t>register</a:t>
            </a:r>
          </a:p>
          <a:p>
            <a:r>
              <a:rPr lang="en-US" dirty="0" smtClean="0"/>
              <a:t>   always @ (</a:t>
            </a:r>
            <a:r>
              <a:rPr lang="en-US" dirty="0" err="1" smtClean="0"/>
              <a:t>posedge</a:t>
            </a:r>
            <a:r>
              <a:rPr lang="en-US" dirty="0" smtClean="0"/>
              <a:t> </a:t>
            </a:r>
            <a:r>
              <a:rPr lang="en-US" dirty="0" err="1" smtClean="0"/>
              <a:t>clk</a:t>
            </a:r>
            <a:r>
              <a:rPr lang="en-US" dirty="0" smtClean="0"/>
              <a:t>, </a:t>
            </a:r>
            <a:r>
              <a:rPr lang="en-US" dirty="0" err="1" smtClean="0"/>
              <a:t>posedge</a:t>
            </a:r>
            <a:r>
              <a:rPr lang="en-US" dirty="0" smtClean="0"/>
              <a:t> reset</a:t>
            </a:r>
            <a:r>
              <a:rPr lang="en-US" dirty="0" smtClean="0"/>
              <a:t>)</a:t>
            </a:r>
          </a:p>
          <a:p>
            <a:r>
              <a:rPr lang="en-US" dirty="0" smtClean="0"/>
              <a:t>     </a:t>
            </a:r>
            <a:r>
              <a:rPr lang="en-US" dirty="0" smtClean="0"/>
              <a:t>if (reset) state &lt;= S0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 </a:t>
            </a:r>
            <a:r>
              <a:rPr lang="en-US" dirty="0" smtClean="0"/>
              <a:t>else </a:t>
            </a:r>
            <a:r>
              <a:rPr lang="en-US" dirty="0" smtClean="0"/>
              <a:t>        state </a:t>
            </a:r>
            <a:r>
              <a:rPr lang="en-US" dirty="0" smtClean="0"/>
              <a:t>&lt;= </a:t>
            </a:r>
            <a:r>
              <a:rPr lang="en-US" dirty="0" err="1" smtClean="0"/>
              <a:t>nextstate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</a:t>
            </a:r>
            <a:r>
              <a:rPr lang="en-US" dirty="0" smtClean="0"/>
              <a:t>// next state </a:t>
            </a:r>
            <a:r>
              <a:rPr lang="en-US" dirty="0" smtClean="0"/>
              <a:t>logic</a:t>
            </a:r>
          </a:p>
          <a:p>
            <a:r>
              <a:rPr lang="en-US" dirty="0" smtClean="0"/>
              <a:t>   always @ (*)</a:t>
            </a:r>
          </a:p>
          <a:p>
            <a:r>
              <a:rPr lang="en-US" dirty="0" smtClean="0"/>
              <a:t>     </a:t>
            </a:r>
            <a:r>
              <a:rPr lang="en-US" dirty="0" smtClean="0"/>
              <a:t>case (state</a:t>
            </a:r>
            <a:r>
              <a:rPr lang="en-US" dirty="0" smtClean="0"/>
              <a:t>)</a:t>
            </a:r>
          </a:p>
          <a:p>
            <a:r>
              <a:rPr lang="en-US" dirty="0" smtClean="0"/>
              <a:t>       </a:t>
            </a:r>
            <a:r>
              <a:rPr lang="en-US" dirty="0" smtClean="0"/>
              <a:t>S0: if (a) </a:t>
            </a:r>
            <a:r>
              <a:rPr lang="en-US" dirty="0" err="1" smtClean="0"/>
              <a:t>nextstate</a:t>
            </a:r>
            <a:r>
              <a:rPr lang="en-US" dirty="0" smtClean="0"/>
              <a:t> = S0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         else   </a:t>
            </a:r>
            <a:r>
              <a:rPr lang="en-US" dirty="0" err="1" smtClean="0"/>
              <a:t>nextstate</a:t>
            </a:r>
            <a:r>
              <a:rPr lang="en-US" dirty="0" smtClean="0"/>
              <a:t> </a:t>
            </a:r>
            <a:r>
              <a:rPr lang="en-US" dirty="0" smtClean="0"/>
              <a:t>= S1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   </a:t>
            </a:r>
            <a:r>
              <a:rPr lang="en-US" dirty="0" smtClean="0"/>
              <a:t>S1: if (a) </a:t>
            </a:r>
            <a:r>
              <a:rPr lang="en-US" dirty="0" err="1" smtClean="0"/>
              <a:t>nextstate</a:t>
            </a:r>
            <a:r>
              <a:rPr lang="en-US" dirty="0" smtClean="0"/>
              <a:t> = S2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         else   </a:t>
            </a:r>
            <a:r>
              <a:rPr lang="en-US" dirty="0" err="1" smtClean="0"/>
              <a:t>nextstate</a:t>
            </a:r>
            <a:r>
              <a:rPr lang="en-US" dirty="0" smtClean="0"/>
              <a:t> </a:t>
            </a:r>
            <a:r>
              <a:rPr lang="en-US" dirty="0" smtClean="0"/>
              <a:t>= S1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   </a:t>
            </a:r>
            <a:r>
              <a:rPr lang="en-US" dirty="0" smtClean="0"/>
              <a:t>S2: if (a) </a:t>
            </a:r>
            <a:r>
              <a:rPr lang="en-US" dirty="0" err="1" smtClean="0"/>
              <a:t>nextstate</a:t>
            </a:r>
            <a:r>
              <a:rPr lang="en-US" dirty="0" smtClean="0"/>
              <a:t> = S0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         else   </a:t>
            </a:r>
            <a:r>
              <a:rPr lang="en-US" dirty="0" err="1" smtClean="0"/>
              <a:t>nextstate</a:t>
            </a:r>
            <a:r>
              <a:rPr lang="en-US" dirty="0" smtClean="0"/>
              <a:t> </a:t>
            </a:r>
            <a:r>
              <a:rPr lang="en-US" dirty="0" smtClean="0"/>
              <a:t>= S1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   </a:t>
            </a:r>
            <a:r>
              <a:rPr lang="en-US" dirty="0" smtClean="0"/>
              <a:t>default: </a:t>
            </a:r>
            <a:r>
              <a:rPr lang="en-US" dirty="0" smtClean="0"/>
              <a:t> </a:t>
            </a:r>
            <a:r>
              <a:rPr lang="en-US" dirty="0" err="1" smtClean="0"/>
              <a:t>nextstate</a:t>
            </a:r>
            <a:r>
              <a:rPr lang="en-US" dirty="0" smtClean="0"/>
              <a:t> </a:t>
            </a:r>
            <a:r>
              <a:rPr lang="en-US" dirty="0" smtClean="0"/>
              <a:t>= S0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endcase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smtClean="0"/>
              <a:t>// output </a:t>
            </a:r>
            <a:r>
              <a:rPr lang="en-US" dirty="0" smtClean="0"/>
              <a:t>logic</a:t>
            </a:r>
          </a:p>
          <a:p>
            <a:r>
              <a:rPr lang="en-US" dirty="0" smtClean="0"/>
              <a:t>   </a:t>
            </a:r>
            <a:r>
              <a:rPr lang="en-US" dirty="0" smtClean="0"/>
              <a:t>assign y = (state==S2</a:t>
            </a:r>
            <a:r>
              <a:rPr lang="en-US" dirty="0" smtClean="0"/>
              <a:t>);</a:t>
            </a:r>
          </a:p>
          <a:p>
            <a:r>
              <a:rPr lang="en-US" dirty="0" err="1" smtClean="0"/>
              <a:t>endmodule</a:t>
            </a:r>
            <a:endParaRPr lang="en-US" dirty="0"/>
          </a:p>
        </p:txBody>
      </p:sp>
      <p:sp>
        <p:nvSpPr>
          <p:cNvPr id="12" name="11 CuadroTexto"/>
          <p:cNvSpPr txBox="1"/>
          <p:nvPr/>
        </p:nvSpPr>
        <p:spPr>
          <a:xfrm>
            <a:off x="431540" y="3645024"/>
            <a:ext cx="3636404" cy="286232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module </a:t>
            </a:r>
            <a:r>
              <a:rPr lang="en-US" dirty="0" err="1" smtClean="0"/>
              <a:t>patternMoore</a:t>
            </a:r>
            <a:r>
              <a:rPr lang="en-US" dirty="0" smtClean="0"/>
              <a:t> </a:t>
            </a:r>
            <a:r>
              <a:rPr lang="en-US" dirty="0" smtClean="0"/>
              <a:t>( input </a:t>
            </a:r>
            <a:r>
              <a:rPr lang="en-US" dirty="0" err="1" smtClean="0"/>
              <a:t>clk</a:t>
            </a:r>
            <a:r>
              <a:rPr lang="en-US" dirty="0" smtClean="0"/>
              <a:t>,</a:t>
            </a:r>
            <a:endParaRPr lang="es-AR" dirty="0" smtClean="0"/>
          </a:p>
          <a:p>
            <a:r>
              <a:rPr lang="en-US" dirty="0" smtClean="0"/>
              <a:t>                                          </a:t>
            </a:r>
            <a:r>
              <a:rPr lang="en-US" dirty="0" smtClean="0"/>
              <a:t> input </a:t>
            </a:r>
            <a:r>
              <a:rPr lang="en-US" dirty="0" smtClean="0"/>
              <a:t>reset,</a:t>
            </a:r>
            <a:endParaRPr lang="es-AR" dirty="0" smtClean="0"/>
          </a:p>
          <a:p>
            <a:r>
              <a:rPr lang="en-US" dirty="0" smtClean="0"/>
              <a:t>                                           input a,</a:t>
            </a:r>
            <a:endParaRPr lang="es-AR" dirty="0" smtClean="0"/>
          </a:p>
          <a:p>
            <a:r>
              <a:rPr lang="en-US" dirty="0" smtClean="0"/>
              <a:t>                                           output y</a:t>
            </a:r>
            <a:r>
              <a:rPr lang="en-US" dirty="0" smtClean="0"/>
              <a:t>);</a:t>
            </a:r>
          </a:p>
          <a:p>
            <a:endParaRPr lang="es-AR" dirty="0" smtClean="0"/>
          </a:p>
          <a:p>
            <a:r>
              <a:rPr lang="en-US" dirty="0" smtClean="0"/>
              <a:t>   </a:t>
            </a:r>
            <a:r>
              <a:rPr lang="en-US" dirty="0" err="1" smtClean="0"/>
              <a:t>reg</a:t>
            </a:r>
            <a:r>
              <a:rPr lang="en-US" dirty="0" smtClean="0"/>
              <a:t> </a:t>
            </a:r>
            <a:r>
              <a:rPr lang="en-US" dirty="0" smtClean="0"/>
              <a:t>[1:0</a:t>
            </a:r>
            <a:r>
              <a:rPr lang="en-US" dirty="0" smtClean="0"/>
              <a:t>] state, </a:t>
            </a:r>
            <a:r>
              <a:rPr lang="en-US" dirty="0" smtClean="0"/>
              <a:t> </a:t>
            </a:r>
            <a:r>
              <a:rPr lang="en-US" dirty="0" err="1" smtClean="0"/>
              <a:t>nextstate</a:t>
            </a:r>
            <a:r>
              <a:rPr lang="en-US" dirty="0" smtClean="0"/>
              <a:t>;</a:t>
            </a:r>
            <a:endParaRPr lang="es-AR" dirty="0" smtClean="0"/>
          </a:p>
          <a:p>
            <a:endParaRPr lang="en-US" dirty="0" smtClean="0"/>
          </a:p>
          <a:p>
            <a:r>
              <a:rPr lang="en-US" dirty="0" smtClean="0"/>
              <a:t>   </a:t>
            </a:r>
            <a:r>
              <a:rPr lang="en-US" dirty="0" smtClean="0"/>
              <a:t>parameter S0 = </a:t>
            </a:r>
            <a:r>
              <a:rPr lang="en-US" dirty="0" smtClean="0"/>
              <a:t>2'b00;</a:t>
            </a:r>
            <a:endParaRPr lang="es-AR" dirty="0" smtClean="0"/>
          </a:p>
          <a:p>
            <a:r>
              <a:rPr lang="en-US" dirty="0" smtClean="0"/>
              <a:t>   parameter S1 = </a:t>
            </a:r>
            <a:r>
              <a:rPr lang="en-US" dirty="0" smtClean="0"/>
              <a:t>2'b01</a:t>
            </a:r>
            <a:r>
              <a:rPr lang="en-US" dirty="0" smtClean="0"/>
              <a:t>;</a:t>
            </a:r>
            <a:endParaRPr lang="es-AR" dirty="0" smtClean="0"/>
          </a:p>
          <a:p>
            <a:r>
              <a:rPr lang="en-US" dirty="0" smtClean="0"/>
              <a:t>   parameter S2 = </a:t>
            </a:r>
            <a:r>
              <a:rPr lang="en-US" dirty="0" smtClean="0"/>
              <a:t>2'b10</a:t>
            </a:r>
            <a:r>
              <a:rPr lang="en-US" dirty="0" smtClean="0"/>
              <a:t>;</a:t>
            </a:r>
            <a:endParaRPr lang="es-AR" dirty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1194817"/>
            <a:ext cx="4210050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2400" kern="0" dirty="0" smtClean="0">
                <a:solidFill>
                  <a:srgbClr val="FFFF00"/>
                </a:solidFill>
                <a:latin typeface="Arial Black"/>
                <a:cs typeface="Arial"/>
              </a:rPr>
              <a:t>HDL</a:t>
            </a: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 PARA </a:t>
            </a: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MÁQUINA </a:t>
            </a: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DE </a:t>
            </a: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MEALY </a:t>
            </a:r>
            <a:endParaRPr lang="en-GB" sz="2400" kern="0" dirty="0">
              <a:solidFill>
                <a:srgbClr val="000000"/>
              </a:solidFill>
              <a:latin typeface="Arial Black"/>
              <a:cs typeface="Arial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5179" y="1627820"/>
            <a:ext cx="275272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9 CuadroTexto"/>
          <p:cNvSpPr txBox="1"/>
          <p:nvPr/>
        </p:nvSpPr>
        <p:spPr>
          <a:xfrm>
            <a:off x="323528" y="4350003"/>
            <a:ext cx="3996444" cy="20313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module </a:t>
            </a:r>
            <a:r>
              <a:rPr lang="en-US" dirty="0" err="1" smtClean="0"/>
              <a:t>patternMealy</a:t>
            </a:r>
            <a:r>
              <a:rPr lang="en-US" dirty="0" smtClean="0"/>
              <a:t> </a:t>
            </a:r>
            <a:r>
              <a:rPr lang="en-US" dirty="0" smtClean="0"/>
              <a:t>( input </a:t>
            </a:r>
            <a:r>
              <a:rPr lang="en-US" dirty="0" err="1" smtClean="0"/>
              <a:t>clk</a:t>
            </a:r>
            <a:r>
              <a:rPr lang="en-US" dirty="0" smtClean="0"/>
              <a:t>,</a:t>
            </a:r>
            <a:endParaRPr lang="es-AR" dirty="0" smtClean="0"/>
          </a:p>
          <a:p>
            <a:r>
              <a:rPr lang="en-US" dirty="0" smtClean="0"/>
              <a:t>                                          </a:t>
            </a:r>
            <a:r>
              <a:rPr lang="en-US" dirty="0" smtClean="0"/>
              <a:t>input </a:t>
            </a:r>
            <a:r>
              <a:rPr lang="en-US" dirty="0" smtClean="0"/>
              <a:t>reset,</a:t>
            </a:r>
            <a:endParaRPr lang="es-AR" dirty="0" smtClean="0"/>
          </a:p>
          <a:p>
            <a:r>
              <a:rPr lang="en-US" dirty="0" smtClean="0"/>
              <a:t>                                          input </a:t>
            </a:r>
            <a:r>
              <a:rPr lang="en-US" dirty="0" smtClean="0"/>
              <a:t>a</a:t>
            </a:r>
            <a:r>
              <a:rPr lang="en-US" dirty="0" smtClean="0"/>
              <a:t>,</a:t>
            </a:r>
            <a:endParaRPr lang="es-AR" dirty="0" smtClean="0"/>
          </a:p>
          <a:p>
            <a:r>
              <a:rPr lang="en-US" dirty="0" smtClean="0"/>
              <a:t>                                          output </a:t>
            </a:r>
            <a:r>
              <a:rPr lang="en-US" dirty="0" smtClean="0"/>
              <a:t>y</a:t>
            </a:r>
            <a:r>
              <a:rPr lang="en-US" dirty="0" smtClean="0"/>
              <a:t>);</a:t>
            </a:r>
            <a:endParaRPr lang="es-AR" dirty="0" smtClean="0"/>
          </a:p>
          <a:p>
            <a:r>
              <a:rPr lang="en-US" dirty="0" smtClean="0"/>
              <a:t>   </a:t>
            </a:r>
            <a:r>
              <a:rPr lang="en-US" dirty="0" err="1" smtClean="0"/>
              <a:t>reg</a:t>
            </a:r>
            <a:r>
              <a:rPr lang="en-US" dirty="0" smtClean="0"/>
              <a:t>  state, </a:t>
            </a:r>
            <a:r>
              <a:rPr lang="en-US" dirty="0" err="1" smtClean="0"/>
              <a:t>nextstate</a:t>
            </a:r>
            <a:r>
              <a:rPr lang="en-US" dirty="0" smtClean="0"/>
              <a:t>;</a:t>
            </a:r>
            <a:endParaRPr lang="es-AR" dirty="0" smtClean="0"/>
          </a:p>
          <a:p>
            <a:r>
              <a:rPr lang="en-US" dirty="0" smtClean="0"/>
              <a:t>   parameter S0 = 1'b0;</a:t>
            </a:r>
            <a:endParaRPr lang="es-AR" dirty="0" smtClean="0"/>
          </a:p>
          <a:p>
            <a:r>
              <a:rPr lang="en-US" dirty="0" smtClean="0"/>
              <a:t>   parameter S1 = 1'b1;</a:t>
            </a:r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4680012" y="1339019"/>
            <a:ext cx="3960440" cy="50783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   // </a:t>
            </a:r>
            <a:r>
              <a:rPr lang="en-US" dirty="0" smtClean="0"/>
              <a:t>state register</a:t>
            </a:r>
            <a:endParaRPr lang="es-AR" dirty="0" smtClean="0"/>
          </a:p>
          <a:p>
            <a:r>
              <a:rPr lang="en-US" dirty="0" smtClean="0"/>
              <a:t>   always @ (</a:t>
            </a:r>
            <a:r>
              <a:rPr lang="en-US" dirty="0" err="1" smtClean="0"/>
              <a:t>posedge</a:t>
            </a:r>
            <a:r>
              <a:rPr lang="en-US" dirty="0" smtClean="0"/>
              <a:t> </a:t>
            </a:r>
            <a:r>
              <a:rPr lang="en-US" dirty="0" err="1" smtClean="0"/>
              <a:t>clk</a:t>
            </a:r>
            <a:r>
              <a:rPr lang="en-US" dirty="0" smtClean="0"/>
              <a:t>, </a:t>
            </a:r>
            <a:r>
              <a:rPr lang="en-US" dirty="0" err="1" smtClean="0"/>
              <a:t>posedge</a:t>
            </a:r>
            <a:r>
              <a:rPr lang="en-US" dirty="0" smtClean="0"/>
              <a:t> reset)</a:t>
            </a:r>
            <a:endParaRPr lang="es-AR" dirty="0" smtClean="0"/>
          </a:p>
          <a:p>
            <a:r>
              <a:rPr lang="en-US" dirty="0" smtClean="0"/>
              <a:t>      if (reset) state &lt;= S0;</a:t>
            </a:r>
            <a:endParaRPr lang="es-AR" dirty="0" smtClean="0"/>
          </a:p>
          <a:p>
            <a:r>
              <a:rPr lang="en-US" dirty="0" smtClean="0"/>
              <a:t>      else         state &lt;= </a:t>
            </a:r>
            <a:r>
              <a:rPr lang="en-US" dirty="0" err="1" smtClean="0"/>
              <a:t>nextstate</a:t>
            </a:r>
            <a:r>
              <a:rPr lang="en-US" dirty="0" smtClean="0"/>
              <a:t>;</a:t>
            </a:r>
            <a:endParaRPr lang="es-AR" dirty="0" smtClean="0"/>
          </a:p>
          <a:p>
            <a:r>
              <a:rPr lang="en-US" dirty="0" smtClean="0"/>
              <a:t> </a:t>
            </a:r>
            <a:endParaRPr lang="es-AR" dirty="0" smtClean="0"/>
          </a:p>
          <a:p>
            <a:r>
              <a:rPr lang="en-US" dirty="0" smtClean="0"/>
              <a:t>   // next state logic</a:t>
            </a:r>
            <a:endParaRPr lang="es-AR" dirty="0" smtClean="0"/>
          </a:p>
          <a:p>
            <a:r>
              <a:rPr lang="en-US" dirty="0" smtClean="0"/>
              <a:t>   always @(*)</a:t>
            </a:r>
            <a:endParaRPr lang="es-AR" dirty="0" smtClean="0"/>
          </a:p>
          <a:p>
            <a:r>
              <a:rPr lang="en-US" dirty="0" smtClean="0"/>
              <a:t>      case (state)</a:t>
            </a:r>
            <a:endParaRPr lang="es-AR" dirty="0" smtClean="0"/>
          </a:p>
          <a:p>
            <a:r>
              <a:rPr lang="en-US" dirty="0" smtClean="0"/>
              <a:t>         S0: if (a) </a:t>
            </a:r>
            <a:r>
              <a:rPr lang="en-US" dirty="0" err="1" smtClean="0"/>
              <a:t>nextstate</a:t>
            </a:r>
            <a:r>
              <a:rPr lang="en-US" dirty="0" smtClean="0"/>
              <a:t> = S0;</a:t>
            </a:r>
            <a:endParaRPr lang="es-AR" dirty="0" smtClean="0"/>
          </a:p>
          <a:p>
            <a:r>
              <a:rPr lang="en-US" dirty="0" smtClean="0"/>
              <a:t>               else </a:t>
            </a:r>
            <a:r>
              <a:rPr lang="en-US" dirty="0" smtClean="0"/>
              <a:t>  </a:t>
            </a:r>
            <a:r>
              <a:rPr lang="en-US" dirty="0" err="1" smtClean="0"/>
              <a:t>nextstate</a:t>
            </a:r>
            <a:r>
              <a:rPr lang="en-US" dirty="0" smtClean="0"/>
              <a:t> = S1;</a:t>
            </a:r>
            <a:endParaRPr lang="es-AR" dirty="0" smtClean="0"/>
          </a:p>
          <a:p>
            <a:r>
              <a:rPr lang="en-US" dirty="0" smtClean="0"/>
              <a:t>         S1: if (a) </a:t>
            </a:r>
            <a:r>
              <a:rPr lang="en-US" dirty="0" err="1" smtClean="0"/>
              <a:t>nextstate</a:t>
            </a:r>
            <a:r>
              <a:rPr lang="en-US" dirty="0" smtClean="0"/>
              <a:t> = S0;</a:t>
            </a:r>
            <a:endParaRPr lang="es-AR" dirty="0" smtClean="0"/>
          </a:p>
          <a:p>
            <a:r>
              <a:rPr lang="en-US" dirty="0" smtClean="0"/>
              <a:t>                else  </a:t>
            </a:r>
            <a:r>
              <a:rPr lang="en-US" dirty="0" err="1" smtClean="0"/>
              <a:t>nextstate</a:t>
            </a:r>
            <a:r>
              <a:rPr lang="en-US" dirty="0" smtClean="0"/>
              <a:t> = S1;</a:t>
            </a:r>
            <a:endParaRPr lang="es-AR" dirty="0" smtClean="0"/>
          </a:p>
          <a:p>
            <a:r>
              <a:rPr lang="en-US" dirty="0" smtClean="0"/>
              <a:t>         default:  </a:t>
            </a:r>
            <a:r>
              <a:rPr lang="en-US" dirty="0" err="1" smtClean="0"/>
              <a:t>nextstate</a:t>
            </a:r>
            <a:r>
              <a:rPr lang="en-US" dirty="0" smtClean="0"/>
              <a:t> = S0;</a:t>
            </a:r>
            <a:endParaRPr lang="es-AR" dirty="0" smtClean="0"/>
          </a:p>
          <a:p>
            <a:r>
              <a:rPr lang="en-US" dirty="0" smtClean="0"/>
              <a:t>      </a:t>
            </a:r>
            <a:r>
              <a:rPr lang="en-US" dirty="0" err="1" smtClean="0"/>
              <a:t>endcase</a:t>
            </a:r>
            <a:endParaRPr lang="es-AR" dirty="0" smtClean="0"/>
          </a:p>
          <a:p>
            <a:r>
              <a:rPr lang="en-US" dirty="0" smtClean="0"/>
              <a:t> </a:t>
            </a:r>
            <a:endParaRPr lang="es-AR" dirty="0" smtClean="0"/>
          </a:p>
          <a:p>
            <a:r>
              <a:rPr lang="en-US" dirty="0" smtClean="0"/>
              <a:t>   // output logic</a:t>
            </a:r>
            <a:endParaRPr lang="es-AR" dirty="0" smtClean="0"/>
          </a:p>
          <a:p>
            <a:r>
              <a:rPr lang="en-US" dirty="0" smtClean="0"/>
              <a:t>      assign y = (a &amp; state==S1);</a:t>
            </a:r>
            <a:endParaRPr lang="es-AR" dirty="0" smtClean="0"/>
          </a:p>
          <a:p>
            <a:r>
              <a:rPr lang="es-AR" dirty="0" err="1" smtClean="0"/>
              <a:t>endmodule</a:t>
            </a:r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2400" kern="0" dirty="0" smtClean="0">
                <a:solidFill>
                  <a:srgbClr val="FFFF00"/>
                </a:solidFill>
                <a:latin typeface="Arial Black"/>
                <a:cs typeface="Arial"/>
              </a:rPr>
              <a:t>HDL</a:t>
            </a: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 PARA MÁQUINA DE MOORE </a:t>
            </a:r>
            <a:endParaRPr lang="en-GB" sz="2400" kern="0" dirty="0">
              <a:solidFill>
                <a:srgbClr val="000000"/>
              </a:solidFill>
              <a:latin typeface="Arial Black"/>
              <a:cs typeface="Arial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62425" y="2889659"/>
            <a:ext cx="4981575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83113" y="1772816"/>
            <a:ext cx="258127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1520" y="1161814"/>
            <a:ext cx="3467100" cy="554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UC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UCC</Template>
  <TotalTime>1384</TotalTime>
  <Words>456</Words>
  <Application>Microsoft Office PowerPoint</Application>
  <PresentationFormat>Presentación en pantalla (4:3)</PresentationFormat>
  <Paragraphs>70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UCC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  <vt:lpstr>Diapositiva 11</vt:lpstr>
      <vt:lpstr>Diapositiva 12</vt:lpstr>
      <vt:lpstr>Diapositiva 13</vt:lpstr>
      <vt:lpstr>Diapositiva 14</vt:lpstr>
    </vt:vector>
  </TitlesOfParts>
  <Company>RevolucionUnattended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usuario</dc:creator>
  <cp:lastModifiedBy>usuario</cp:lastModifiedBy>
  <cp:revision>194</cp:revision>
  <dcterms:created xsi:type="dcterms:W3CDTF">2015-08-11T02:22:31Z</dcterms:created>
  <dcterms:modified xsi:type="dcterms:W3CDTF">2018-09-18T01:59:55Z</dcterms:modified>
</cp:coreProperties>
</file>
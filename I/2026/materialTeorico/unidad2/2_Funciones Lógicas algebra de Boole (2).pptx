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5" r:id="rId7"/>
    <p:sldId id="271" r:id="rId8"/>
    <p:sldId id="266" r:id="rId9"/>
    <p:sldId id="267" r:id="rId10"/>
    <p:sldId id="269" r:id="rId11"/>
    <p:sldId id="270" r:id="rId12"/>
    <p:sldId id="272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es-A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FFFF"/>
    <a:srgbClr val="96969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4713" autoAdjust="0"/>
  </p:normalViewPr>
  <p:slideViewPr>
    <p:cSldViewPr>
      <p:cViewPr>
        <p:scale>
          <a:sx n="100" d="100"/>
          <a:sy n="100" d="100"/>
        </p:scale>
        <p:origin x="-270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36303-8D6F-4CF9-A7BF-DBA46A2FFC5D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C2B02-AD21-475F-8054-96C87B3F215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BBEF0-E2BC-4FA5-AA6C-C6C94F5602BC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FD6A5-DECF-4135-BF90-C748D5B0200A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FC39C-A6DD-4AF6-A26A-FBCEC9FD5BB0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5DBFD-5377-4082-8FE4-4D729A3F0056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60A3D-68FA-445B-A63D-3C1AB79FE52E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9A413-8D17-4F76-97FB-D073ABFDC77E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8057E-58DD-411D-9F63-85015BFC0CC8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9A7BA-DCA6-41CC-8B14-79DF7BDE637B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FF590-AF85-48A7-B448-F0BECBF7C70E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D78-EE55-4F2D-A72F-ECD1237ADF08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E637D-4E8B-44A1-9892-805334FB3B20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85EEC-8506-437D-BF5C-F8BB48C378D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3A12F-8971-4078-A71A-9EDFFFB5379A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14F42-C266-40EB-A1D2-BF4F28FF1A2F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s-AR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D5612-E5F5-4FEE-B6AF-54F3D0F3EB04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7175E9-D35A-4C1D-9A41-D8771EDC9292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A30D86-6316-4019-82E5-4600938A0610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44352-3829-43B0-A7D5-F66A7E62D3B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F8E9-280C-42D9-BB4C-5983F9FF6F50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04820-D51E-413E-AFE7-F60CEE0FA9A3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  <a:endParaRPr lang="es-AR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4A9A8-C424-487A-8E45-5F7FB71B8188}" type="datetimeFigureOut">
              <a:rPr lang="es-AR"/>
              <a:pPr>
                <a:defRPr/>
              </a:pPr>
              <a:t>7/4/2022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73B51B-9198-4E3F-8B15-817C7408C111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51" name="Line 3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685800" y="35814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s-AR"/>
          </a:p>
        </p:txBody>
      </p:sp>
      <p:sp>
        <p:nvSpPr>
          <p:cNvPr id="2052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85800" y="3167063"/>
            <a:ext cx="2738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latin typeface="Times New Roman" pitchFamily="18" charset="0"/>
              </a:rPr>
              <a:t>Técnicas Digitales I </a:t>
            </a:r>
            <a:endParaRPr lang="en-GB" sz="2400" i="1">
              <a:latin typeface="Times New Roman" pitchFamily="18" charset="0"/>
            </a:endParaRPr>
          </a:p>
        </p:txBody>
      </p:sp>
      <p:sp>
        <p:nvSpPr>
          <p:cNvPr id="20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FUNCIONES DEL ÁLGEBRA DE BOOLE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2055" name="Picture 3" descr="D:\Luis\Facultad\UTN\240px-UTN_logo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DEFINICIÓN DE FUNCIÓN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539552" y="1484785"/>
            <a:ext cx="80648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/>
            <a:r>
              <a:rPr lang="es-AR" sz="2800" dirty="0" smtClean="0"/>
              <a:t>Una función del álgebra de </a:t>
            </a:r>
            <a:r>
              <a:rPr lang="es-AR" sz="2800" dirty="0" err="1" smtClean="0"/>
              <a:t>Boole</a:t>
            </a:r>
            <a:r>
              <a:rPr lang="es-AR" sz="2800" dirty="0" smtClean="0"/>
              <a:t> es una expresión algebraica en las que aparecen las variables de las cuales la función depende en forma directa o negada y relacionadas por las operaciones de suma lógica y/o producto lógico.</a:t>
            </a:r>
          </a:p>
          <a:p>
            <a:pPr marL="514350" indent="-514350" algn="just"/>
            <a:endParaRPr lang="es-AR" sz="2800" dirty="0" smtClean="0"/>
          </a:p>
          <a:p>
            <a:pPr marL="514350" indent="-514350" algn="just"/>
            <a:r>
              <a:rPr lang="es-AR" sz="2800" dirty="0" smtClean="0"/>
              <a:t>             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</a:t>
            </a:r>
            <a:r>
              <a:rPr lang="es-AR" sz="2800" dirty="0" err="1" smtClean="0"/>
              <a:t>a.b.c</a:t>
            </a:r>
            <a:r>
              <a:rPr lang="es-AR" sz="2800" dirty="0" smtClean="0"/>
              <a:t> + /</a:t>
            </a:r>
            <a:r>
              <a:rPr lang="es-AR" sz="2800" dirty="0" err="1" smtClean="0"/>
              <a:t>a.b.</a:t>
            </a:r>
            <a:r>
              <a:rPr lang="es-AR" sz="2800" dirty="0" smtClean="0"/>
              <a:t>/c + /b./c + a./b 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1475656" y="5271591"/>
            <a:ext cx="66967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(</a:t>
            </a:r>
            <a:r>
              <a:rPr lang="es-AR" sz="2800" dirty="0" err="1" smtClean="0"/>
              <a:t>a+b+c</a:t>
            </a:r>
            <a:r>
              <a:rPr lang="es-AR" sz="2800" dirty="0" smtClean="0"/>
              <a:t>).(/</a:t>
            </a:r>
            <a:r>
              <a:rPr lang="es-AR" sz="2800" dirty="0" err="1" smtClean="0"/>
              <a:t>a+b</a:t>
            </a:r>
            <a:r>
              <a:rPr lang="es-AR" sz="2800" dirty="0" smtClean="0"/>
              <a:t>+/c).(/b+/c).(a+/b)</a:t>
            </a:r>
            <a:r>
              <a:rPr lang="es-AR" dirty="0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cs typeface="Arial"/>
              </a:rPr>
              <a:t>TÉRMINO CANÓNICO</a:t>
            </a:r>
            <a:endParaRPr lang="en-GB" sz="2400" kern="0" dirty="0">
              <a:solidFill>
                <a:srgbClr val="000000"/>
              </a:solidFill>
              <a:latin typeface="Arial Black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14 CuadroTexto"/>
          <p:cNvSpPr txBox="1"/>
          <p:nvPr/>
        </p:nvSpPr>
        <p:spPr>
          <a:xfrm>
            <a:off x="539552" y="1484785"/>
            <a:ext cx="806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/>
            <a:r>
              <a:rPr lang="es-AR" sz="2800" dirty="0" smtClean="0"/>
              <a:t>Un término es canónico cuando aparecen </a:t>
            </a:r>
            <a:r>
              <a:rPr lang="es-AR" sz="2800" b="1" dirty="0" smtClean="0">
                <a:solidFill>
                  <a:srgbClr val="FF0000"/>
                </a:solidFill>
              </a:rPr>
              <a:t>todas</a:t>
            </a:r>
            <a:r>
              <a:rPr lang="es-AR" sz="2800" dirty="0" smtClean="0"/>
              <a:t> las variables de las cuales la función depende ya sea en forma directa o negada.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1691680" y="3105835"/>
            <a:ext cx="62646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</a:t>
            </a:r>
            <a:r>
              <a:rPr lang="es-AR" sz="2800" dirty="0" err="1" smtClean="0"/>
              <a:t>a.b.c</a:t>
            </a:r>
            <a:r>
              <a:rPr lang="es-AR" sz="2800" dirty="0" smtClean="0"/>
              <a:t> + /</a:t>
            </a:r>
            <a:r>
              <a:rPr lang="es-AR" sz="2800" dirty="0" err="1" smtClean="0"/>
              <a:t>a.b.</a:t>
            </a:r>
            <a:r>
              <a:rPr lang="es-AR" sz="2800" dirty="0" smtClean="0"/>
              <a:t>/c + /b./c + a./b  </a:t>
            </a:r>
          </a:p>
        </p:txBody>
      </p:sp>
      <p:sp>
        <p:nvSpPr>
          <p:cNvPr id="17" name="16 Rectángulo"/>
          <p:cNvSpPr/>
          <p:nvPr/>
        </p:nvSpPr>
        <p:spPr>
          <a:xfrm>
            <a:off x="1259632" y="4437112"/>
            <a:ext cx="71287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(</a:t>
            </a:r>
            <a:r>
              <a:rPr lang="es-AR" sz="2800" dirty="0" err="1" smtClean="0"/>
              <a:t>a+b+c</a:t>
            </a:r>
            <a:r>
              <a:rPr lang="es-AR" sz="2800" dirty="0" smtClean="0"/>
              <a:t>) . (/</a:t>
            </a:r>
            <a:r>
              <a:rPr lang="es-AR" sz="2800" dirty="0" err="1" smtClean="0"/>
              <a:t>a+b</a:t>
            </a:r>
            <a:r>
              <a:rPr lang="es-AR" sz="2800" dirty="0" smtClean="0"/>
              <a:t>+/c) . (/b+/c).(a+/b)</a:t>
            </a:r>
            <a:r>
              <a:rPr lang="es-AR" dirty="0" smtClean="0"/>
              <a:t>  </a:t>
            </a:r>
          </a:p>
        </p:txBody>
      </p:sp>
      <p:cxnSp>
        <p:nvCxnSpPr>
          <p:cNvPr id="18" name="17 Conector recto de flecha"/>
          <p:cNvCxnSpPr/>
          <p:nvPr/>
        </p:nvCxnSpPr>
        <p:spPr bwMode="auto">
          <a:xfrm flipH="1" flipV="1">
            <a:off x="3851920" y="3645024"/>
            <a:ext cx="720080" cy="43204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18 CuadroTexto"/>
          <p:cNvSpPr txBox="1"/>
          <p:nvPr/>
        </p:nvSpPr>
        <p:spPr>
          <a:xfrm>
            <a:off x="4716016" y="386104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dirty="0" smtClean="0">
                <a:solidFill>
                  <a:srgbClr val="FF0000"/>
                </a:solidFill>
              </a:rPr>
              <a:t>Producto canónico</a:t>
            </a:r>
            <a:endParaRPr lang="es-AR" dirty="0">
              <a:solidFill>
                <a:srgbClr val="FF0000"/>
              </a:solidFill>
            </a:endParaRPr>
          </a:p>
        </p:txBody>
      </p:sp>
      <p:cxnSp>
        <p:nvCxnSpPr>
          <p:cNvPr id="21" name="20 Conector recto de flecha"/>
          <p:cNvCxnSpPr/>
          <p:nvPr/>
        </p:nvCxnSpPr>
        <p:spPr bwMode="auto">
          <a:xfrm flipH="1" flipV="1">
            <a:off x="3491880" y="4941168"/>
            <a:ext cx="720080" cy="43204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B0F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21 CuadroTexto"/>
          <p:cNvSpPr txBox="1"/>
          <p:nvPr/>
        </p:nvSpPr>
        <p:spPr>
          <a:xfrm>
            <a:off x="4427984" y="521990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dirty="0" smtClean="0">
                <a:solidFill>
                  <a:srgbClr val="FF0000"/>
                </a:solidFill>
              </a:rPr>
              <a:t>Suma canónica</a:t>
            </a:r>
            <a:endParaRPr lang="es-A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FUNCIÓN CANÓNICA 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539552" y="1484785"/>
            <a:ext cx="80648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/>
            <a:r>
              <a:rPr lang="es-AR" sz="2800" dirty="0" smtClean="0"/>
              <a:t>Una función es canónica cuando todos sus términos son canónicos. Puede ser expresada como suma de productos canónicos o como producto de sumas canónicas.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1187624" y="3841884"/>
            <a:ext cx="66247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</a:t>
            </a:r>
            <a:r>
              <a:rPr lang="es-AR" sz="2800" dirty="0" err="1" smtClean="0"/>
              <a:t>a.b.c</a:t>
            </a:r>
            <a:r>
              <a:rPr lang="es-AR" sz="2800" dirty="0" smtClean="0"/>
              <a:t> + /</a:t>
            </a:r>
            <a:r>
              <a:rPr lang="es-AR" sz="2800" dirty="0" err="1" smtClean="0"/>
              <a:t>a.b.</a:t>
            </a:r>
            <a:r>
              <a:rPr lang="es-AR" sz="2800" dirty="0" smtClean="0"/>
              <a:t>/c + a./b./c + a./b./c  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899592" y="4994012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(</a:t>
            </a:r>
            <a:r>
              <a:rPr lang="es-AR" sz="2800" dirty="0" err="1" smtClean="0"/>
              <a:t>a+b+c</a:t>
            </a:r>
            <a:r>
              <a:rPr lang="es-AR" sz="2800" dirty="0" smtClean="0"/>
              <a:t>).(/</a:t>
            </a:r>
            <a:r>
              <a:rPr lang="es-AR" sz="2800" dirty="0" err="1" smtClean="0"/>
              <a:t>a+b</a:t>
            </a:r>
            <a:r>
              <a:rPr lang="es-AR" sz="2800" dirty="0" smtClean="0"/>
              <a:t>+/c).(a+/b+/c).(a+/</a:t>
            </a:r>
            <a:r>
              <a:rPr lang="es-AR" sz="2800" dirty="0" err="1" smtClean="0"/>
              <a:t>b+c</a:t>
            </a:r>
            <a:r>
              <a:rPr lang="es-AR" sz="2800" dirty="0" smtClean="0"/>
              <a:t>)</a:t>
            </a:r>
            <a:r>
              <a:rPr lang="es-AR" dirty="0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FUNCIÓN CANÓNICA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11 CuadroTexto"/>
          <p:cNvSpPr txBox="1"/>
          <p:nvPr/>
        </p:nvSpPr>
        <p:spPr>
          <a:xfrm>
            <a:off x="539552" y="1484785"/>
            <a:ext cx="8064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/>
            <a:r>
              <a:rPr lang="es-AR" sz="2800" dirty="0" smtClean="0"/>
              <a:t>En una función expresada como suma de productos canónicos, cada </a:t>
            </a:r>
            <a:r>
              <a:rPr lang="es-AR" sz="2800" dirty="0" smtClean="0">
                <a:solidFill>
                  <a:srgbClr val="FF0000"/>
                </a:solidFill>
              </a:rPr>
              <a:t>producto canónico</a:t>
            </a:r>
            <a:r>
              <a:rPr lang="es-AR" sz="2800" dirty="0" smtClean="0"/>
              <a:t> representa un </a:t>
            </a:r>
            <a:r>
              <a:rPr lang="es-AR" sz="2800" dirty="0" smtClean="0">
                <a:solidFill>
                  <a:srgbClr val="FF0000"/>
                </a:solidFill>
              </a:rPr>
              <a:t>uno</a:t>
            </a:r>
            <a:r>
              <a:rPr lang="es-AR" sz="2800" dirty="0" smtClean="0"/>
              <a:t> de la función. Basta que uno de los términos sea uno para que la función valga uno.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187624" y="4489956"/>
            <a:ext cx="66247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</a:t>
            </a:r>
            <a:r>
              <a:rPr lang="es-AR" sz="2800" dirty="0" err="1" smtClean="0"/>
              <a:t>a.b.c</a:t>
            </a:r>
            <a:r>
              <a:rPr lang="es-AR" sz="2800" dirty="0" smtClean="0"/>
              <a:t> + /</a:t>
            </a:r>
            <a:r>
              <a:rPr lang="es-AR" sz="2800" dirty="0" err="1" smtClean="0"/>
              <a:t>a.b.</a:t>
            </a:r>
            <a:r>
              <a:rPr lang="es-AR" sz="2800" dirty="0" smtClean="0"/>
              <a:t>/c + a./b./c + a./b./c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FUNCIÓN CANÓNICA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49 CuadroTexto"/>
          <p:cNvSpPr txBox="1"/>
          <p:nvPr/>
        </p:nvSpPr>
        <p:spPr>
          <a:xfrm>
            <a:off x="539552" y="1484785"/>
            <a:ext cx="80648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/>
            <a:r>
              <a:rPr lang="es-AR" sz="2800" dirty="0" smtClean="0"/>
              <a:t>En una función expresada como producto de sumas canónicas, cada </a:t>
            </a:r>
            <a:r>
              <a:rPr lang="es-AR" sz="2800" dirty="0" smtClean="0">
                <a:solidFill>
                  <a:srgbClr val="FF0000"/>
                </a:solidFill>
              </a:rPr>
              <a:t>suma canónica</a:t>
            </a:r>
            <a:r>
              <a:rPr lang="es-AR" sz="2800" dirty="0" smtClean="0"/>
              <a:t> representa un </a:t>
            </a:r>
            <a:r>
              <a:rPr lang="es-AR" sz="2800" dirty="0" smtClean="0">
                <a:solidFill>
                  <a:srgbClr val="FF0000"/>
                </a:solidFill>
              </a:rPr>
              <a:t>cero</a:t>
            </a:r>
            <a:r>
              <a:rPr lang="es-AR" sz="2800" dirty="0" smtClean="0"/>
              <a:t> de la función. Basta que uno de los términos sea cero para que la función valga cero.</a:t>
            </a:r>
          </a:p>
        </p:txBody>
      </p:sp>
      <p:sp>
        <p:nvSpPr>
          <p:cNvPr id="51" name="50 Rectángulo"/>
          <p:cNvSpPr/>
          <p:nvPr/>
        </p:nvSpPr>
        <p:spPr>
          <a:xfrm>
            <a:off x="899592" y="4005064"/>
            <a:ext cx="7416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/>
            <a:r>
              <a:rPr lang="es-AR" sz="2800" dirty="0" smtClean="0"/>
              <a:t>f(</a:t>
            </a:r>
            <a:r>
              <a:rPr lang="es-AR" sz="2800" dirty="0" err="1" smtClean="0"/>
              <a:t>a,b,c</a:t>
            </a:r>
            <a:r>
              <a:rPr lang="es-AR" sz="2800" dirty="0" smtClean="0"/>
              <a:t>) = (</a:t>
            </a:r>
            <a:r>
              <a:rPr lang="es-AR" sz="2800" dirty="0" err="1" smtClean="0"/>
              <a:t>a+b+c</a:t>
            </a:r>
            <a:r>
              <a:rPr lang="es-AR" sz="2800" dirty="0" smtClean="0"/>
              <a:t>).(/</a:t>
            </a:r>
            <a:r>
              <a:rPr lang="es-AR" sz="2800" dirty="0" err="1" smtClean="0"/>
              <a:t>a+b</a:t>
            </a:r>
            <a:r>
              <a:rPr lang="es-AR" sz="2800" dirty="0" smtClean="0"/>
              <a:t>+/c).(a+/b+/c).(a+/</a:t>
            </a:r>
            <a:r>
              <a:rPr lang="es-AR" sz="2800" dirty="0" err="1" smtClean="0"/>
              <a:t>b+c</a:t>
            </a:r>
            <a:r>
              <a:rPr lang="es-AR" sz="2800" dirty="0" smtClean="0"/>
              <a:t>)</a:t>
            </a:r>
            <a:r>
              <a:rPr lang="es-AR" dirty="0" smtClean="0"/>
              <a:t>  </a:t>
            </a:r>
          </a:p>
        </p:txBody>
      </p:sp>
      <p:sp>
        <p:nvSpPr>
          <p:cNvPr id="52" name="51 Rectángulo"/>
          <p:cNvSpPr/>
          <p:nvPr/>
        </p:nvSpPr>
        <p:spPr>
          <a:xfrm>
            <a:off x="827584" y="4780309"/>
            <a:ext cx="741682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s-AR" sz="2800" dirty="0" smtClean="0">
                <a:solidFill>
                  <a:srgbClr val="FF0000"/>
                </a:solidFill>
              </a:rPr>
              <a:t>Tanto la suma de productos como el producto de sumas constituyen la representación algebraica de la función.</a:t>
            </a:r>
            <a:r>
              <a:rPr lang="es-AR" dirty="0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MINTERMS Y MAXTERMS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4432" y="1196752"/>
            <a:ext cx="8498330" cy="3765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5043078"/>
            <a:ext cx="68770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31540" y="5689240"/>
            <a:ext cx="68961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REPRESENTACIÓN DE LA FUNCIÓN MEDIANTE TABLA DE VERDAD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" name="59 Elipse"/>
          <p:cNvSpPr/>
          <p:nvPr/>
        </p:nvSpPr>
        <p:spPr bwMode="auto">
          <a:xfrm>
            <a:off x="2627784" y="3861048"/>
            <a:ext cx="360040" cy="36004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2" name="111 Elipse"/>
          <p:cNvSpPr/>
          <p:nvPr/>
        </p:nvSpPr>
        <p:spPr bwMode="auto">
          <a:xfrm>
            <a:off x="2627784" y="3140968"/>
            <a:ext cx="360040" cy="36004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13" name="112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113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5" name="114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116" name="115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117" name="116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118" name="117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119" name="118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120" name="119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121" name="120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122" name="121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123" name="122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124" name="123 CuadroTexto"/>
          <p:cNvSpPr txBox="1"/>
          <p:nvPr/>
        </p:nvSpPr>
        <p:spPr>
          <a:xfrm>
            <a:off x="3635896" y="2141240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125" name="124 CuadroTexto"/>
          <p:cNvSpPr txBox="1"/>
          <p:nvPr/>
        </p:nvSpPr>
        <p:spPr>
          <a:xfrm>
            <a:off x="464400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cxnSp>
        <p:nvCxnSpPr>
          <p:cNvPr id="126" name="125 Conector recto de flecha"/>
          <p:cNvCxnSpPr/>
          <p:nvPr/>
        </p:nvCxnSpPr>
        <p:spPr bwMode="auto">
          <a:xfrm flipH="1">
            <a:off x="3203848" y="2564904"/>
            <a:ext cx="1656184" cy="7200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7" name="126 CuadroTexto"/>
          <p:cNvSpPr txBox="1"/>
          <p:nvPr/>
        </p:nvSpPr>
        <p:spPr>
          <a:xfrm>
            <a:off x="5508104" y="2175247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572412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cxnSp>
        <p:nvCxnSpPr>
          <p:cNvPr id="129" name="128 Conector recto de flecha"/>
          <p:cNvCxnSpPr/>
          <p:nvPr/>
        </p:nvCxnSpPr>
        <p:spPr bwMode="auto">
          <a:xfrm flipH="1">
            <a:off x="3203848" y="2564904"/>
            <a:ext cx="2880320" cy="136815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0" name="129 CuadroTexto"/>
          <p:cNvSpPr txBox="1"/>
          <p:nvPr/>
        </p:nvSpPr>
        <p:spPr>
          <a:xfrm>
            <a:off x="6516216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31" name="130 CuadroTexto"/>
          <p:cNvSpPr txBox="1"/>
          <p:nvPr/>
        </p:nvSpPr>
        <p:spPr>
          <a:xfrm>
            <a:off x="6732240" y="2132856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132" name="131 CuadroTexto"/>
          <p:cNvSpPr txBox="1"/>
          <p:nvPr/>
        </p:nvSpPr>
        <p:spPr>
          <a:xfrm>
            <a:off x="7452320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33" name="132 CuadroTexto"/>
          <p:cNvSpPr txBox="1"/>
          <p:nvPr/>
        </p:nvSpPr>
        <p:spPr>
          <a:xfrm>
            <a:off x="7668344" y="213285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  <p:bldP spid="112" grpId="0" animBg="1"/>
      <p:bldP spid="112" grpId="1" animBg="1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7" grpId="0"/>
      <p:bldP spid="128" grpId="0"/>
      <p:bldP spid="130" grpId="0"/>
      <p:bldP spid="131" grpId="0"/>
      <p:bldP spid="132" grpId="0"/>
      <p:bldP spid="1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REPRESENTACIÓN DE LA FUNCIÓN MEDIANTE PRODUCTO DE SUMAS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8" name="47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48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49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51" name="50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52" name="51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53" name="52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54" name="53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55" name="54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56" name="55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57" name="56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59" name="58 CuadroTexto"/>
          <p:cNvSpPr txBox="1"/>
          <p:nvPr/>
        </p:nvSpPr>
        <p:spPr>
          <a:xfrm>
            <a:off x="3635896" y="2141240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60" name="59 CuadroTexto"/>
          <p:cNvSpPr txBox="1"/>
          <p:nvPr/>
        </p:nvSpPr>
        <p:spPr>
          <a:xfrm>
            <a:off x="464400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61" name="60 CuadroTexto"/>
          <p:cNvSpPr txBox="1"/>
          <p:nvPr/>
        </p:nvSpPr>
        <p:spPr>
          <a:xfrm>
            <a:off x="5508104" y="2175247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2" name="61 CuadroTexto"/>
          <p:cNvSpPr txBox="1"/>
          <p:nvPr/>
        </p:nvSpPr>
        <p:spPr>
          <a:xfrm>
            <a:off x="572412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63" name="62 CuadroTexto"/>
          <p:cNvSpPr txBox="1"/>
          <p:nvPr/>
        </p:nvSpPr>
        <p:spPr>
          <a:xfrm>
            <a:off x="6516216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4" name="63 CuadroTexto"/>
          <p:cNvSpPr txBox="1"/>
          <p:nvPr/>
        </p:nvSpPr>
        <p:spPr>
          <a:xfrm>
            <a:off x="6732240" y="2132856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65" name="64 CuadroTexto"/>
          <p:cNvSpPr txBox="1"/>
          <p:nvPr/>
        </p:nvSpPr>
        <p:spPr>
          <a:xfrm>
            <a:off x="7452320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6" name="65 CuadroTexto"/>
          <p:cNvSpPr txBox="1"/>
          <p:nvPr/>
        </p:nvSpPr>
        <p:spPr>
          <a:xfrm>
            <a:off x="7668344" y="213285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  <p:sp>
        <p:nvSpPr>
          <p:cNvPr id="67" name="66 CuadroTexto"/>
          <p:cNvSpPr txBox="1"/>
          <p:nvPr/>
        </p:nvSpPr>
        <p:spPr>
          <a:xfrm>
            <a:off x="4644008" y="270892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suma de productos</a:t>
            </a:r>
            <a:endParaRPr lang="es-AR" sz="2400" dirty="0"/>
          </a:p>
        </p:txBody>
      </p:sp>
      <p:sp>
        <p:nvSpPr>
          <p:cNvPr id="68" name="67 CuadroTexto"/>
          <p:cNvSpPr txBox="1"/>
          <p:nvPr/>
        </p:nvSpPr>
        <p:spPr>
          <a:xfrm>
            <a:off x="3275856" y="4181018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69" name="68 CuadroTexto"/>
          <p:cNvSpPr txBox="1"/>
          <p:nvPr/>
        </p:nvSpPr>
        <p:spPr>
          <a:xfrm>
            <a:off x="4283968" y="3419708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400" dirty="0" smtClean="0">
                <a:solidFill>
                  <a:srgbClr val="FF0000"/>
                </a:solidFill>
              </a:rPr>
              <a:t>Y como producto de sumas?</a:t>
            </a:r>
            <a:endParaRPr lang="es-AR" sz="2400" dirty="0">
              <a:solidFill>
                <a:srgbClr val="FF0000"/>
              </a:solidFill>
            </a:endParaRPr>
          </a:p>
        </p:txBody>
      </p:sp>
      <p:sp>
        <p:nvSpPr>
          <p:cNvPr id="70" name="69 CuadroTexto"/>
          <p:cNvSpPr txBox="1"/>
          <p:nvPr/>
        </p:nvSpPr>
        <p:spPr>
          <a:xfrm>
            <a:off x="4355976" y="4149080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(</a:t>
            </a:r>
            <a:r>
              <a:rPr lang="es-AR" sz="2000" dirty="0" err="1" smtClean="0"/>
              <a:t>a+b+c</a:t>
            </a:r>
            <a:r>
              <a:rPr lang="es-AR" sz="2000" dirty="0" smtClean="0"/>
              <a:t>).(</a:t>
            </a:r>
            <a:r>
              <a:rPr lang="es-AR" sz="2000" dirty="0" err="1" smtClean="0"/>
              <a:t>a+b</a:t>
            </a:r>
            <a:r>
              <a:rPr lang="es-AR" sz="2000" dirty="0" smtClean="0"/>
              <a:t>+/c).(a+/b+/c).(/a+/</a:t>
            </a:r>
            <a:r>
              <a:rPr lang="es-AR" sz="2000" dirty="0" err="1" smtClean="0"/>
              <a:t>b+c</a:t>
            </a:r>
            <a:r>
              <a:rPr lang="es-AR" sz="2000" dirty="0" smtClean="0"/>
              <a:t>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REPRESENTACIÓN SIMPLIFICADA DE LA FUNCIÓN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5" name="124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6" name="125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7" name="126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128" name="127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129" name="128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130" name="129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131" name="130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132" name="131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133" name="132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134" name="133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135" name="134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136" name="135 CuadroTexto"/>
          <p:cNvSpPr txBox="1"/>
          <p:nvPr/>
        </p:nvSpPr>
        <p:spPr>
          <a:xfrm>
            <a:off x="3635896" y="2141240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137" name="136 CuadroTexto"/>
          <p:cNvSpPr txBox="1"/>
          <p:nvPr/>
        </p:nvSpPr>
        <p:spPr>
          <a:xfrm>
            <a:off x="464400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138" name="137 CuadroTexto"/>
          <p:cNvSpPr txBox="1"/>
          <p:nvPr/>
        </p:nvSpPr>
        <p:spPr>
          <a:xfrm>
            <a:off x="5508104" y="2175247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39" name="138 CuadroTexto"/>
          <p:cNvSpPr txBox="1"/>
          <p:nvPr/>
        </p:nvSpPr>
        <p:spPr>
          <a:xfrm>
            <a:off x="5724128" y="2132856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140" name="139 CuadroTexto"/>
          <p:cNvSpPr txBox="1"/>
          <p:nvPr/>
        </p:nvSpPr>
        <p:spPr>
          <a:xfrm>
            <a:off x="6516216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41" name="140 CuadroTexto"/>
          <p:cNvSpPr txBox="1"/>
          <p:nvPr/>
        </p:nvSpPr>
        <p:spPr>
          <a:xfrm>
            <a:off x="6732240" y="2132856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142" name="141 CuadroTexto"/>
          <p:cNvSpPr txBox="1"/>
          <p:nvPr/>
        </p:nvSpPr>
        <p:spPr>
          <a:xfrm>
            <a:off x="7452320" y="213285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143" name="142 CuadroTexto"/>
          <p:cNvSpPr txBox="1"/>
          <p:nvPr/>
        </p:nvSpPr>
        <p:spPr>
          <a:xfrm>
            <a:off x="7668344" y="213285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  <p:sp>
        <p:nvSpPr>
          <p:cNvPr id="144" name="143 CuadroTexto"/>
          <p:cNvSpPr txBox="1"/>
          <p:nvPr/>
        </p:nvSpPr>
        <p:spPr>
          <a:xfrm>
            <a:off x="3275856" y="4181018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145" name="144 CuadroTexto"/>
          <p:cNvSpPr txBox="1"/>
          <p:nvPr/>
        </p:nvSpPr>
        <p:spPr>
          <a:xfrm>
            <a:off x="4355976" y="4149080"/>
            <a:ext cx="4248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(</a:t>
            </a:r>
            <a:r>
              <a:rPr lang="es-AR" sz="2000" dirty="0" err="1" smtClean="0"/>
              <a:t>a+b+c</a:t>
            </a:r>
            <a:r>
              <a:rPr lang="es-AR" sz="2000" dirty="0" smtClean="0"/>
              <a:t>).(</a:t>
            </a:r>
            <a:r>
              <a:rPr lang="es-AR" sz="2000" dirty="0" err="1" smtClean="0"/>
              <a:t>a+b</a:t>
            </a:r>
            <a:r>
              <a:rPr lang="es-AR" sz="2000" dirty="0" smtClean="0"/>
              <a:t>+/c).(a+/b+/c).(/a+/</a:t>
            </a:r>
            <a:r>
              <a:rPr lang="es-AR" sz="2000" dirty="0" err="1" smtClean="0"/>
              <a:t>b+c</a:t>
            </a:r>
            <a:r>
              <a:rPr lang="es-AR" sz="2000" dirty="0" smtClean="0"/>
              <a:t>)</a:t>
            </a:r>
            <a:endParaRPr lang="es-AR" sz="2000" dirty="0"/>
          </a:p>
        </p:txBody>
      </p:sp>
      <p:sp>
        <p:nvSpPr>
          <p:cNvPr id="146" name="145 CuadroTexto"/>
          <p:cNvSpPr txBox="1"/>
          <p:nvPr/>
        </p:nvSpPr>
        <p:spPr>
          <a:xfrm>
            <a:off x="4235964" y="281286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147" name="146 Objeto"/>
          <p:cNvGraphicFramePr>
            <a:graphicFrameLocks noChangeAspect="1"/>
          </p:cNvGraphicFramePr>
          <p:nvPr/>
        </p:nvGraphicFramePr>
        <p:xfrm>
          <a:off x="5303838" y="2757488"/>
          <a:ext cx="1535112" cy="635000"/>
        </p:xfrm>
        <a:graphic>
          <a:graphicData uri="http://schemas.openxmlformats.org/presentationml/2006/ole">
            <p:oleObj spid="_x0000_s1028" name="Ecuación" r:id="rId5" imgW="812520" imgH="368280" progId="Equation.3">
              <p:embed/>
            </p:oleObj>
          </a:graphicData>
        </a:graphic>
      </p:graphicFrame>
      <p:graphicFrame>
        <p:nvGraphicFramePr>
          <p:cNvPr id="148" name="147 Objeto"/>
          <p:cNvGraphicFramePr>
            <a:graphicFrameLocks noChangeAspect="1"/>
          </p:cNvGraphicFramePr>
          <p:nvPr/>
        </p:nvGraphicFramePr>
        <p:xfrm>
          <a:off x="5337175" y="4856163"/>
          <a:ext cx="1309688" cy="603250"/>
        </p:xfrm>
        <a:graphic>
          <a:graphicData uri="http://schemas.openxmlformats.org/presentationml/2006/ole">
            <p:oleObj spid="_x0000_s1029" name="Ecuación" r:id="rId6" imgW="634680" imgH="291960" progId="Equation.3">
              <p:embed/>
            </p:oleObj>
          </a:graphicData>
        </a:graphic>
      </p:graphicFrame>
      <p:sp>
        <p:nvSpPr>
          <p:cNvPr id="149" name="148 CuadroTexto"/>
          <p:cNvSpPr txBox="1"/>
          <p:nvPr/>
        </p:nvSpPr>
        <p:spPr>
          <a:xfrm>
            <a:off x="4172682" y="4869160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150" name="149 CuadroTexto"/>
          <p:cNvSpPr txBox="1"/>
          <p:nvPr/>
        </p:nvSpPr>
        <p:spPr>
          <a:xfrm>
            <a:off x="4716016" y="191683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0  1  0</a:t>
            </a:r>
            <a:endParaRPr lang="es-AR" sz="1400" dirty="0"/>
          </a:p>
        </p:txBody>
      </p:sp>
      <p:sp>
        <p:nvSpPr>
          <p:cNvPr id="151" name="150 Abrir llave"/>
          <p:cNvSpPr/>
          <p:nvPr/>
        </p:nvSpPr>
        <p:spPr bwMode="auto">
          <a:xfrm rot="5400000">
            <a:off x="4932040" y="1556792"/>
            <a:ext cx="216024" cy="504056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rgbClr val="003399"/>
              </a:solidFill>
              <a:effectLst/>
              <a:latin typeface="Arial" pitchFamily="34" charset="0"/>
            </a:endParaRPr>
          </a:p>
        </p:txBody>
      </p:sp>
      <p:sp>
        <p:nvSpPr>
          <p:cNvPr id="152" name="151 CuadroTexto"/>
          <p:cNvSpPr txBox="1"/>
          <p:nvPr/>
        </p:nvSpPr>
        <p:spPr>
          <a:xfrm>
            <a:off x="4932040" y="141277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</a:rPr>
              <a:t>2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53" name="152 CuadroTexto"/>
          <p:cNvSpPr txBox="1"/>
          <p:nvPr/>
        </p:nvSpPr>
        <p:spPr>
          <a:xfrm>
            <a:off x="5796136" y="191683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1  0  0</a:t>
            </a:r>
            <a:endParaRPr lang="es-AR" sz="1400" dirty="0"/>
          </a:p>
        </p:txBody>
      </p:sp>
      <p:sp>
        <p:nvSpPr>
          <p:cNvPr id="154" name="153 Abrir llave"/>
          <p:cNvSpPr/>
          <p:nvPr/>
        </p:nvSpPr>
        <p:spPr bwMode="auto">
          <a:xfrm rot="5400000">
            <a:off x="6048164" y="1556792"/>
            <a:ext cx="216024" cy="504056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rgbClr val="003399"/>
              </a:solidFill>
              <a:effectLst/>
              <a:latin typeface="Arial" pitchFamily="34" charset="0"/>
            </a:endParaRPr>
          </a:p>
        </p:txBody>
      </p:sp>
      <p:sp>
        <p:nvSpPr>
          <p:cNvPr id="155" name="154 CuadroTexto"/>
          <p:cNvSpPr txBox="1"/>
          <p:nvPr/>
        </p:nvSpPr>
        <p:spPr>
          <a:xfrm>
            <a:off x="6948264" y="141277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</a:rPr>
              <a:t>5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56" name="155 CuadroTexto"/>
          <p:cNvSpPr txBox="1"/>
          <p:nvPr/>
        </p:nvSpPr>
        <p:spPr>
          <a:xfrm>
            <a:off x="6012160" y="141277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</a:rPr>
              <a:t>4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57" name="156 CuadroTexto"/>
          <p:cNvSpPr txBox="1"/>
          <p:nvPr/>
        </p:nvSpPr>
        <p:spPr>
          <a:xfrm>
            <a:off x="7884368" y="1412776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200" dirty="0" smtClean="0">
                <a:solidFill>
                  <a:srgbClr val="FF0000"/>
                </a:solidFill>
              </a:rPr>
              <a:t>7</a:t>
            </a:r>
            <a:endParaRPr lang="es-AR" sz="1200" dirty="0">
              <a:solidFill>
                <a:srgbClr val="FF0000"/>
              </a:solidFill>
            </a:endParaRPr>
          </a:p>
        </p:txBody>
      </p:sp>
      <p:sp>
        <p:nvSpPr>
          <p:cNvPr id="158" name="157 Abrir llave"/>
          <p:cNvSpPr/>
          <p:nvPr/>
        </p:nvSpPr>
        <p:spPr bwMode="auto">
          <a:xfrm rot="5400000">
            <a:off x="7884368" y="1556792"/>
            <a:ext cx="216024" cy="504056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rgbClr val="003399"/>
              </a:solidFill>
              <a:effectLst/>
              <a:latin typeface="Arial" pitchFamily="34" charset="0"/>
            </a:endParaRPr>
          </a:p>
        </p:txBody>
      </p:sp>
      <p:sp>
        <p:nvSpPr>
          <p:cNvPr id="159" name="158 Abrir llave"/>
          <p:cNvSpPr/>
          <p:nvPr/>
        </p:nvSpPr>
        <p:spPr bwMode="auto">
          <a:xfrm rot="5400000">
            <a:off x="6984268" y="1556792"/>
            <a:ext cx="216024" cy="504056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dirty="0" smtClean="0">
              <a:ln>
                <a:noFill/>
              </a:ln>
              <a:solidFill>
                <a:srgbClr val="003399"/>
              </a:solidFill>
              <a:effectLst/>
              <a:latin typeface="Arial" pitchFamily="34" charset="0"/>
            </a:endParaRPr>
          </a:p>
        </p:txBody>
      </p:sp>
      <p:sp>
        <p:nvSpPr>
          <p:cNvPr id="160" name="159 CuadroTexto"/>
          <p:cNvSpPr txBox="1"/>
          <p:nvPr/>
        </p:nvSpPr>
        <p:spPr>
          <a:xfrm>
            <a:off x="7668344" y="191683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1  1  1</a:t>
            </a:r>
            <a:endParaRPr lang="es-AR" sz="1400" dirty="0"/>
          </a:p>
        </p:txBody>
      </p:sp>
      <p:sp>
        <p:nvSpPr>
          <p:cNvPr id="161" name="160 CuadroTexto"/>
          <p:cNvSpPr txBox="1"/>
          <p:nvPr/>
        </p:nvSpPr>
        <p:spPr>
          <a:xfrm>
            <a:off x="6768244" y="1916832"/>
            <a:ext cx="864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1  0  1</a:t>
            </a:r>
            <a:endParaRPr lang="es-A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9" grpId="0"/>
      <p:bldP spid="150" grpId="0"/>
      <p:bldP spid="151" grpId="0" animBg="1"/>
      <p:bldP spid="152" grpId="0"/>
      <p:bldP spid="153" grpId="0"/>
      <p:bldP spid="154" grpId="0" animBg="1"/>
      <p:bldP spid="155" grpId="0"/>
      <p:bldP spid="156" grpId="0"/>
      <p:bldP spid="157" grpId="0"/>
      <p:bldP spid="158" grpId="0" animBg="1"/>
      <p:bldP spid="159" grpId="0" animBg="1"/>
      <p:bldP spid="160" grpId="0"/>
      <p:bldP spid="1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REPRESENTACIÓN ESQUEMÁTICA DE LA FUNCIÓN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5" name="44 Conector recto"/>
          <p:cNvCxnSpPr/>
          <p:nvPr/>
        </p:nvCxnSpPr>
        <p:spPr bwMode="auto">
          <a:xfrm>
            <a:off x="467544" y="2420888"/>
            <a:ext cx="28083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45 Conector recto"/>
          <p:cNvCxnSpPr/>
          <p:nvPr/>
        </p:nvCxnSpPr>
        <p:spPr bwMode="auto">
          <a:xfrm>
            <a:off x="2483768" y="2060848"/>
            <a:ext cx="0" cy="331236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46 CuadroTexto"/>
          <p:cNvSpPr txBox="1"/>
          <p:nvPr/>
        </p:nvSpPr>
        <p:spPr>
          <a:xfrm>
            <a:off x="611560" y="19888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a     b     c        f</a:t>
            </a:r>
            <a:endParaRPr lang="es-AR" sz="2400" dirty="0"/>
          </a:p>
        </p:txBody>
      </p:sp>
      <p:sp>
        <p:nvSpPr>
          <p:cNvPr id="48" name="47 CuadroTexto"/>
          <p:cNvSpPr txBox="1"/>
          <p:nvPr/>
        </p:nvSpPr>
        <p:spPr>
          <a:xfrm>
            <a:off x="611560" y="239127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0     0     0        0</a:t>
            </a:r>
            <a:endParaRPr lang="es-AR" sz="2400" dirty="0"/>
          </a:p>
        </p:txBody>
      </p:sp>
      <p:sp>
        <p:nvSpPr>
          <p:cNvPr id="49" name="48 CuadroTexto"/>
          <p:cNvSpPr txBox="1"/>
          <p:nvPr/>
        </p:nvSpPr>
        <p:spPr>
          <a:xfrm>
            <a:off x="611560" y="2751311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0     0     1        0</a:t>
            </a:r>
            <a:endParaRPr lang="es-AR" sz="2400" dirty="0"/>
          </a:p>
        </p:txBody>
      </p:sp>
      <p:sp>
        <p:nvSpPr>
          <p:cNvPr id="50" name="49 CuadroTexto"/>
          <p:cNvSpPr txBox="1"/>
          <p:nvPr/>
        </p:nvSpPr>
        <p:spPr>
          <a:xfrm>
            <a:off x="611560" y="447950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1     1     0        0</a:t>
            </a:r>
            <a:endParaRPr lang="es-AR" sz="2400" dirty="0"/>
          </a:p>
        </p:txBody>
      </p:sp>
      <p:sp>
        <p:nvSpPr>
          <p:cNvPr id="51" name="50 CuadroTexto"/>
          <p:cNvSpPr txBox="1"/>
          <p:nvPr/>
        </p:nvSpPr>
        <p:spPr>
          <a:xfrm>
            <a:off x="611560" y="414908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1     0     1        1</a:t>
            </a:r>
            <a:endParaRPr lang="es-AR" sz="2400" dirty="0"/>
          </a:p>
        </p:txBody>
      </p:sp>
      <p:sp>
        <p:nvSpPr>
          <p:cNvPr id="52" name="51 CuadroTexto"/>
          <p:cNvSpPr txBox="1"/>
          <p:nvPr/>
        </p:nvSpPr>
        <p:spPr>
          <a:xfrm>
            <a:off x="611560" y="378904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1     0     0        1</a:t>
            </a:r>
            <a:endParaRPr lang="es-AR" sz="2400" dirty="0"/>
          </a:p>
        </p:txBody>
      </p:sp>
      <p:sp>
        <p:nvSpPr>
          <p:cNvPr id="53" name="52 CuadroTexto"/>
          <p:cNvSpPr txBox="1"/>
          <p:nvPr/>
        </p:nvSpPr>
        <p:spPr>
          <a:xfrm>
            <a:off x="611560" y="306896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0     1     0        1</a:t>
            </a:r>
            <a:endParaRPr lang="es-AR" sz="2400" dirty="0"/>
          </a:p>
        </p:txBody>
      </p:sp>
      <p:sp>
        <p:nvSpPr>
          <p:cNvPr id="54" name="53 CuadroTexto"/>
          <p:cNvSpPr txBox="1"/>
          <p:nvPr/>
        </p:nvSpPr>
        <p:spPr>
          <a:xfrm>
            <a:off x="611560" y="342900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0     1     1        0</a:t>
            </a:r>
            <a:endParaRPr lang="es-AR" sz="2400" dirty="0"/>
          </a:p>
        </p:txBody>
      </p:sp>
      <p:sp>
        <p:nvSpPr>
          <p:cNvPr id="55" name="54 CuadroTexto"/>
          <p:cNvSpPr txBox="1"/>
          <p:nvPr/>
        </p:nvSpPr>
        <p:spPr>
          <a:xfrm>
            <a:off x="611560" y="4839543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/>
              <a:t>1     1     1        1</a:t>
            </a:r>
            <a:endParaRPr lang="es-AR" sz="2400" dirty="0"/>
          </a:p>
        </p:txBody>
      </p:sp>
      <p:sp>
        <p:nvSpPr>
          <p:cNvPr id="56" name="55 CuadroTexto"/>
          <p:cNvSpPr txBox="1"/>
          <p:nvPr/>
        </p:nvSpPr>
        <p:spPr>
          <a:xfrm>
            <a:off x="3635896" y="1565176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sp>
        <p:nvSpPr>
          <p:cNvPr id="57" name="56 CuadroTexto"/>
          <p:cNvSpPr txBox="1"/>
          <p:nvPr/>
        </p:nvSpPr>
        <p:spPr>
          <a:xfrm>
            <a:off x="464400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/</a:t>
            </a:r>
            <a:r>
              <a:rPr lang="es-AR" sz="2000" dirty="0" err="1" smtClean="0"/>
              <a:t>a.b.</a:t>
            </a:r>
            <a:r>
              <a:rPr lang="es-AR" sz="2000" dirty="0" smtClean="0"/>
              <a:t>/c</a:t>
            </a:r>
            <a:endParaRPr lang="es-AR" sz="2000" dirty="0"/>
          </a:p>
        </p:txBody>
      </p:sp>
      <p:sp>
        <p:nvSpPr>
          <p:cNvPr id="58" name="57 CuadroTexto"/>
          <p:cNvSpPr txBox="1"/>
          <p:nvPr/>
        </p:nvSpPr>
        <p:spPr>
          <a:xfrm>
            <a:off x="5508104" y="1599183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59" name="58 CuadroTexto"/>
          <p:cNvSpPr txBox="1"/>
          <p:nvPr/>
        </p:nvSpPr>
        <p:spPr>
          <a:xfrm>
            <a:off x="5724128" y="155679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a./b./c</a:t>
            </a:r>
            <a:endParaRPr lang="es-AR" sz="2000" dirty="0"/>
          </a:p>
        </p:txBody>
      </p:sp>
      <p:sp>
        <p:nvSpPr>
          <p:cNvPr id="60" name="59 CuadroTexto"/>
          <p:cNvSpPr txBox="1"/>
          <p:nvPr/>
        </p:nvSpPr>
        <p:spPr>
          <a:xfrm>
            <a:off x="6516216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1" name="60 CuadroTexto"/>
          <p:cNvSpPr txBox="1"/>
          <p:nvPr/>
        </p:nvSpPr>
        <p:spPr>
          <a:xfrm>
            <a:off x="6732240" y="155679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a./</a:t>
            </a:r>
            <a:r>
              <a:rPr lang="es-AR" sz="2000" dirty="0" err="1" smtClean="0"/>
              <a:t>b.c</a:t>
            </a:r>
            <a:endParaRPr lang="es-AR" sz="2000" dirty="0"/>
          </a:p>
        </p:txBody>
      </p:sp>
      <p:sp>
        <p:nvSpPr>
          <p:cNvPr id="62" name="61 CuadroTexto"/>
          <p:cNvSpPr txBox="1"/>
          <p:nvPr/>
        </p:nvSpPr>
        <p:spPr>
          <a:xfrm>
            <a:off x="7452320" y="1556792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+</a:t>
            </a:r>
            <a:endParaRPr lang="es-AR" sz="2000" dirty="0"/>
          </a:p>
        </p:txBody>
      </p:sp>
      <p:sp>
        <p:nvSpPr>
          <p:cNvPr id="63" name="62 CuadroTexto"/>
          <p:cNvSpPr txBox="1"/>
          <p:nvPr/>
        </p:nvSpPr>
        <p:spPr>
          <a:xfrm>
            <a:off x="7668344" y="1556792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err="1" smtClean="0"/>
              <a:t>a.b.c</a:t>
            </a:r>
            <a:endParaRPr lang="es-AR" sz="2000" dirty="0"/>
          </a:p>
        </p:txBody>
      </p:sp>
      <p:sp>
        <p:nvSpPr>
          <p:cNvPr id="64" name="63 CuadroTexto"/>
          <p:cNvSpPr txBox="1"/>
          <p:nvPr/>
        </p:nvSpPr>
        <p:spPr>
          <a:xfrm>
            <a:off x="779580" y="5477162"/>
            <a:ext cx="1368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f(</a:t>
            </a:r>
            <a:r>
              <a:rPr lang="es-AR" sz="2000" dirty="0" err="1" smtClean="0"/>
              <a:t>a,b,c</a:t>
            </a:r>
            <a:r>
              <a:rPr lang="es-AR" sz="2000" dirty="0" smtClean="0"/>
              <a:t>)=</a:t>
            </a:r>
            <a:endParaRPr lang="es-AR" sz="2000" dirty="0"/>
          </a:p>
        </p:txBody>
      </p:sp>
      <p:graphicFrame>
        <p:nvGraphicFramePr>
          <p:cNvPr id="65" name="64 Objeto"/>
          <p:cNvGraphicFramePr>
            <a:graphicFrameLocks noChangeAspect="1"/>
          </p:cNvGraphicFramePr>
          <p:nvPr/>
        </p:nvGraphicFramePr>
        <p:xfrm>
          <a:off x="1919288" y="5421313"/>
          <a:ext cx="1392237" cy="695325"/>
        </p:xfrm>
        <a:graphic>
          <a:graphicData uri="http://schemas.openxmlformats.org/presentationml/2006/ole">
            <p:oleObj spid="_x0000_s2050" name="Ecuación" r:id="rId5" imgW="736560" imgH="368280" progId="Equation.3">
              <p:embed/>
            </p:oleObj>
          </a:graphicData>
        </a:graphic>
      </p:graphicFrame>
      <p:sp>
        <p:nvSpPr>
          <p:cNvPr id="66" name="65 Retraso"/>
          <p:cNvSpPr/>
          <p:nvPr/>
        </p:nvSpPr>
        <p:spPr bwMode="auto">
          <a:xfrm>
            <a:off x="6516216" y="3284984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7" name="66 Retraso"/>
          <p:cNvSpPr/>
          <p:nvPr/>
        </p:nvSpPr>
        <p:spPr bwMode="auto">
          <a:xfrm>
            <a:off x="6516216" y="4005064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8" name="67 Retraso"/>
          <p:cNvSpPr/>
          <p:nvPr/>
        </p:nvSpPr>
        <p:spPr bwMode="auto">
          <a:xfrm>
            <a:off x="6516216" y="4653136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9" name="68 Retraso"/>
          <p:cNvSpPr/>
          <p:nvPr/>
        </p:nvSpPr>
        <p:spPr bwMode="auto">
          <a:xfrm>
            <a:off x="6516216" y="5301208"/>
            <a:ext cx="360040" cy="432048"/>
          </a:xfrm>
          <a:prstGeom prst="flowChartDelay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70" name="69 Conector recto"/>
          <p:cNvCxnSpPr>
            <a:stCxn id="66" idx="3"/>
          </p:cNvCxnSpPr>
          <p:nvPr/>
        </p:nvCxnSpPr>
        <p:spPr bwMode="auto">
          <a:xfrm>
            <a:off x="6876256" y="3501008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1" name="70 Luna"/>
          <p:cNvSpPr/>
          <p:nvPr/>
        </p:nvSpPr>
        <p:spPr bwMode="auto">
          <a:xfrm flipH="1">
            <a:off x="7524328" y="4221088"/>
            <a:ext cx="648072" cy="576064"/>
          </a:xfrm>
          <a:prstGeom prst="mo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72" name="71 Conector recto"/>
          <p:cNvCxnSpPr/>
          <p:nvPr/>
        </p:nvCxnSpPr>
        <p:spPr bwMode="auto">
          <a:xfrm flipH="1">
            <a:off x="8172400" y="4509120"/>
            <a:ext cx="28803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72 Conector recto"/>
          <p:cNvCxnSpPr/>
          <p:nvPr/>
        </p:nvCxnSpPr>
        <p:spPr bwMode="auto">
          <a:xfrm>
            <a:off x="7308304" y="3501008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73 Conector recto"/>
          <p:cNvCxnSpPr>
            <a:stCxn id="67" idx="3"/>
          </p:cNvCxnSpPr>
          <p:nvPr/>
        </p:nvCxnSpPr>
        <p:spPr bwMode="auto">
          <a:xfrm>
            <a:off x="6876256" y="4221088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74 Conector recto"/>
          <p:cNvCxnSpPr/>
          <p:nvPr/>
        </p:nvCxnSpPr>
        <p:spPr bwMode="auto">
          <a:xfrm>
            <a:off x="7092280" y="4221088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75 Conector recto"/>
          <p:cNvCxnSpPr/>
          <p:nvPr/>
        </p:nvCxnSpPr>
        <p:spPr bwMode="auto">
          <a:xfrm>
            <a:off x="6876256" y="4869160"/>
            <a:ext cx="2160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76 Conector recto"/>
          <p:cNvCxnSpPr/>
          <p:nvPr/>
        </p:nvCxnSpPr>
        <p:spPr bwMode="auto">
          <a:xfrm>
            <a:off x="7092280" y="4581128"/>
            <a:ext cx="0" cy="2880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77 Conector recto"/>
          <p:cNvCxnSpPr/>
          <p:nvPr/>
        </p:nvCxnSpPr>
        <p:spPr bwMode="auto">
          <a:xfrm>
            <a:off x="7308304" y="4293096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78 Conector recto"/>
          <p:cNvCxnSpPr/>
          <p:nvPr/>
        </p:nvCxnSpPr>
        <p:spPr bwMode="auto">
          <a:xfrm>
            <a:off x="7092280" y="4437112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79 Conector recto"/>
          <p:cNvCxnSpPr/>
          <p:nvPr/>
        </p:nvCxnSpPr>
        <p:spPr bwMode="auto">
          <a:xfrm>
            <a:off x="7092280" y="4581128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80 Conector recto"/>
          <p:cNvCxnSpPr/>
          <p:nvPr/>
        </p:nvCxnSpPr>
        <p:spPr bwMode="auto">
          <a:xfrm>
            <a:off x="6876256" y="5517232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81 Conector recto"/>
          <p:cNvCxnSpPr/>
          <p:nvPr/>
        </p:nvCxnSpPr>
        <p:spPr bwMode="auto">
          <a:xfrm>
            <a:off x="7308304" y="4725144"/>
            <a:ext cx="0" cy="79208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82 Conector recto"/>
          <p:cNvCxnSpPr/>
          <p:nvPr/>
        </p:nvCxnSpPr>
        <p:spPr bwMode="auto">
          <a:xfrm>
            <a:off x="7308304" y="4725144"/>
            <a:ext cx="3600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84" name="83 Grupo"/>
          <p:cNvGrpSpPr/>
          <p:nvPr/>
        </p:nvGrpSpPr>
        <p:grpSpPr>
          <a:xfrm rot="5400000">
            <a:off x="3815916" y="2744924"/>
            <a:ext cx="504056" cy="432048"/>
            <a:chOff x="5004048" y="3933056"/>
            <a:chExt cx="504056" cy="432048"/>
          </a:xfrm>
        </p:grpSpPr>
        <p:sp>
          <p:nvSpPr>
            <p:cNvPr id="85" name="84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86" name="85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87" name="86 Conector recto"/>
          <p:cNvCxnSpPr/>
          <p:nvPr/>
        </p:nvCxnSpPr>
        <p:spPr bwMode="auto">
          <a:xfrm>
            <a:off x="3635896" y="2348880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87 Conector recto"/>
          <p:cNvCxnSpPr/>
          <p:nvPr/>
        </p:nvCxnSpPr>
        <p:spPr bwMode="auto">
          <a:xfrm>
            <a:off x="3635896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9" name="88 Conector recto"/>
          <p:cNvCxnSpPr>
            <a:endCxn id="85" idx="2"/>
          </p:cNvCxnSpPr>
          <p:nvPr/>
        </p:nvCxnSpPr>
        <p:spPr bwMode="auto">
          <a:xfrm>
            <a:off x="4067944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89 Conector recto"/>
          <p:cNvCxnSpPr>
            <a:stCxn id="86" idx="6"/>
          </p:cNvCxnSpPr>
          <p:nvPr/>
        </p:nvCxnSpPr>
        <p:spPr bwMode="auto">
          <a:xfrm>
            <a:off x="4067944" y="3212976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1" name="90 Grupo"/>
          <p:cNvGrpSpPr/>
          <p:nvPr/>
        </p:nvGrpSpPr>
        <p:grpSpPr>
          <a:xfrm rot="5400000">
            <a:off x="4680012" y="2744924"/>
            <a:ext cx="504056" cy="432048"/>
            <a:chOff x="5004048" y="3933056"/>
            <a:chExt cx="504056" cy="432048"/>
          </a:xfrm>
        </p:grpSpPr>
        <p:sp>
          <p:nvSpPr>
            <p:cNvPr id="92" name="91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93" name="92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94" name="93 Conector recto"/>
          <p:cNvCxnSpPr/>
          <p:nvPr/>
        </p:nvCxnSpPr>
        <p:spPr bwMode="auto">
          <a:xfrm>
            <a:off x="4499992" y="2348880"/>
            <a:ext cx="0" cy="338437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94 Conector recto"/>
          <p:cNvCxnSpPr/>
          <p:nvPr/>
        </p:nvCxnSpPr>
        <p:spPr bwMode="auto">
          <a:xfrm>
            <a:off x="4499992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95 Conector recto"/>
          <p:cNvCxnSpPr>
            <a:endCxn id="92" idx="2"/>
          </p:cNvCxnSpPr>
          <p:nvPr/>
        </p:nvCxnSpPr>
        <p:spPr bwMode="auto">
          <a:xfrm>
            <a:off x="4932040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96 Conector recto"/>
          <p:cNvCxnSpPr>
            <a:stCxn id="93" idx="6"/>
          </p:cNvCxnSpPr>
          <p:nvPr/>
        </p:nvCxnSpPr>
        <p:spPr bwMode="auto">
          <a:xfrm>
            <a:off x="4932040" y="3212976"/>
            <a:ext cx="0" cy="252028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98" name="97 Grupo"/>
          <p:cNvGrpSpPr/>
          <p:nvPr/>
        </p:nvGrpSpPr>
        <p:grpSpPr>
          <a:xfrm rot="5400000">
            <a:off x="5544108" y="2744924"/>
            <a:ext cx="504056" cy="432048"/>
            <a:chOff x="5004048" y="3933056"/>
            <a:chExt cx="504056" cy="432048"/>
          </a:xfrm>
        </p:grpSpPr>
        <p:sp>
          <p:nvSpPr>
            <p:cNvPr id="99" name="98 Extracto"/>
            <p:cNvSpPr/>
            <p:nvPr/>
          </p:nvSpPr>
          <p:spPr bwMode="auto">
            <a:xfrm rot="5400000">
              <a:off x="4968044" y="3969060"/>
              <a:ext cx="432048" cy="360040"/>
            </a:xfrm>
            <a:prstGeom prst="flowChartExtra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0" name="99 Elipse"/>
            <p:cNvSpPr/>
            <p:nvPr/>
          </p:nvSpPr>
          <p:spPr bwMode="auto">
            <a:xfrm>
              <a:off x="5364088" y="4077072"/>
              <a:ext cx="144016" cy="144016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A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cxnSp>
        <p:nvCxnSpPr>
          <p:cNvPr id="101" name="100 Conector recto"/>
          <p:cNvCxnSpPr/>
          <p:nvPr/>
        </p:nvCxnSpPr>
        <p:spPr bwMode="auto">
          <a:xfrm>
            <a:off x="5364088" y="2348880"/>
            <a:ext cx="0" cy="345638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101 Conector recto"/>
          <p:cNvCxnSpPr/>
          <p:nvPr/>
        </p:nvCxnSpPr>
        <p:spPr bwMode="auto">
          <a:xfrm>
            <a:off x="5364088" y="2492896"/>
            <a:ext cx="4320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102 Conector recto"/>
          <p:cNvCxnSpPr>
            <a:endCxn id="99" idx="2"/>
          </p:cNvCxnSpPr>
          <p:nvPr/>
        </p:nvCxnSpPr>
        <p:spPr bwMode="auto">
          <a:xfrm>
            <a:off x="5796136" y="2492896"/>
            <a:ext cx="0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103 Conector recto"/>
          <p:cNvCxnSpPr>
            <a:stCxn id="100" idx="6"/>
          </p:cNvCxnSpPr>
          <p:nvPr/>
        </p:nvCxnSpPr>
        <p:spPr bwMode="auto">
          <a:xfrm>
            <a:off x="5796136" y="3212976"/>
            <a:ext cx="0" cy="259228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5" name="104 CuadroTexto"/>
          <p:cNvSpPr txBox="1"/>
          <p:nvPr/>
        </p:nvSpPr>
        <p:spPr>
          <a:xfrm>
            <a:off x="3419872" y="580526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2000" dirty="0" smtClean="0"/>
              <a:t>a    /a    b   /b    c    /c</a:t>
            </a:r>
            <a:endParaRPr lang="es-AR" sz="2000" dirty="0"/>
          </a:p>
        </p:txBody>
      </p:sp>
      <p:cxnSp>
        <p:nvCxnSpPr>
          <p:cNvPr id="106" name="105 Conector recto"/>
          <p:cNvCxnSpPr/>
          <p:nvPr/>
        </p:nvCxnSpPr>
        <p:spPr bwMode="auto">
          <a:xfrm>
            <a:off x="4067944" y="3356992"/>
            <a:ext cx="244827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106 Conector recto"/>
          <p:cNvCxnSpPr>
            <a:endCxn id="66" idx="1"/>
          </p:cNvCxnSpPr>
          <p:nvPr/>
        </p:nvCxnSpPr>
        <p:spPr bwMode="auto">
          <a:xfrm>
            <a:off x="4499992" y="3501008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8" name="107 Elipse"/>
          <p:cNvSpPr/>
          <p:nvPr/>
        </p:nvSpPr>
        <p:spPr bwMode="auto">
          <a:xfrm>
            <a:off x="4427984" y="342900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9" name="108 Elipse"/>
          <p:cNvSpPr/>
          <p:nvPr/>
        </p:nvSpPr>
        <p:spPr bwMode="auto">
          <a:xfrm>
            <a:off x="3995936" y="328498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0" name="109 Elipse"/>
          <p:cNvSpPr/>
          <p:nvPr/>
        </p:nvSpPr>
        <p:spPr bwMode="auto">
          <a:xfrm>
            <a:off x="5724128" y="358140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1" name="110 Elipse"/>
          <p:cNvSpPr/>
          <p:nvPr/>
        </p:nvSpPr>
        <p:spPr bwMode="auto">
          <a:xfrm>
            <a:off x="4860032" y="414908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12" name="111 Elipse"/>
          <p:cNvSpPr/>
          <p:nvPr/>
        </p:nvSpPr>
        <p:spPr bwMode="auto">
          <a:xfrm>
            <a:off x="5724128" y="4293096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13" name="112 Conector recto"/>
          <p:cNvCxnSpPr/>
          <p:nvPr/>
        </p:nvCxnSpPr>
        <p:spPr bwMode="auto">
          <a:xfrm>
            <a:off x="4932040" y="4221088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113 Conector recto"/>
          <p:cNvCxnSpPr/>
          <p:nvPr/>
        </p:nvCxnSpPr>
        <p:spPr bwMode="auto">
          <a:xfrm>
            <a:off x="5796136" y="4365104"/>
            <a:ext cx="7200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114 Conector recto"/>
          <p:cNvCxnSpPr/>
          <p:nvPr/>
        </p:nvCxnSpPr>
        <p:spPr bwMode="auto">
          <a:xfrm>
            <a:off x="3635896" y="5373216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6" name="115 Elipse"/>
          <p:cNvSpPr/>
          <p:nvPr/>
        </p:nvSpPr>
        <p:spPr bwMode="auto">
          <a:xfrm>
            <a:off x="3563888" y="400506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17" name="116 Conector recto"/>
          <p:cNvCxnSpPr/>
          <p:nvPr/>
        </p:nvCxnSpPr>
        <p:spPr bwMode="auto">
          <a:xfrm>
            <a:off x="3635896" y="4725144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8" name="117 Conector recto"/>
          <p:cNvCxnSpPr/>
          <p:nvPr/>
        </p:nvCxnSpPr>
        <p:spPr bwMode="auto">
          <a:xfrm>
            <a:off x="4932040" y="4869160"/>
            <a:ext cx="158417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118 Conector recto"/>
          <p:cNvCxnSpPr/>
          <p:nvPr/>
        </p:nvCxnSpPr>
        <p:spPr bwMode="auto">
          <a:xfrm>
            <a:off x="5364088" y="5013176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0" name="119 Elipse"/>
          <p:cNvSpPr/>
          <p:nvPr/>
        </p:nvSpPr>
        <p:spPr bwMode="auto">
          <a:xfrm>
            <a:off x="3563888" y="4653136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1" name="120 Elipse"/>
          <p:cNvSpPr/>
          <p:nvPr/>
        </p:nvSpPr>
        <p:spPr bwMode="auto">
          <a:xfrm>
            <a:off x="4860032" y="4797152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2" name="121 Elipse"/>
          <p:cNvSpPr/>
          <p:nvPr/>
        </p:nvSpPr>
        <p:spPr bwMode="auto">
          <a:xfrm>
            <a:off x="5292080" y="494116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23" name="122 Conector recto"/>
          <p:cNvCxnSpPr/>
          <p:nvPr/>
        </p:nvCxnSpPr>
        <p:spPr bwMode="auto">
          <a:xfrm>
            <a:off x="4499992" y="5517232"/>
            <a:ext cx="201622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4" name="123 Conector recto"/>
          <p:cNvCxnSpPr/>
          <p:nvPr/>
        </p:nvCxnSpPr>
        <p:spPr bwMode="auto">
          <a:xfrm>
            <a:off x="5364088" y="5661248"/>
            <a:ext cx="115212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124 Elipse"/>
          <p:cNvSpPr/>
          <p:nvPr/>
        </p:nvSpPr>
        <p:spPr bwMode="auto">
          <a:xfrm>
            <a:off x="3563888" y="5301208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6" name="125 Elipse"/>
          <p:cNvSpPr/>
          <p:nvPr/>
        </p:nvSpPr>
        <p:spPr bwMode="auto">
          <a:xfrm>
            <a:off x="4427984" y="5445224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7" name="126 Elipse"/>
          <p:cNvSpPr/>
          <p:nvPr/>
        </p:nvSpPr>
        <p:spPr bwMode="auto">
          <a:xfrm>
            <a:off x="5292080" y="5589240"/>
            <a:ext cx="144016" cy="14401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28" name="127 CuadroTexto"/>
          <p:cNvSpPr txBox="1"/>
          <p:nvPr/>
        </p:nvSpPr>
        <p:spPr>
          <a:xfrm>
            <a:off x="8172400" y="413978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</a:t>
            </a:r>
            <a:endParaRPr lang="es-AR" dirty="0"/>
          </a:p>
        </p:txBody>
      </p:sp>
      <p:cxnSp>
        <p:nvCxnSpPr>
          <p:cNvPr id="129" name="128 Conector recto"/>
          <p:cNvCxnSpPr/>
          <p:nvPr/>
        </p:nvCxnSpPr>
        <p:spPr bwMode="auto">
          <a:xfrm>
            <a:off x="3635896" y="4077072"/>
            <a:ext cx="28803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0" name="129 Conector recto"/>
          <p:cNvCxnSpPr/>
          <p:nvPr/>
        </p:nvCxnSpPr>
        <p:spPr bwMode="auto">
          <a:xfrm>
            <a:off x="5796136" y="3645024"/>
            <a:ext cx="71169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6" grpId="0" animBg="1"/>
      <p:bldP spid="67" grpId="0" animBg="1"/>
      <p:bldP spid="68" grpId="0" animBg="1"/>
      <p:bldP spid="69" grpId="0" animBg="1"/>
      <p:bldP spid="71" grpId="0" animBg="1"/>
      <p:bldP spid="105" grpId="0"/>
      <p:bldP spid="108" grpId="0" animBg="1"/>
      <p:bldP spid="109" grpId="0" animBg="1"/>
      <p:bldP spid="110" grpId="0" animBg="1"/>
      <p:bldP spid="111" grpId="0" animBg="1"/>
      <p:bldP spid="112" grpId="0" animBg="1"/>
      <p:bldP spid="116" grpId="0" animBg="1"/>
      <p:bldP spid="120" grpId="0" animBg="1"/>
      <p:bldP spid="121" grpId="0" animBg="1"/>
      <p:bldP spid="122" grpId="0" animBg="1"/>
      <p:bldP spid="125" grpId="0" animBg="1"/>
      <p:bldP spid="126" grpId="0" animBg="1"/>
      <p:bldP spid="127" grpId="0" animBg="1"/>
      <p:bldP spid="1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OTRAS OPERACIONES LÓGICAS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1580" y="2072382"/>
            <a:ext cx="6934200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OTRAS OPERACIONES LÓGICAS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1540" y="1288504"/>
            <a:ext cx="7371125" cy="523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COMPUERTAS LÓGICAS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1556792"/>
            <a:ext cx="6339335" cy="435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 Grupo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4" name="3 Rectángulo"/>
            <p:cNvSpPr/>
            <p:nvPr/>
          </p:nvSpPr>
          <p:spPr>
            <a:xfrm>
              <a:off x="0" y="0"/>
              <a:ext cx="8001000" cy="106680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5" name="4 Rectángulo"/>
            <p:cNvSpPr/>
            <p:nvPr/>
          </p:nvSpPr>
          <p:spPr>
            <a:xfrm>
              <a:off x="8001000" y="0"/>
              <a:ext cx="11430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7" name="6 Rectángulo"/>
            <p:cNvSpPr/>
            <p:nvPr/>
          </p:nvSpPr>
          <p:spPr>
            <a:xfrm>
              <a:off x="0" y="6781800"/>
              <a:ext cx="8001000" cy="76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8001000" y="6781800"/>
              <a:ext cx="1143000" cy="762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/>
            </a:p>
          </p:txBody>
        </p:sp>
      </p:grpSp>
      <p:sp>
        <p:nvSpPr>
          <p:cNvPr id="20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1600" y="101600"/>
            <a:ext cx="77724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GB" sz="2400" kern="0" dirty="0" smtClean="0">
                <a:solidFill>
                  <a:srgbClr val="000000"/>
                </a:solidFill>
                <a:latin typeface="Arial Black"/>
                <a:ea typeface="+mj-ea"/>
                <a:cs typeface="Arial"/>
              </a:rPr>
              <a:t>COMPUERTAS LÓGICAS</a:t>
            </a:r>
            <a:endParaRPr lang="en-GB" sz="2400" kern="0" dirty="0">
              <a:solidFill>
                <a:srgbClr val="000000"/>
              </a:solidFill>
              <a:latin typeface="Arial Black"/>
              <a:ea typeface="+mj-ea"/>
              <a:cs typeface="Arial"/>
            </a:endParaRPr>
          </a:p>
        </p:txBody>
      </p:sp>
      <p:pic>
        <p:nvPicPr>
          <p:cNvPr id="3076" name="Picture 3" descr="D:\Luis\Facultad\UTN\240px-UTN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27988" y="5732463"/>
            <a:ext cx="1116012" cy="1014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656" y="1719263"/>
            <a:ext cx="5324380" cy="4374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UC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</Template>
  <TotalTime>2571</TotalTime>
  <Words>692</Words>
  <Application>Microsoft Office PowerPoint</Application>
  <PresentationFormat>Presentación en pantalla (4:3)</PresentationFormat>
  <Paragraphs>120</Paragraphs>
  <Slides>15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UCC</vt:lpstr>
      <vt:lpstr>Ecuación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</vt:vector>
  </TitlesOfParts>
  <Company>RevolucionUnattended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usuario</dc:creator>
  <cp:lastModifiedBy>Usuario</cp:lastModifiedBy>
  <cp:revision>344</cp:revision>
  <dcterms:created xsi:type="dcterms:W3CDTF">2015-08-11T02:22:31Z</dcterms:created>
  <dcterms:modified xsi:type="dcterms:W3CDTF">2022-04-07T18:14:59Z</dcterms:modified>
</cp:coreProperties>
</file>
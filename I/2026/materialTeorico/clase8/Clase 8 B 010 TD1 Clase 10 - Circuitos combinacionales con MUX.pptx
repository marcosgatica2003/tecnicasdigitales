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9"/>
  </p:notesMasterIdLst>
  <p:sldIdLst>
    <p:sldId id="259" r:id="rId2"/>
    <p:sldId id="260" r:id="rId3"/>
    <p:sldId id="284" r:id="rId4"/>
    <p:sldId id="333" r:id="rId5"/>
    <p:sldId id="334" r:id="rId6"/>
    <p:sldId id="319" r:id="rId7"/>
    <p:sldId id="32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128" autoAdjust="0"/>
  </p:normalViewPr>
  <p:slideViewPr>
    <p:cSldViewPr>
      <p:cViewPr>
        <p:scale>
          <a:sx n="100" d="100"/>
          <a:sy n="100" d="100"/>
        </p:scale>
        <p:origin x="96" y="-4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1D9D7-1BCE-40E1-9338-F15CD5B5D82C}" type="datetimeFigureOut">
              <a:rPr lang="es-ES" smtClean="0"/>
              <a:t>30/08/2021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6CA60-FFD4-48FF-A235-436DE00AFB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54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6CA60-FFD4-48FF-A235-436DE00AFB4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32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3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9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3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9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2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3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8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8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9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789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3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654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6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25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9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Hoja_de_c_lculo_de_Microsoft_Excel1.xlsx"/><Relationship Id="rId5" Type="http://schemas.openxmlformats.org/officeDocument/2006/relationships/hyperlink" Target="file:///D:\Dropbox\00%20Sergio\UTN\Academico\TD1\Simulaciones\Proteus\Mux%208%20a%201%20P32%20b.pdsprj" TargetMode="Externa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ropbox\00%20Sergio\UTN\Academico\TD1\Simulaciones\Proteus\Mux%208%20a%201%20P32%20b.pdsprj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package" Target="../embeddings/Hoja_de_c_lculo_de_Microsoft_Excel2.xls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Hoja_de_c_lculo_de_Microsoft_Excel5.xlsx"/><Relationship Id="rId13" Type="http://schemas.openxmlformats.org/officeDocument/2006/relationships/image" Target="../media/image12.emf"/><Relationship Id="rId1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9.emf"/><Relationship Id="rId12" Type="http://schemas.openxmlformats.org/officeDocument/2006/relationships/package" Target="../embeddings/Hoja_de_c_lculo_de_Microsoft_Excel7.xlsx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Hoja_de_c_lculo_de_Microsoft_Excel4.xlsx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5" Type="http://schemas.openxmlformats.org/officeDocument/2006/relationships/image" Target="../media/image14.png"/><Relationship Id="rId10" Type="http://schemas.openxmlformats.org/officeDocument/2006/relationships/package" Target="../embeddings/Hoja_de_c_lculo_de_Microsoft_Excel6.xlsx"/><Relationship Id="rId19" Type="http://schemas.openxmlformats.org/officeDocument/2006/relationships/hyperlink" Target="file:///D:\Dropbox\00%20Sergio\UTN\Academico\TD1\Simulaciones\Proteus\Mux%204%20a%201%20P35%20a.pdsprj" TargetMode="External"/><Relationship Id="rId4" Type="http://schemas.openxmlformats.org/officeDocument/2006/relationships/package" Target="../embeddings/Hoja_de_c_lculo_de_Microsoft_Excel3.xlsx"/><Relationship Id="rId9" Type="http://schemas.openxmlformats.org/officeDocument/2006/relationships/image" Target="../media/image10.emf"/><Relationship Id="rId1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3668261" y="4937352"/>
            <a:ext cx="334474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Bienvenidos</a:t>
            </a:r>
          </a:p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Año 2020</a:t>
            </a:r>
            <a:endParaRPr lang="es-ES" sz="5400" b="1" cap="none" spc="0" dirty="0">
              <a:ln/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79647" y="2854482"/>
            <a:ext cx="11304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TD1</a:t>
            </a:r>
            <a:endParaRPr lang="es-ES" sz="4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5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 rot="925651">
            <a:off x="7024018" y="3326189"/>
            <a:ext cx="5750825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Esperando que se conecten</a:t>
            </a:r>
          </a:p>
          <a:p>
            <a:pPr algn="ctr"/>
            <a:r>
              <a:rPr lang="es-ES" sz="250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Al ZOOM</a:t>
            </a:r>
            <a:endParaRPr lang="es-ES" sz="25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7" name="Image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4723577" y="164939"/>
            <a:ext cx="4111329" cy="1571536"/>
          </a:xfrm>
          <a:prstGeom prst="rect">
            <a:avLst/>
          </a:prstGeom>
        </p:spPr>
      </p:pic>
      <p:sp>
        <p:nvSpPr>
          <p:cNvPr id="6" name="Pergamino horizontal 5"/>
          <p:cNvSpPr/>
          <p:nvPr/>
        </p:nvSpPr>
        <p:spPr>
          <a:xfrm>
            <a:off x="259661" y="478218"/>
            <a:ext cx="3456384" cy="2376264"/>
          </a:xfrm>
          <a:prstGeom prst="horizontalScrol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Cuarentena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Día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98</a:t>
            </a:r>
            <a:endParaRPr lang="es-ES" sz="3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-378048" y="2308615"/>
            <a:ext cx="619840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3000" b="1" cap="none" spc="0" dirty="0" smtClean="0">
                <a:ln/>
                <a:solidFill>
                  <a:schemeClr val="accent3"/>
                </a:solidFill>
                <a:effectLst/>
              </a:rPr>
              <a:t>Para entrar al ZOOM.2020</a:t>
            </a:r>
          </a:p>
          <a:p>
            <a:pPr algn="ctr"/>
            <a:endParaRPr lang="es-ES" sz="3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498516" y="977193"/>
            <a:ext cx="6018524" cy="10714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spc="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Nuevas directivas</a:t>
            </a:r>
            <a:endParaRPr lang="es-ES" sz="4000" spc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1231319" y="5347475"/>
            <a:ext cx="7689186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No cumplir, deberé eliminarlo y no podrán volver a entrar a la sección.</a:t>
            </a:r>
            <a:endParaRPr lang="es-ES" sz="25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Llamada rectangular 12"/>
          <p:cNvSpPr/>
          <p:nvPr/>
        </p:nvSpPr>
        <p:spPr>
          <a:xfrm>
            <a:off x="9732245" y="3611871"/>
            <a:ext cx="2032000" cy="1701692"/>
          </a:xfrm>
          <a:prstGeom prst="wedgeRectCallout">
            <a:avLst>
              <a:gd name="adj1" fmla="val -66304"/>
              <a:gd name="adj2" fmla="val 1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Espero no ofender a nadie, pero es por seguridad de todos</a:t>
            </a:r>
            <a:endParaRPr lang="es-ES" dirty="0"/>
          </a:p>
        </p:txBody>
      </p:sp>
      <p:sp>
        <p:nvSpPr>
          <p:cNvPr id="14" name="Rectángulo 13"/>
          <p:cNvSpPr/>
          <p:nvPr/>
        </p:nvSpPr>
        <p:spPr>
          <a:xfrm>
            <a:off x="756662" y="3033597"/>
            <a:ext cx="897558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</a:t>
            </a:r>
            <a:r>
              <a:rPr lang="es-ES" sz="3200" b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ser usuario registrado de ZOOM</a:t>
            </a:r>
            <a:endParaRPr lang="es-ES" sz="3200" i="1" dirty="0" smtClean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es-ES" sz="3200" i="1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b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figurar: </a:t>
            </a:r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Curso </a:t>
            </a:r>
            <a:r>
              <a:rPr lang="es-ES" sz="3200" i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Legajo Apellido </a:t>
            </a:r>
            <a:r>
              <a:rPr lang="es-ES" sz="3200" b="0" i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y nombre </a:t>
            </a:r>
            <a:endParaRPr lang="es-ES" sz="3200" b="0" i="1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auto">
          <a:xfrm>
            <a:off x="1857140" y="321457"/>
            <a:ext cx="916940" cy="919480"/>
          </a:xfrm>
          <a:prstGeom prst="rect">
            <a:avLst/>
          </a:prstGeom>
          <a:noFill/>
          <a:ln w="76200">
            <a:solidFill>
              <a:srgbClr val="0071C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es-ES"/>
          </a:p>
        </p:txBody>
      </p:sp>
      <p:sp>
        <p:nvSpPr>
          <p:cNvPr id="16" name="Rectángulo 15"/>
          <p:cNvSpPr/>
          <p:nvPr/>
        </p:nvSpPr>
        <p:spPr>
          <a:xfrm>
            <a:off x="2306470" y="493642"/>
            <a:ext cx="829371" cy="6621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TUP</a:t>
            </a:r>
            <a:endParaRPr lang="es-ES" sz="2400" dirty="0"/>
          </a:p>
        </p:txBody>
      </p:sp>
      <p:sp>
        <p:nvSpPr>
          <p:cNvPr id="17" name="Rectángulo 16"/>
          <p:cNvSpPr/>
          <p:nvPr/>
        </p:nvSpPr>
        <p:spPr>
          <a:xfrm>
            <a:off x="-92310" y="286411"/>
            <a:ext cx="1889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TECNICATURA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UNIVERSITARIA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EN PROGRAMACIÓN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UTN-FRC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888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0" tmFilter="0, 0; .2, .5; .8, .5; 1, 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0" autoRev="1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build="p" rev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65016" y="1382905"/>
            <a:ext cx="10755969" cy="45243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Circuitos </a:t>
            </a:r>
            <a:r>
              <a:rPr lang="es-ES" sz="2400" dirty="0" err="1"/>
              <a:t>combinacionales</a:t>
            </a:r>
            <a:r>
              <a:rPr lang="es-ES" sz="2400" dirty="0"/>
              <a:t> básicos</a:t>
            </a:r>
            <a:r>
              <a:rPr lang="es-ES" sz="2400" dirty="0" smtClean="0"/>
              <a:t>: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Multiplexores</a:t>
            </a:r>
            <a:r>
              <a:rPr lang="es-ES" sz="2400" dirty="0"/>
              <a:t>, </a:t>
            </a:r>
            <a:r>
              <a:rPr lang="es-ES" sz="2400" dirty="0" err="1"/>
              <a:t>Demultiplexores</a:t>
            </a:r>
            <a:r>
              <a:rPr lang="es-ES" sz="2400" dirty="0"/>
              <a:t>, </a:t>
            </a:r>
            <a:r>
              <a:rPr lang="es-ES" sz="2400" dirty="0" err="1" smtClean="0"/>
              <a:t>Decodificadores,Codificadores</a:t>
            </a:r>
            <a:r>
              <a:rPr lang="es-ES" sz="2400" dirty="0" smtClean="0"/>
              <a:t> </a:t>
            </a:r>
            <a:r>
              <a:rPr lang="es-ES" sz="2400" dirty="0"/>
              <a:t>con y sin prioridad, Circuito conversor de binario a Gray y de Gray </a:t>
            </a:r>
            <a:r>
              <a:rPr lang="es-ES" sz="2400" dirty="0" smtClean="0"/>
              <a:t>a binario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circuitos </a:t>
            </a:r>
            <a:r>
              <a:rPr lang="es-ES" sz="2400" dirty="0"/>
              <a:t>detectores y correctores de error: paridad, </a:t>
            </a:r>
            <a:r>
              <a:rPr lang="es-ES" sz="2400" dirty="0" err="1"/>
              <a:t>checksum</a:t>
            </a:r>
            <a:r>
              <a:rPr lang="es-ES" sz="2400" dirty="0"/>
              <a:t>, CRC, </a:t>
            </a:r>
            <a:r>
              <a:rPr lang="es-ES" sz="2400" dirty="0" smtClean="0"/>
              <a:t>y </a:t>
            </a:r>
            <a:r>
              <a:rPr lang="es-ES" sz="2400" dirty="0" err="1" smtClean="0"/>
              <a:t>Hamming</a:t>
            </a:r>
            <a:r>
              <a:rPr lang="es-ES" sz="2400" dirty="0" smtClean="0"/>
              <a:t>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Decodificador </a:t>
            </a:r>
            <a:r>
              <a:rPr lang="es-ES" sz="2400" dirty="0"/>
              <a:t>BCD a 7 </a:t>
            </a:r>
            <a:r>
              <a:rPr lang="es-ES" sz="2400" dirty="0" err="1" smtClean="0"/>
              <a:t>segmentos.Desplazadores</a:t>
            </a:r>
            <a:r>
              <a:rPr lang="es-ES" sz="2400" dirty="0"/>
              <a:t>. </a:t>
            </a:r>
            <a:endParaRPr lang="es-ES" sz="2400" dirty="0" smtClean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Uso </a:t>
            </a:r>
            <a:r>
              <a:rPr lang="es-ES" sz="2400" dirty="0"/>
              <a:t>del decodificador </a:t>
            </a:r>
            <a:r>
              <a:rPr lang="es-ES" sz="2400" dirty="0" smtClean="0"/>
              <a:t>y del </a:t>
            </a:r>
            <a:r>
              <a:rPr lang="es-ES" sz="2400" dirty="0"/>
              <a:t>multiplexor como generador de funciones.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/>
              <a:t>Verificación de los recursos utilizados en la FPGA por cada uno de los </a:t>
            </a:r>
            <a:r>
              <a:rPr lang="es-ES" sz="2400" dirty="0" smtClean="0"/>
              <a:t>circuitos anteriores.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El </a:t>
            </a:r>
            <a:r>
              <a:rPr lang="es-ES" sz="2400" dirty="0"/>
              <a:t>operador ternario en </a:t>
            </a:r>
            <a:r>
              <a:rPr lang="es-ES" sz="2400" dirty="0" err="1" smtClean="0"/>
              <a:t>Verilog</a:t>
            </a:r>
            <a:r>
              <a:rPr lang="es-ES" sz="2400" dirty="0" smtClean="0"/>
              <a:t> </a:t>
            </a:r>
            <a:r>
              <a:rPr lang="es-ES" sz="2400" dirty="0"/>
              <a:t>para implementación </a:t>
            </a:r>
            <a:r>
              <a:rPr lang="es-ES" sz="2400" dirty="0" smtClean="0"/>
              <a:t>de multiplexores.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Modelado estructural.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Diferencia </a:t>
            </a:r>
            <a:r>
              <a:rPr lang="es-ES" sz="2400" dirty="0"/>
              <a:t>entre una variable y una señal. </a:t>
            </a:r>
          </a:p>
        </p:txBody>
      </p:sp>
    </p:spTree>
    <p:extLst>
      <p:ext uri="{BB962C8B-B14F-4D97-AF65-F5344CB8AC3E}">
        <p14:creationId xmlns:p14="http://schemas.microsoft.com/office/powerpoint/2010/main" val="650624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015880" y="-9241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2" y="471821"/>
            <a:ext cx="8767244" cy="117716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6" y="1648986"/>
            <a:ext cx="7822170" cy="51699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834906" y="5949280"/>
            <a:ext cx="179606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tx1"/>
                </a:solidFill>
                <a:hlinkClick r:id="rId5" action="ppaction://program"/>
              </a:rPr>
              <a:t>Simular </a:t>
            </a:r>
            <a:r>
              <a:rPr lang="es-ES" dirty="0" err="1" smtClean="0">
                <a:solidFill>
                  <a:schemeClr val="tx1"/>
                </a:solidFill>
                <a:hlinkClick r:id="rId5" action="ppaction://program"/>
              </a:rPr>
              <a:t>Proteus</a:t>
            </a:r>
            <a:endParaRPr lang="es-ES" dirty="0">
              <a:solidFill>
                <a:schemeClr val="tx1"/>
              </a:solidFill>
            </a:endParaRPr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641470"/>
              </p:ext>
            </p:extLst>
          </p:nvPr>
        </p:nvGraphicFramePr>
        <p:xfrm>
          <a:off x="8845150" y="1648986"/>
          <a:ext cx="2807642" cy="270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Hoja de cálculo" r:id="rId6" imgW="2933560" imgH="3104980" progId="Excel.Sheet.12">
                  <p:embed/>
                </p:oleObj>
              </mc:Choice>
              <mc:Fallback>
                <p:oleObj name="Hoja de cálculo" r:id="rId6" imgW="2933560" imgH="31049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45150" y="1648986"/>
                        <a:ext cx="2807642" cy="2709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17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015880" y="-9241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" y="471821"/>
            <a:ext cx="8767244" cy="1177165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834906" y="5949280"/>
            <a:ext cx="179606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tx1"/>
                </a:solidFill>
                <a:hlinkClick r:id="rId3" action="ppaction://program"/>
              </a:rPr>
              <a:t>Simular </a:t>
            </a:r>
            <a:r>
              <a:rPr lang="es-ES" dirty="0" err="1" smtClean="0">
                <a:solidFill>
                  <a:schemeClr val="tx1"/>
                </a:solidFill>
                <a:hlinkClick r:id="rId3" action="ppaction://program"/>
              </a:rPr>
              <a:t>Proteus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Llamada de flecha hacia arriba 3"/>
          <p:cNvSpPr/>
          <p:nvPr/>
        </p:nvSpPr>
        <p:spPr>
          <a:xfrm>
            <a:off x="1834780" y="1412776"/>
            <a:ext cx="4536504" cy="252028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Hacer con </a:t>
            </a:r>
            <a:r>
              <a:rPr lang="es-ES" dirty="0" err="1" smtClean="0"/>
              <a:t>Mux</a:t>
            </a:r>
            <a:r>
              <a:rPr lang="es-ES" dirty="0" smtClean="0"/>
              <a:t> de 16 a 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108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4" y="622772"/>
            <a:ext cx="10333928" cy="1668738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804458"/>
              </p:ext>
            </p:extLst>
          </p:nvPr>
        </p:nvGraphicFramePr>
        <p:xfrm>
          <a:off x="8616950" y="1457325"/>
          <a:ext cx="2430463" cy="510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Hoja de cálculo" r:id="rId4" imgW="2428928" imgH="5848381" progId="Excel.Sheet.12">
                  <p:embed/>
                </p:oleObj>
              </mc:Choice>
              <mc:Fallback>
                <p:oleObj name="Hoja de cálculo" r:id="rId4" imgW="2428928" imgH="58483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16950" y="1457325"/>
                        <a:ext cx="2430463" cy="510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313" y="2291509"/>
            <a:ext cx="6447654" cy="35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324" y="464866"/>
            <a:ext cx="9720049" cy="1167020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12842"/>
              </p:ext>
            </p:extLst>
          </p:nvPr>
        </p:nvGraphicFramePr>
        <p:xfrm>
          <a:off x="766763" y="1543050"/>
          <a:ext cx="3192462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Hoja de cálculo" r:id="rId4" imgW="3190971" imgH="5772260" progId="Excel.Sheet.12">
                  <p:embed/>
                </p:oleObj>
              </mc:Choice>
              <mc:Fallback>
                <p:oleObj name="Hoja de cálculo" r:id="rId4" imgW="3190971" imgH="57722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3" y="1543050"/>
                        <a:ext cx="3192462" cy="503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1199456" y="1844824"/>
            <a:ext cx="648072" cy="46438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004735"/>
              </p:ext>
            </p:extLst>
          </p:nvPr>
        </p:nvGraphicFramePr>
        <p:xfrm>
          <a:off x="3929317" y="1808019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Hoja de cálculo" r:id="rId6" imgW="1600209" imgH="1000104" progId="Excel.Sheet.12">
                  <p:embed/>
                </p:oleObj>
              </mc:Choice>
              <mc:Fallback>
                <p:oleObj name="Hoja de cálculo" r:id="rId6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9317" y="1808019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535660"/>
              </p:ext>
            </p:extLst>
          </p:nvPr>
        </p:nvGraphicFramePr>
        <p:xfrm>
          <a:off x="3929317" y="3109088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Hoja de cálculo" r:id="rId8" imgW="1600209" imgH="1000104" progId="Excel.Sheet.12">
                  <p:embed/>
                </p:oleObj>
              </mc:Choice>
              <mc:Fallback>
                <p:oleObj name="Hoja de cálculo" r:id="rId8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29317" y="3109088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402047"/>
              </p:ext>
            </p:extLst>
          </p:nvPr>
        </p:nvGraphicFramePr>
        <p:xfrm>
          <a:off x="3935250" y="4363085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Hoja de cálculo" r:id="rId10" imgW="1600209" imgH="1000104" progId="Excel.Sheet.12">
                  <p:embed/>
                </p:oleObj>
              </mc:Choice>
              <mc:Fallback>
                <p:oleObj name="Hoja de cálculo" r:id="rId10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35250" y="4363085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688402"/>
              </p:ext>
            </p:extLst>
          </p:nvPr>
        </p:nvGraphicFramePr>
        <p:xfrm>
          <a:off x="3935250" y="5513943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Hoja de cálculo" r:id="rId12" imgW="1600209" imgH="1000104" progId="Excel.Sheet.12">
                  <p:embed/>
                </p:oleObj>
              </mc:Choice>
              <mc:Fallback>
                <p:oleObj name="Hoja de cálculo" r:id="rId12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5250" y="5513943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3287688" y="3068960"/>
            <a:ext cx="3384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3287688" y="6577258"/>
            <a:ext cx="48245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3287688" y="5373216"/>
            <a:ext cx="3384376" cy="8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3359696" y="4221088"/>
            <a:ext cx="3312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26437" t="-31111" r="-12644" b="-4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redondeado 21"/>
          <p:cNvSpPr/>
          <p:nvPr/>
        </p:nvSpPr>
        <p:spPr>
          <a:xfrm>
            <a:off x="5087888" y="2295382"/>
            <a:ext cx="288032" cy="473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redondeado 23"/>
          <p:cNvSpPr/>
          <p:nvPr/>
        </p:nvSpPr>
        <p:spPr>
          <a:xfrm>
            <a:off x="4511824" y="3573016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redondeado 24"/>
          <p:cNvSpPr/>
          <p:nvPr/>
        </p:nvSpPr>
        <p:spPr>
          <a:xfrm>
            <a:off x="5123774" y="5102784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/>
              <p:cNvSpPr txBox="1"/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6" name="Cuadro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blipFill rotWithShape="0">
                <a:blip r:embed="rId15"/>
                <a:stretch>
                  <a:fillRect l="-19355" t="-28889" r="-54032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/>
              <p:cNvSpPr txBox="1"/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8400" t="-30435" r="-880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8750" t="-30435" r="-1625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n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5525" y="1660654"/>
            <a:ext cx="4798990" cy="3105229"/>
          </a:xfrm>
          <a:prstGeom prst="rect">
            <a:avLst/>
          </a:prstGeom>
        </p:spPr>
      </p:pic>
      <p:sp>
        <p:nvSpPr>
          <p:cNvPr id="29" name="Rectángulo 28">
            <a:hlinkClick r:id="rId19" action="ppaction://program"/>
          </p:cNvPr>
          <p:cNvSpPr/>
          <p:nvPr/>
        </p:nvSpPr>
        <p:spPr>
          <a:xfrm>
            <a:off x="6808435" y="4955169"/>
            <a:ext cx="2232248" cy="354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Simular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19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11204</TotalTime>
  <Words>308</Words>
  <Application>Microsoft Office PowerPoint</Application>
  <PresentationFormat>Panorámica</PresentationFormat>
  <Paragraphs>61</Paragraphs>
  <Slides>7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9" baseType="lpstr">
      <vt:lpstr>Arial</vt:lpstr>
      <vt:lpstr>Calibri</vt:lpstr>
      <vt:lpstr>Cambria Math</vt:lpstr>
      <vt:lpstr>Montserrat SemiBold</vt:lpstr>
      <vt:lpstr>Tahoma</vt:lpstr>
      <vt:lpstr>Times New Roman</vt:lpstr>
      <vt:lpstr>Trebuchet MS</vt:lpstr>
      <vt:lpstr>Wingdings</vt:lpstr>
      <vt:lpstr>Wingdings 3</vt:lpstr>
      <vt:lpstr>Faceta</vt:lpstr>
      <vt:lpstr>Hoja de cálculo</vt:lpstr>
      <vt:lpstr>Hoja de cálculo de Microsoft Excel</vt:lpstr>
      <vt:lpstr>TD1</vt:lpstr>
      <vt:lpstr>TD1</vt:lpstr>
      <vt:lpstr>TD1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EySC- Electrónica</dc:title>
  <dc:creator>Sergio</dc:creator>
  <cp:lastModifiedBy>tecno</cp:lastModifiedBy>
  <cp:revision>353</cp:revision>
  <dcterms:created xsi:type="dcterms:W3CDTF">2020-03-19T15:22:29Z</dcterms:created>
  <dcterms:modified xsi:type="dcterms:W3CDTF">2021-08-31T02:42:27Z</dcterms:modified>
</cp:coreProperties>
</file>
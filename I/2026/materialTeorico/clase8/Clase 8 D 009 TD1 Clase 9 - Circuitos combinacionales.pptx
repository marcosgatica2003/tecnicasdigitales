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23"/>
  </p:notesMasterIdLst>
  <p:sldIdLst>
    <p:sldId id="259" r:id="rId2"/>
    <p:sldId id="260" r:id="rId3"/>
    <p:sldId id="284" r:id="rId4"/>
    <p:sldId id="317" r:id="rId5"/>
    <p:sldId id="321" r:id="rId6"/>
    <p:sldId id="323" r:id="rId7"/>
    <p:sldId id="324" r:id="rId8"/>
    <p:sldId id="325" r:id="rId9"/>
    <p:sldId id="329" r:id="rId10"/>
    <p:sldId id="328" r:id="rId11"/>
    <p:sldId id="327" r:id="rId12"/>
    <p:sldId id="330" r:id="rId13"/>
    <p:sldId id="326" r:id="rId14"/>
    <p:sldId id="331" r:id="rId15"/>
    <p:sldId id="332" r:id="rId16"/>
    <p:sldId id="318" r:id="rId17"/>
    <p:sldId id="322" r:id="rId18"/>
    <p:sldId id="333" r:id="rId19"/>
    <p:sldId id="334" r:id="rId20"/>
    <p:sldId id="319" r:id="rId21"/>
    <p:sldId id="32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63" autoAdjust="0"/>
  </p:normalViewPr>
  <p:slideViewPr>
    <p:cSldViewPr>
      <p:cViewPr>
        <p:scale>
          <a:sx n="75" d="100"/>
          <a:sy n="75" d="100"/>
        </p:scale>
        <p:origin x="456" y="-1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1D9D7-1BCE-40E1-9338-F15CD5B5D82C}" type="datetimeFigureOut">
              <a:rPr lang="es-ES" smtClean="0"/>
              <a:t>03/08/2020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6CA60-FFD4-48FF-A235-436DE00AFB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6546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6CA60-FFD4-48FF-A235-436DE00AFB4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327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834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69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83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19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224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30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63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86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58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890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7890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33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5654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066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325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797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7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Hoja_de_c_lculo_de_Microsoft_Excel2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emf"/><Relationship Id="rId10" Type="http://schemas.openxmlformats.org/officeDocument/2006/relationships/image" Target="../media/image5.png"/><Relationship Id="rId4" Type="http://schemas.openxmlformats.org/officeDocument/2006/relationships/package" Target="../embeddings/Hoja_de_c_lculo_de_Microsoft_Excel1.xlsx"/><Relationship Id="rId9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4" Type="http://schemas.openxmlformats.org/officeDocument/2006/relationships/hyperlink" Target="file:///D:\Dropbox\00%20Sergio\UTN\Academico\TD1\Simulaciones\Proteus\Mux%208%20a%201%20P32%20b.pdsprj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file:///D:\Dropbox\00%20Sergio\UTN\Academico\TD1\Simulaciones\Proteus\Mux%208%20a%201%20P32%20b.pdsprj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3" name="Rectángulo 2"/>
          <p:cNvSpPr/>
          <p:nvPr/>
        </p:nvSpPr>
        <p:spPr>
          <a:xfrm>
            <a:off x="3668261" y="4937352"/>
            <a:ext cx="3344741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s-ES" sz="4000" b="1" cap="none" spc="0" dirty="0" smtClean="0">
                <a:ln/>
                <a:solidFill>
                  <a:schemeClr val="tx2">
                    <a:lumMod val="75000"/>
                  </a:schemeClr>
                </a:solidFill>
                <a:effectLst/>
              </a:rPr>
              <a:t>Bienvenidos</a:t>
            </a:r>
          </a:p>
          <a:p>
            <a:pPr algn="ctr"/>
            <a:r>
              <a:rPr lang="es-ES" sz="4000" b="1" cap="none" spc="0" dirty="0" smtClean="0">
                <a:ln/>
                <a:solidFill>
                  <a:schemeClr val="tx2">
                    <a:lumMod val="75000"/>
                  </a:schemeClr>
                </a:solidFill>
                <a:effectLst/>
              </a:rPr>
              <a:t>Año 2020</a:t>
            </a:r>
            <a:endParaRPr lang="es-ES" sz="5400" b="1" cap="none" spc="0" dirty="0">
              <a:ln/>
              <a:solidFill>
                <a:schemeClr val="tx2">
                  <a:lumMod val="75000"/>
                </a:schemeClr>
              </a:solidFill>
              <a:effectLst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4679647" y="2854482"/>
            <a:ext cx="113043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5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TD1</a:t>
            </a:r>
            <a:endParaRPr lang="es-ES" sz="40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chemeClr val="accent5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 rot="925651">
            <a:off x="7024018" y="3326189"/>
            <a:ext cx="5750825" cy="86177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500" b="0" cap="none" spc="0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Esperando que se conecten</a:t>
            </a:r>
          </a:p>
          <a:p>
            <a:pPr algn="ctr"/>
            <a:r>
              <a:rPr lang="es-ES" sz="2500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Al ZOOM</a:t>
            </a:r>
            <a:endParaRPr lang="es-ES" sz="2500" b="0" cap="none" spc="0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7" name="Imagen 16"/>
          <p:cNvPicPr/>
          <p:nvPr/>
        </p:nvPicPr>
        <p:blipFill>
          <a:blip r:embed="rId3"/>
          <a:stretch>
            <a:fillRect/>
          </a:stretch>
        </p:blipFill>
        <p:spPr>
          <a:xfrm>
            <a:off x="4723577" y="164939"/>
            <a:ext cx="4111329" cy="1571536"/>
          </a:xfrm>
          <a:prstGeom prst="rect">
            <a:avLst/>
          </a:prstGeom>
        </p:spPr>
      </p:pic>
      <p:sp>
        <p:nvSpPr>
          <p:cNvPr id="6" name="Pergamino horizontal 5"/>
          <p:cNvSpPr/>
          <p:nvPr/>
        </p:nvSpPr>
        <p:spPr>
          <a:xfrm>
            <a:off x="259661" y="478218"/>
            <a:ext cx="3456384" cy="2376264"/>
          </a:xfrm>
          <a:prstGeom prst="horizontalScroll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3500" dirty="0" smtClean="0">
                <a:solidFill>
                  <a:srgbClr val="FF0000"/>
                </a:solidFill>
              </a:rPr>
              <a:t>Cuarentena</a:t>
            </a:r>
          </a:p>
          <a:p>
            <a:pPr algn="ctr"/>
            <a:r>
              <a:rPr lang="es-ES" sz="3500" dirty="0" smtClean="0">
                <a:solidFill>
                  <a:srgbClr val="FF0000"/>
                </a:solidFill>
              </a:rPr>
              <a:t>Día</a:t>
            </a:r>
          </a:p>
          <a:p>
            <a:pPr algn="ctr"/>
            <a:r>
              <a:rPr lang="es-ES" sz="3500" dirty="0" smtClean="0">
                <a:solidFill>
                  <a:srgbClr val="FF0000"/>
                </a:solidFill>
              </a:rPr>
              <a:t>81</a:t>
            </a:r>
            <a:endParaRPr lang="es-ES" sz="3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79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-378048" y="2308615"/>
            <a:ext cx="6198406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s-ES" sz="3000" b="1" cap="none" spc="0" dirty="0" smtClean="0">
                <a:ln/>
                <a:solidFill>
                  <a:schemeClr val="accent3"/>
                </a:solidFill>
                <a:effectLst/>
              </a:rPr>
              <a:t>Para entrar al ZOOM.2020</a:t>
            </a:r>
          </a:p>
          <a:p>
            <a:pPr algn="ctr"/>
            <a:endParaRPr lang="es-ES" sz="30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3498516" y="977193"/>
            <a:ext cx="6018524" cy="10714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spc="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Nuevas directivas</a:t>
            </a:r>
            <a:endParaRPr lang="es-ES" sz="4000" spc="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1231319" y="5347475"/>
            <a:ext cx="7689186" cy="86177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5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No cumplir, deberé eliminarlo y no podrán volver a entrar a la sección.</a:t>
            </a:r>
            <a:endParaRPr lang="es-ES" sz="25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3" name="Llamada rectangular 12"/>
          <p:cNvSpPr/>
          <p:nvPr/>
        </p:nvSpPr>
        <p:spPr>
          <a:xfrm>
            <a:off x="9732245" y="3611871"/>
            <a:ext cx="2032000" cy="1701692"/>
          </a:xfrm>
          <a:prstGeom prst="wedgeRectCallout">
            <a:avLst>
              <a:gd name="adj1" fmla="val -66304"/>
              <a:gd name="adj2" fmla="val 1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Espero no ofender a nadie, pero es por seguridad de todos</a:t>
            </a:r>
            <a:endParaRPr lang="es-ES" dirty="0"/>
          </a:p>
        </p:txBody>
      </p:sp>
      <p:sp>
        <p:nvSpPr>
          <p:cNvPr id="14" name="Rectángulo 13"/>
          <p:cNvSpPr/>
          <p:nvPr/>
        </p:nvSpPr>
        <p:spPr>
          <a:xfrm>
            <a:off x="756662" y="3033597"/>
            <a:ext cx="897558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3200" b="1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Deben </a:t>
            </a:r>
            <a:r>
              <a:rPr lang="es-ES" sz="3200" b="1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ser usuario registrado de ZOOM</a:t>
            </a:r>
            <a:endParaRPr lang="es-ES" sz="3200" i="1" dirty="0" smtClean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r>
              <a:rPr lang="es-ES" sz="3200" i="1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endParaRPr lang="es-ES" sz="3200" i="1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r>
              <a:rPr lang="es-ES" sz="3200" b="1" cap="none" spc="0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Deben figurar: </a:t>
            </a:r>
            <a:r>
              <a:rPr lang="es-ES" sz="3200" i="1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Curso </a:t>
            </a:r>
            <a:r>
              <a:rPr lang="es-ES" sz="3200" i="1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Legajo Apellido </a:t>
            </a:r>
            <a:r>
              <a:rPr lang="es-ES" sz="3200" b="0" i="1" cap="none" spc="0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y nombre </a:t>
            </a:r>
            <a:endParaRPr lang="es-ES" sz="3200" b="0" i="1" cap="none" spc="0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Rectángulo 14"/>
          <p:cNvSpPr>
            <a:spLocks noChangeArrowheads="1"/>
          </p:cNvSpPr>
          <p:nvPr/>
        </p:nvSpPr>
        <p:spPr bwMode="auto">
          <a:xfrm>
            <a:off x="1857140" y="321457"/>
            <a:ext cx="916940" cy="919480"/>
          </a:xfrm>
          <a:prstGeom prst="rect">
            <a:avLst/>
          </a:prstGeom>
          <a:noFill/>
          <a:ln w="76200">
            <a:solidFill>
              <a:srgbClr val="0071C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endParaRPr lang="es-ES"/>
          </a:p>
        </p:txBody>
      </p:sp>
      <p:sp>
        <p:nvSpPr>
          <p:cNvPr id="16" name="Rectángulo 15"/>
          <p:cNvSpPr/>
          <p:nvPr/>
        </p:nvSpPr>
        <p:spPr>
          <a:xfrm>
            <a:off x="2306470" y="493642"/>
            <a:ext cx="829371" cy="6621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TUP</a:t>
            </a:r>
            <a:endParaRPr lang="es-ES" sz="2400" dirty="0"/>
          </a:p>
        </p:txBody>
      </p:sp>
      <p:sp>
        <p:nvSpPr>
          <p:cNvPr id="17" name="Rectángulo 16"/>
          <p:cNvSpPr/>
          <p:nvPr/>
        </p:nvSpPr>
        <p:spPr>
          <a:xfrm>
            <a:off x="-92310" y="286411"/>
            <a:ext cx="18894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eaLnBrk="0" fontAlgn="base" hangingPunct="0">
              <a:spcAft>
                <a:spcPts val="0"/>
              </a:spcAft>
            </a:pPr>
            <a:r>
              <a:rPr lang="es-ES" sz="1200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TECNICATURA</a:t>
            </a:r>
            <a:endParaRPr lang="es-ES" sz="1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 eaLnBrk="0" fontAlgn="base" hangingPunct="0">
              <a:spcAft>
                <a:spcPts val="0"/>
              </a:spcAft>
            </a:pPr>
            <a:r>
              <a:rPr lang="es-ES" sz="1200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UNIVERSITARIA</a:t>
            </a:r>
            <a:endParaRPr lang="es-ES" sz="1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 eaLnBrk="0" fontAlgn="base" hangingPunct="0">
              <a:spcAft>
                <a:spcPts val="0"/>
              </a:spcAft>
            </a:pPr>
            <a:r>
              <a:rPr lang="es-ES" sz="1200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EN PROGRAMACIÓN</a:t>
            </a:r>
            <a:endParaRPr lang="es-ES" sz="1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 eaLnBrk="0" fontAlgn="base" hangingPunct="0">
              <a:spcAft>
                <a:spcPts val="0"/>
              </a:spcAft>
            </a:pPr>
            <a:r>
              <a:rPr lang="es-ES" sz="1200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UTN-FRC</a:t>
            </a:r>
            <a:endParaRPr lang="es-ES" sz="1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8885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0" tmFilter="0, 0; .2, .5; .8, .5; 1, 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0" autoRev="1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repeatCount="1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0" tmFilter="0, 0; .2, .5; .8, .5; 1, 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0" autoRev="1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repeatCount="1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0" tmFilter="0, 0; .2, .5; .8, .5; 1, 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0" autoRev="1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build="p" rev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7" name="Marcador de texto 2"/>
          <p:cNvSpPr txBox="1">
            <a:spLocks/>
          </p:cNvSpPr>
          <p:nvPr/>
        </p:nvSpPr>
        <p:spPr>
          <a:xfrm>
            <a:off x="519077" y="1120617"/>
            <a:ext cx="10071586" cy="3777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endParaRPr lang="es-ES" sz="2000" dirty="0" smtClean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bo 1"/>
          <p:cNvSpPr/>
          <p:nvPr/>
        </p:nvSpPr>
        <p:spPr>
          <a:xfrm>
            <a:off x="241131" y="95534"/>
            <a:ext cx="10108817" cy="1025083"/>
          </a:xfrm>
          <a:prstGeom prst="cube">
            <a:avLst>
              <a:gd name="adj" fmla="val 263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dirty="0"/>
              <a:t>Unidad Temática Nº 5:. Circuitos </a:t>
            </a:r>
            <a:r>
              <a:rPr lang="es-ES" sz="2600" dirty="0" err="1"/>
              <a:t>combinacionales</a:t>
            </a:r>
            <a:r>
              <a:rPr lang="es-ES" sz="2600" dirty="0"/>
              <a:t>. (Cap. 4)</a:t>
            </a:r>
          </a:p>
          <a:p>
            <a:pPr algn="ctr"/>
            <a:endParaRPr lang="es-ES" sz="2600" dirty="0"/>
          </a:p>
        </p:txBody>
      </p:sp>
      <p:sp>
        <p:nvSpPr>
          <p:cNvPr id="3" name="Flecha doblada 2"/>
          <p:cNvSpPr/>
          <p:nvPr/>
        </p:nvSpPr>
        <p:spPr>
          <a:xfrm rot="14305691" flipH="1">
            <a:off x="388433" y="784040"/>
            <a:ext cx="450051" cy="534465"/>
          </a:xfrm>
          <a:prstGeom prst="bentArrow">
            <a:avLst>
              <a:gd name="adj1" fmla="val 25000"/>
              <a:gd name="adj2" fmla="val 14914"/>
              <a:gd name="adj3" fmla="val 25000"/>
              <a:gd name="adj4" fmla="val 541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765016" y="1382905"/>
            <a:ext cx="10755969" cy="45243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Circuitos </a:t>
            </a:r>
            <a:r>
              <a:rPr lang="es-ES" sz="2400" dirty="0" err="1"/>
              <a:t>combinacionales</a:t>
            </a:r>
            <a:r>
              <a:rPr lang="es-ES" sz="2400" dirty="0"/>
              <a:t> básicos</a:t>
            </a:r>
            <a:r>
              <a:rPr lang="es-ES" sz="2400" dirty="0" smtClean="0"/>
              <a:t>: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Multiplexores</a:t>
            </a:r>
            <a:r>
              <a:rPr lang="es-ES" sz="2400" dirty="0"/>
              <a:t>, </a:t>
            </a:r>
            <a:r>
              <a:rPr lang="es-ES" sz="2400" dirty="0" err="1"/>
              <a:t>Demultiplexores</a:t>
            </a:r>
            <a:r>
              <a:rPr lang="es-ES" sz="2400" dirty="0"/>
              <a:t>, </a:t>
            </a:r>
            <a:r>
              <a:rPr lang="es-ES" sz="2400" dirty="0" err="1" smtClean="0"/>
              <a:t>Decodificadores,Codificadores</a:t>
            </a:r>
            <a:r>
              <a:rPr lang="es-ES" sz="2400" dirty="0" smtClean="0"/>
              <a:t> </a:t>
            </a:r>
            <a:r>
              <a:rPr lang="es-ES" sz="2400" dirty="0"/>
              <a:t>con y sin prioridad, Circuito conversor de binario a Gray y de Gray </a:t>
            </a:r>
            <a:r>
              <a:rPr lang="es-ES" sz="2400" dirty="0" smtClean="0"/>
              <a:t>a binario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circuitos </a:t>
            </a:r>
            <a:r>
              <a:rPr lang="es-ES" sz="2400" dirty="0"/>
              <a:t>detectores y correctores de error: paridad, </a:t>
            </a:r>
            <a:r>
              <a:rPr lang="es-ES" sz="2400" dirty="0" err="1"/>
              <a:t>checksum</a:t>
            </a:r>
            <a:r>
              <a:rPr lang="es-ES" sz="2400" dirty="0"/>
              <a:t>, CRC, </a:t>
            </a:r>
            <a:r>
              <a:rPr lang="es-ES" sz="2400" dirty="0" smtClean="0"/>
              <a:t>y </a:t>
            </a:r>
            <a:r>
              <a:rPr lang="es-ES" sz="2400" dirty="0" err="1" smtClean="0"/>
              <a:t>Hamming</a:t>
            </a:r>
            <a:r>
              <a:rPr lang="es-ES" sz="2400" dirty="0" smtClean="0"/>
              <a:t>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Decodificador </a:t>
            </a:r>
            <a:r>
              <a:rPr lang="es-ES" sz="2400" dirty="0"/>
              <a:t>BCD a 7 </a:t>
            </a:r>
            <a:r>
              <a:rPr lang="es-ES" sz="2400" dirty="0" err="1" smtClean="0"/>
              <a:t>segmentos.Desplazadores</a:t>
            </a:r>
            <a:r>
              <a:rPr lang="es-ES" sz="2400" dirty="0"/>
              <a:t>. </a:t>
            </a:r>
            <a:endParaRPr lang="es-ES" sz="2400" dirty="0" smtClean="0"/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Uso </a:t>
            </a:r>
            <a:r>
              <a:rPr lang="es-ES" sz="2400" dirty="0"/>
              <a:t>del decodificador </a:t>
            </a:r>
            <a:r>
              <a:rPr lang="es-ES" sz="2400" dirty="0" smtClean="0"/>
              <a:t>y del </a:t>
            </a:r>
            <a:r>
              <a:rPr lang="es-ES" sz="2400" dirty="0"/>
              <a:t>multiplexor como generador de funciones.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/>
              <a:t>Verificación de los recursos utilizados en la FPGA por cada uno de los </a:t>
            </a:r>
            <a:r>
              <a:rPr lang="es-ES" sz="2400" dirty="0" smtClean="0"/>
              <a:t>circuitos anteriores.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El </a:t>
            </a:r>
            <a:r>
              <a:rPr lang="es-ES" sz="2400" dirty="0"/>
              <a:t>operador ternario en </a:t>
            </a:r>
            <a:r>
              <a:rPr lang="es-ES" sz="2400" dirty="0" err="1" smtClean="0"/>
              <a:t>Verilog</a:t>
            </a:r>
            <a:r>
              <a:rPr lang="es-ES" sz="2400" dirty="0" smtClean="0"/>
              <a:t> </a:t>
            </a:r>
            <a:r>
              <a:rPr lang="es-ES" sz="2400" dirty="0"/>
              <a:t>para implementación </a:t>
            </a:r>
            <a:r>
              <a:rPr lang="es-ES" sz="2400" dirty="0" smtClean="0"/>
              <a:t>de multiplexores.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Modelado estructural.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Diferencia </a:t>
            </a:r>
            <a:r>
              <a:rPr lang="es-ES" sz="2400" dirty="0"/>
              <a:t>entre una variable y una señal. </a:t>
            </a:r>
          </a:p>
        </p:txBody>
      </p:sp>
    </p:spTree>
    <p:extLst>
      <p:ext uri="{BB962C8B-B14F-4D97-AF65-F5344CB8AC3E}">
        <p14:creationId xmlns:p14="http://schemas.microsoft.com/office/powerpoint/2010/main" val="6506245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105097" y="3283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31" y="717248"/>
            <a:ext cx="10245544" cy="384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1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105097" y="3283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302" y="1012897"/>
            <a:ext cx="8262534" cy="449085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57" y="2320916"/>
            <a:ext cx="1870051" cy="150249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405" y="2114898"/>
            <a:ext cx="171450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849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105097" y="3283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2519383"/>
            <a:ext cx="1714500" cy="1914525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5337839" y="2689554"/>
            <a:ext cx="719669" cy="108012"/>
            <a:chOff x="1050298" y="3374994"/>
            <a:chExt cx="719669" cy="108012"/>
          </a:xfrm>
        </p:grpSpPr>
        <p:sp>
          <p:nvSpPr>
            <p:cNvPr id="14" name="Pentágono 1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Pentágono 15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8" name="Grupo 17"/>
          <p:cNvGrpSpPr/>
          <p:nvPr/>
        </p:nvGrpSpPr>
        <p:grpSpPr>
          <a:xfrm rot="5400000">
            <a:off x="5734962" y="3090819"/>
            <a:ext cx="719669" cy="108012"/>
            <a:chOff x="1050298" y="3374994"/>
            <a:chExt cx="719669" cy="108012"/>
          </a:xfrm>
        </p:grpSpPr>
        <p:sp>
          <p:nvSpPr>
            <p:cNvPr id="19" name="Pentágono 18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Pentágono 19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5330519" y="3476646"/>
            <a:ext cx="719669" cy="108012"/>
            <a:chOff x="1050298" y="3374994"/>
            <a:chExt cx="719669" cy="108012"/>
          </a:xfrm>
        </p:grpSpPr>
        <p:sp>
          <p:nvSpPr>
            <p:cNvPr id="21" name="Pentágono 20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Pentágono 21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3" name="Grupo 22"/>
          <p:cNvGrpSpPr/>
          <p:nvPr/>
        </p:nvGrpSpPr>
        <p:grpSpPr>
          <a:xfrm rot="5400000">
            <a:off x="5734963" y="3879256"/>
            <a:ext cx="719669" cy="108012"/>
            <a:chOff x="1050298" y="3374994"/>
            <a:chExt cx="719669" cy="108012"/>
          </a:xfrm>
        </p:grpSpPr>
        <p:sp>
          <p:nvSpPr>
            <p:cNvPr id="24" name="Pentágono 2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Pentágono 24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5335864" y="4260481"/>
            <a:ext cx="719669" cy="108012"/>
            <a:chOff x="1050298" y="3374994"/>
            <a:chExt cx="719669" cy="108012"/>
          </a:xfrm>
        </p:grpSpPr>
        <p:sp>
          <p:nvSpPr>
            <p:cNvPr id="27" name="Pentágono 26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Pentágono 27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9" name="Grupo 28"/>
          <p:cNvGrpSpPr/>
          <p:nvPr/>
        </p:nvGrpSpPr>
        <p:grpSpPr>
          <a:xfrm rot="5400000">
            <a:off x="4926076" y="3086757"/>
            <a:ext cx="719669" cy="108012"/>
            <a:chOff x="1050298" y="3374994"/>
            <a:chExt cx="719669" cy="108012"/>
          </a:xfrm>
        </p:grpSpPr>
        <p:sp>
          <p:nvSpPr>
            <p:cNvPr id="30" name="Pentágono 29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Pentágono 30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2" name="Grupo 31"/>
          <p:cNvGrpSpPr/>
          <p:nvPr/>
        </p:nvGrpSpPr>
        <p:grpSpPr>
          <a:xfrm rot="5400000">
            <a:off x="4926077" y="3875194"/>
            <a:ext cx="719669" cy="108012"/>
            <a:chOff x="1050298" y="3374994"/>
            <a:chExt cx="719669" cy="108012"/>
          </a:xfrm>
        </p:grpSpPr>
        <p:sp>
          <p:nvSpPr>
            <p:cNvPr id="33" name="Pentágono 32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Pentágono 33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97333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250"/>
                            </p:stCondLst>
                            <p:childTnLst>
                              <p:par>
                                <p:cTn id="7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750"/>
                            </p:stCondLst>
                            <p:childTnLst>
                              <p:par>
                                <p:cTn id="90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9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1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3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5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7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105097" y="3283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2519383"/>
            <a:ext cx="1714500" cy="1914525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5337839" y="2689554"/>
            <a:ext cx="719669" cy="108012"/>
            <a:chOff x="1050298" y="3374994"/>
            <a:chExt cx="719669" cy="108012"/>
          </a:xfrm>
        </p:grpSpPr>
        <p:sp>
          <p:nvSpPr>
            <p:cNvPr id="14" name="Pentágono 1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Pentágono 15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8" name="Grupo 17"/>
          <p:cNvGrpSpPr/>
          <p:nvPr/>
        </p:nvGrpSpPr>
        <p:grpSpPr>
          <a:xfrm rot="5400000">
            <a:off x="5734962" y="3090819"/>
            <a:ext cx="719669" cy="108012"/>
            <a:chOff x="1050298" y="3374994"/>
            <a:chExt cx="719669" cy="108012"/>
          </a:xfrm>
        </p:grpSpPr>
        <p:sp>
          <p:nvSpPr>
            <p:cNvPr id="19" name="Pentágono 18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Pentágono 19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5330519" y="3476646"/>
            <a:ext cx="719669" cy="108012"/>
            <a:chOff x="1050298" y="3374994"/>
            <a:chExt cx="719669" cy="108012"/>
          </a:xfrm>
        </p:grpSpPr>
        <p:sp>
          <p:nvSpPr>
            <p:cNvPr id="21" name="Pentágono 20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Pentágono 21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3" name="Grupo 22"/>
          <p:cNvGrpSpPr/>
          <p:nvPr/>
        </p:nvGrpSpPr>
        <p:grpSpPr>
          <a:xfrm rot="5400000">
            <a:off x="5734963" y="3879256"/>
            <a:ext cx="719669" cy="108012"/>
            <a:chOff x="1050298" y="3374994"/>
            <a:chExt cx="719669" cy="108012"/>
          </a:xfrm>
        </p:grpSpPr>
        <p:sp>
          <p:nvSpPr>
            <p:cNvPr id="24" name="Pentágono 2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Pentágono 24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5335864" y="4260481"/>
            <a:ext cx="719669" cy="108012"/>
            <a:chOff x="1050298" y="3374994"/>
            <a:chExt cx="719669" cy="108012"/>
          </a:xfrm>
        </p:grpSpPr>
        <p:sp>
          <p:nvSpPr>
            <p:cNvPr id="27" name="Pentágono 26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Pentágono 27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9" name="Grupo 28"/>
          <p:cNvGrpSpPr/>
          <p:nvPr/>
        </p:nvGrpSpPr>
        <p:grpSpPr>
          <a:xfrm rot="5400000">
            <a:off x="4926076" y="3086757"/>
            <a:ext cx="719669" cy="108012"/>
            <a:chOff x="1050298" y="3374994"/>
            <a:chExt cx="719669" cy="108012"/>
          </a:xfrm>
        </p:grpSpPr>
        <p:sp>
          <p:nvSpPr>
            <p:cNvPr id="30" name="Pentágono 29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Pentágono 30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2" name="Grupo 31"/>
          <p:cNvGrpSpPr/>
          <p:nvPr/>
        </p:nvGrpSpPr>
        <p:grpSpPr>
          <a:xfrm rot="5400000">
            <a:off x="4926077" y="3875194"/>
            <a:ext cx="719669" cy="108012"/>
            <a:chOff x="1050298" y="3374994"/>
            <a:chExt cx="719669" cy="108012"/>
          </a:xfrm>
        </p:grpSpPr>
        <p:sp>
          <p:nvSpPr>
            <p:cNvPr id="33" name="Pentágono 32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Pentágono 33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593086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xit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xit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2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xit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105097" y="3283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2519383"/>
            <a:ext cx="1714500" cy="1914525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5337839" y="2689554"/>
            <a:ext cx="719669" cy="108012"/>
            <a:chOff x="1050298" y="3374994"/>
            <a:chExt cx="719669" cy="108012"/>
          </a:xfrm>
        </p:grpSpPr>
        <p:sp>
          <p:nvSpPr>
            <p:cNvPr id="14" name="Pentágono 1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Pentágono 15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8" name="Grupo 17"/>
          <p:cNvGrpSpPr/>
          <p:nvPr/>
        </p:nvGrpSpPr>
        <p:grpSpPr>
          <a:xfrm rot="5400000">
            <a:off x="5734962" y="3090819"/>
            <a:ext cx="719669" cy="108012"/>
            <a:chOff x="1050298" y="3374994"/>
            <a:chExt cx="719669" cy="108012"/>
          </a:xfrm>
        </p:grpSpPr>
        <p:sp>
          <p:nvSpPr>
            <p:cNvPr id="19" name="Pentágono 18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Pentágono 19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5330519" y="3476646"/>
            <a:ext cx="719669" cy="108012"/>
            <a:chOff x="1050298" y="3374994"/>
            <a:chExt cx="719669" cy="108012"/>
          </a:xfrm>
        </p:grpSpPr>
        <p:sp>
          <p:nvSpPr>
            <p:cNvPr id="21" name="Pentágono 20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Pentágono 21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3" name="Grupo 22"/>
          <p:cNvGrpSpPr/>
          <p:nvPr/>
        </p:nvGrpSpPr>
        <p:grpSpPr>
          <a:xfrm rot="5400000">
            <a:off x="5734963" y="3879256"/>
            <a:ext cx="719669" cy="108012"/>
            <a:chOff x="1050298" y="3374994"/>
            <a:chExt cx="719669" cy="108012"/>
          </a:xfrm>
        </p:grpSpPr>
        <p:sp>
          <p:nvSpPr>
            <p:cNvPr id="24" name="Pentágono 2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Pentágono 24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5335864" y="4260481"/>
            <a:ext cx="719669" cy="108012"/>
            <a:chOff x="1050298" y="3374994"/>
            <a:chExt cx="719669" cy="108012"/>
          </a:xfrm>
        </p:grpSpPr>
        <p:sp>
          <p:nvSpPr>
            <p:cNvPr id="27" name="Pentágono 26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Pentágono 27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9" name="Grupo 28"/>
          <p:cNvGrpSpPr/>
          <p:nvPr/>
        </p:nvGrpSpPr>
        <p:grpSpPr>
          <a:xfrm rot="5400000">
            <a:off x="4926076" y="3086757"/>
            <a:ext cx="719669" cy="108012"/>
            <a:chOff x="1050298" y="3374994"/>
            <a:chExt cx="719669" cy="108012"/>
          </a:xfrm>
        </p:grpSpPr>
        <p:sp>
          <p:nvSpPr>
            <p:cNvPr id="30" name="Pentágono 29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Pentágono 30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2" name="Grupo 31"/>
          <p:cNvGrpSpPr/>
          <p:nvPr/>
        </p:nvGrpSpPr>
        <p:grpSpPr>
          <a:xfrm rot="5400000">
            <a:off x="4926077" y="3875194"/>
            <a:ext cx="719669" cy="108012"/>
            <a:chOff x="1050298" y="3374994"/>
            <a:chExt cx="719669" cy="108012"/>
          </a:xfrm>
        </p:grpSpPr>
        <p:sp>
          <p:nvSpPr>
            <p:cNvPr id="33" name="Pentágono 32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Pentágono 33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76338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105097" y="3283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2519383"/>
            <a:ext cx="1714500" cy="1914525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5337839" y="2689554"/>
            <a:ext cx="719669" cy="108012"/>
            <a:chOff x="1050298" y="3374994"/>
            <a:chExt cx="719669" cy="108012"/>
          </a:xfrm>
        </p:grpSpPr>
        <p:sp>
          <p:nvSpPr>
            <p:cNvPr id="14" name="Pentágono 1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Pentágono 15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8" name="Grupo 17"/>
          <p:cNvGrpSpPr/>
          <p:nvPr/>
        </p:nvGrpSpPr>
        <p:grpSpPr>
          <a:xfrm rot="5400000">
            <a:off x="5734962" y="3090819"/>
            <a:ext cx="719669" cy="108012"/>
            <a:chOff x="1050298" y="3374994"/>
            <a:chExt cx="719669" cy="108012"/>
          </a:xfrm>
        </p:grpSpPr>
        <p:sp>
          <p:nvSpPr>
            <p:cNvPr id="19" name="Pentágono 18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Pentágono 19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5330519" y="3476646"/>
            <a:ext cx="719669" cy="108012"/>
            <a:chOff x="1050298" y="3374994"/>
            <a:chExt cx="719669" cy="108012"/>
          </a:xfrm>
        </p:grpSpPr>
        <p:sp>
          <p:nvSpPr>
            <p:cNvPr id="21" name="Pentágono 20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Pentágono 21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3" name="Grupo 22"/>
          <p:cNvGrpSpPr/>
          <p:nvPr/>
        </p:nvGrpSpPr>
        <p:grpSpPr>
          <a:xfrm rot="5400000">
            <a:off x="5734963" y="3879256"/>
            <a:ext cx="719669" cy="108012"/>
            <a:chOff x="1050298" y="3374994"/>
            <a:chExt cx="719669" cy="108012"/>
          </a:xfrm>
        </p:grpSpPr>
        <p:sp>
          <p:nvSpPr>
            <p:cNvPr id="24" name="Pentágono 2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Pentágono 24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5335864" y="4260481"/>
            <a:ext cx="719669" cy="108012"/>
            <a:chOff x="1050298" y="3374994"/>
            <a:chExt cx="719669" cy="108012"/>
          </a:xfrm>
        </p:grpSpPr>
        <p:sp>
          <p:nvSpPr>
            <p:cNvPr id="27" name="Pentágono 26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Pentágono 27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9" name="Grupo 28"/>
          <p:cNvGrpSpPr/>
          <p:nvPr/>
        </p:nvGrpSpPr>
        <p:grpSpPr>
          <a:xfrm rot="5400000">
            <a:off x="4926076" y="3086757"/>
            <a:ext cx="719669" cy="108012"/>
            <a:chOff x="1050298" y="3374994"/>
            <a:chExt cx="719669" cy="108012"/>
          </a:xfrm>
        </p:grpSpPr>
        <p:sp>
          <p:nvSpPr>
            <p:cNvPr id="30" name="Pentágono 29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Pentágono 30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2" name="Grupo 31"/>
          <p:cNvGrpSpPr/>
          <p:nvPr/>
        </p:nvGrpSpPr>
        <p:grpSpPr>
          <a:xfrm rot="5400000">
            <a:off x="4926077" y="3875194"/>
            <a:ext cx="719669" cy="108012"/>
            <a:chOff x="1050298" y="3374994"/>
            <a:chExt cx="719669" cy="108012"/>
          </a:xfrm>
        </p:grpSpPr>
        <p:sp>
          <p:nvSpPr>
            <p:cNvPr id="33" name="Pentágono 32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Pentágono 33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37136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105097" y="3283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2519383"/>
            <a:ext cx="1714500" cy="1914525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5337839" y="2689554"/>
            <a:ext cx="719669" cy="108012"/>
            <a:chOff x="1050298" y="3374994"/>
            <a:chExt cx="719669" cy="108012"/>
          </a:xfrm>
        </p:grpSpPr>
        <p:sp>
          <p:nvSpPr>
            <p:cNvPr id="14" name="Pentágono 1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Pentágono 15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8" name="Grupo 17"/>
          <p:cNvGrpSpPr/>
          <p:nvPr/>
        </p:nvGrpSpPr>
        <p:grpSpPr>
          <a:xfrm rot="5400000">
            <a:off x="5734962" y="3090819"/>
            <a:ext cx="719669" cy="108012"/>
            <a:chOff x="1050298" y="3374994"/>
            <a:chExt cx="719669" cy="108012"/>
          </a:xfrm>
        </p:grpSpPr>
        <p:sp>
          <p:nvSpPr>
            <p:cNvPr id="19" name="Pentágono 18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Pentágono 19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5330519" y="3476646"/>
            <a:ext cx="719669" cy="108012"/>
            <a:chOff x="1050298" y="3374994"/>
            <a:chExt cx="719669" cy="108012"/>
          </a:xfrm>
        </p:grpSpPr>
        <p:sp>
          <p:nvSpPr>
            <p:cNvPr id="21" name="Pentágono 20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Pentágono 21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3" name="Grupo 22"/>
          <p:cNvGrpSpPr/>
          <p:nvPr/>
        </p:nvGrpSpPr>
        <p:grpSpPr>
          <a:xfrm rot="5400000">
            <a:off x="5734963" y="3879256"/>
            <a:ext cx="719669" cy="108012"/>
            <a:chOff x="1050298" y="3374994"/>
            <a:chExt cx="719669" cy="108012"/>
          </a:xfrm>
        </p:grpSpPr>
        <p:sp>
          <p:nvSpPr>
            <p:cNvPr id="24" name="Pentágono 2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Pentágono 24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5335864" y="4260481"/>
            <a:ext cx="719669" cy="108012"/>
            <a:chOff x="1050298" y="3374994"/>
            <a:chExt cx="719669" cy="108012"/>
          </a:xfrm>
        </p:grpSpPr>
        <p:sp>
          <p:nvSpPr>
            <p:cNvPr id="27" name="Pentágono 26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Pentágono 27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9" name="Grupo 28"/>
          <p:cNvGrpSpPr/>
          <p:nvPr/>
        </p:nvGrpSpPr>
        <p:grpSpPr>
          <a:xfrm rot="5400000">
            <a:off x="4926076" y="3086757"/>
            <a:ext cx="719669" cy="108012"/>
            <a:chOff x="1050298" y="3374994"/>
            <a:chExt cx="719669" cy="108012"/>
          </a:xfrm>
        </p:grpSpPr>
        <p:sp>
          <p:nvSpPr>
            <p:cNvPr id="30" name="Pentágono 29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Pentágono 30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2" name="Grupo 31"/>
          <p:cNvGrpSpPr/>
          <p:nvPr/>
        </p:nvGrpSpPr>
        <p:grpSpPr>
          <a:xfrm rot="5400000">
            <a:off x="4926077" y="3875194"/>
            <a:ext cx="719669" cy="108012"/>
            <a:chOff x="1050298" y="3374994"/>
            <a:chExt cx="719669" cy="108012"/>
          </a:xfrm>
        </p:grpSpPr>
        <p:sp>
          <p:nvSpPr>
            <p:cNvPr id="33" name="Pentágono 32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Pentágono 33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94807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1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105097" y="3283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2519383"/>
            <a:ext cx="1714500" cy="1914525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5337839" y="2689554"/>
            <a:ext cx="719669" cy="108012"/>
            <a:chOff x="1050298" y="3374994"/>
            <a:chExt cx="719669" cy="108012"/>
          </a:xfrm>
        </p:grpSpPr>
        <p:sp>
          <p:nvSpPr>
            <p:cNvPr id="14" name="Pentágono 1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Pentágono 15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8" name="Grupo 17"/>
          <p:cNvGrpSpPr/>
          <p:nvPr/>
        </p:nvGrpSpPr>
        <p:grpSpPr>
          <a:xfrm rot="5400000">
            <a:off x="5734962" y="3090819"/>
            <a:ext cx="719669" cy="108012"/>
            <a:chOff x="1050298" y="3374994"/>
            <a:chExt cx="719669" cy="108012"/>
          </a:xfrm>
        </p:grpSpPr>
        <p:sp>
          <p:nvSpPr>
            <p:cNvPr id="19" name="Pentágono 18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Pentágono 19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5330519" y="3476646"/>
            <a:ext cx="719669" cy="108012"/>
            <a:chOff x="1050298" y="3374994"/>
            <a:chExt cx="719669" cy="108012"/>
          </a:xfrm>
        </p:grpSpPr>
        <p:sp>
          <p:nvSpPr>
            <p:cNvPr id="21" name="Pentágono 20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Pentágono 21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3" name="Grupo 22"/>
          <p:cNvGrpSpPr/>
          <p:nvPr/>
        </p:nvGrpSpPr>
        <p:grpSpPr>
          <a:xfrm rot="5400000">
            <a:off x="5734963" y="3879256"/>
            <a:ext cx="719669" cy="108012"/>
            <a:chOff x="1050298" y="3374994"/>
            <a:chExt cx="719669" cy="108012"/>
          </a:xfrm>
        </p:grpSpPr>
        <p:sp>
          <p:nvSpPr>
            <p:cNvPr id="24" name="Pentágono 2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Pentágono 24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5335864" y="4260481"/>
            <a:ext cx="719669" cy="108012"/>
            <a:chOff x="1050298" y="3374994"/>
            <a:chExt cx="719669" cy="108012"/>
          </a:xfrm>
        </p:grpSpPr>
        <p:sp>
          <p:nvSpPr>
            <p:cNvPr id="27" name="Pentágono 26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Pentágono 27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9" name="Grupo 28"/>
          <p:cNvGrpSpPr/>
          <p:nvPr/>
        </p:nvGrpSpPr>
        <p:grpSpPr>
          <a:xfrm rot="5400000">
            <a:off x="4926076" y="3086757"/>
            <a:ext cx="719669" cy="108012"/>
            <a:chOff x="1050298" y="3374994"/>
            <a:chExt cx="719669" cy="108012"/>
          </a:xfrm>
        </p:grpSpPr>
        <p:sp>
          <p:nvSpPr>
            <p:cNvPr id="30" name="Pentágono 29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Pentágono 30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389014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105097" y="3283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2519383"/>
            <a:ext cx="1714500" cy="1914525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5337839" y="2689554"/>
            <a:ext cx="719669" cy="108012"/>
            <a:chOff x="1050298" y="3374994"/>
            <a:chExt cx="719669" cy="108012"/>
          </a:xfrm>
        </p:grpSpPr>
        <p:sp>
          <p:nvSpPr>
            <p:cNvPr id="14" name="Pentágono 1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Pentágono 15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8" name="Grupo 17"/>
          <p:cNvGrpSpPr/>
          <p:nvPr/>
        </p:nvGrpSpPr>
        <p:grpSpPr>
          <a:xfrm rot="5400000">
            <a:off x="4916677" y="3890487"/>
            <a:ext cx="719669" cy="108012"/>
            <a:chOff x="1050298" y="3374994"/>
            <a:chExt cx="719669" cy="108012"/>
          </a:xfrm>
        </p:grpSpPr>
        <p:sp>
          <p:nvSpPr>
            <p:cNvPr id="19" name="Pentágono 18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Pentágono 19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5330519" y="3476646"/>
            <a:ext cx="719669" cy="108012"/>
            <a:chOff x="1050298" y="3374994"/>
            <a:chExt cx="719669" cy="108012"/>
          </a:xfrm>
        </p:grpSpPr>
        <p:sp>
          <p:nvSpPr>
            <p:cNvPr id="21" name="Pentágono 20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Pentágono 21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3" name="Grupo 22"/>
          <p:cNvGrpSpPr/>
          <p:nvPr/>
        </p:nvGrpSpPr>
        <p:grpSpPr>
          <a:xfrm rot="5400000">
            <a:off x="5734963" y="3879256"/>
            <a:ext cx="719669" cy="108012"/>
            <a:chOff x="1050298" y="3374994"/>
            <a:chExt cx="719669" cy="108012"/>
          </a:xfrm>
        </p:grpSpPr>
        <p:sp>
          <p:nvSpPr>
            <p:cNvPr id="24" name="Pentágono 2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Pentágono 24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5335864" y="4260481"/>
            <a:ext cx="719669" cy="108012"/>
            <a:chOff x="1050298" y="3374994"/>
            <a:chExt cx="719669" cy="108012"/>
          </a:xfrm>
        </p:grpSpPr>
        <p:sp>
          <p:nvSpPr>
            <p:cNvPr id="27" name="Pentágono 26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Pentágono 27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9" name="Grupo 28"/>
          <p:cNvGrpSpPr/>
          <p:nvPr/>
        </p:nvGrpSpPr>
        <p:grpSpPr>
          <a:xfrm rot="5400000">
            <a:off x="4926076" y="3086757"/>
            <a:ext cx="719669" cy="108012"/>
            <a:chOff x="1050298" y="3374994"/>
            <a:chExt cx="719669" cy="108012"/>
          </a:xfrm>
        </p:grpSpPr>
        <p:sp>
          <p:nvSpPr>
            <p:cNvPr id="30" name="Pentágono 29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Pentágono 30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56560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105097" y="3283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2519383"/>
            <a:ext cx="1714500" cy="1914525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5337839" y="2689554"/>
            <a:ext cx="719669" cy="108012"/>
            <a:chOff x="1050298" y="3374994"/>
            <a:chExt cx="719669" cy="108012"/>
          </a:xfrm>
        </p:grpSpPr>
        <p:sp>
          <p:nvSpPr>
            <p:cNvPr id="14" name="Pentágono 1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Pentágono 15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8" name="Grupo 17"/>
          <p:cNvGrpSpPr/>
          <p:nvPr/>
        </p:nvGrpSpPr>
        <p:grpSpPr>
          <a:xfrm rot="5400000">
            <a:off x="5734962" y="3090819"/>
            <a:ext cx="719669" cy="108012"/>
            <a:chOff x="1050298" y="3374994"/>
            <a:chExt cx="719669" cy="108012"/>
          </a:xfrm>
        </p:grpSpPr>
        <p:sp>
          <p:nvSpPr>
            <p:cNvPr id="19" name="Pentágono 18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Pentágono 19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5330519" y="3476646"/>
            <a:ext cx="719669" cy="108012"/>
            <a:chOff x="1050298" y="3374994"/>
            <a:chExt cx="719669" cy="108012"/>
          </a:xfrm>
        </p:grpSpPr>
        <p:sp>
          <p:nvSpPr>
            <p:cNvPr id="21" name="Pentágono 20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Pentágono 21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3" name="Grupo 22"/>
          <p:cNvGrpSpPr/>
          <p:nvPr/>
        </p:nvGrpSpPr>
        <p:grpSpPr>
          <a:xfrm rot="5400000">
            <a:off x="5734963" y="3879256"/>
            <a:ext cx="719669" cy="108012"/>
            <a:chOff x="1050298" y="3374994"/>
            <a:chExt cx="719669" cy="108012"/>
          </a:xfrm>
        </p:grpSpPr>
        <p:sp>
          <p:nvSpPr>
            <p:cNvPr id="24" name="Pentágono 2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Pentágono 24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5335864" y="4260481"/>
            <a:ext cx="719669" cy="108012"/>
            <a:chOff x="1050298" y="3374994"/>
            <a:chExt cx="719669" cy="108012"/>
          </a:xfrm>
        </p:grpSpPr>
        <p:sp>
          <p:nvSpPr>
            <p:cNvPr id="27" name="Pentágono 26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Pentágono 27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9" name="Grupo 28"/>
          <p:cNvGrpSpPr/>
          <p:nvPr/>
        </p:nvGrpSpPr>
        <p:grpSpPr>
          <a:xfrm rot="5400000">
            <a:off x="4926076" y="3086757"/>
            <a:ext cx="719669" cy="108012"/>
            <a:chOff x="1050298" y="3374994"/>
            <a:chExt cx="719669" cy="108012"/>
          </a:xfrm>
        </p:grpSpPr>
        <p:sp>
          <p:nvSpPr>
            <p:cNvPr id="30" name="Pentágono 29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Pentágono 30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2" name="Grupo 31"/>
          <p:cNvGrpSpPr/>
          <p:nvPr/>
        </p:nvGrpSpPr>
        <p:grpSpPr>
          <a:xfrm rot="5400000">
            <a:off x="4926077" y="3875194"/>
            <a:ext cx="719669" cy="108012"/>
            <a:chOff x="1050298" y="3374994"/>
            <a:chExt cx="719669" cy="108012"/>
          </a:xfrm>
        </p:grpSpPr>
        <p:sp>
          <p:nvSpPr>
            <p:cNvPr id="33" name="Pentágono 32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Pentágono 33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5471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1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1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1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105097" y="3283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2519383"/>
            <a:ext cx="1714500" cy="1914525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5337839" y="2689554"/>
            <a:ext cx="719669" cy="108012"/>
            <a:chOff x="1050298" y="3374994"/>
            <a:chExt cx="719669" cy="108012"/>
          </a:xfrm>
        </p:grpSpPr>
        <p:sp>
          <p:nvSpPr>
            <p:cNvPr id="14" name="Pentágono 1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Pentágono 15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8" name="Grupo 17"/>
          <p:cNvGrpSpPr/>
          <p:nvPr/>
        </p:nvGrpSpPr>
        <p:grpSpPr>
          <a:xfrm rot="5400000">
            <a:off x="5734962" y="3090819"/>
            <a:ext cx="719669" cy="108012"/>
            <a:chOff x="1050298" y="3374994"/>
            <a:chExt cx="719669" cy="108012"/>
          </a:xfrm>
        </p:grpSpPr>
        <p:sp>
          <p:nvSpPr>
            <p:cNvPr id="19" name="Pentágono 18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Pentágono 19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5330519" y="3476646"/>
            <a:ext cx="719669" cy="108012"/>
            <a:chOff x="1050298" y="3374994"/>
            <a:chExt cx="719669" cy="108012"/>
          </a:xfrm>
        </p:grpSpPr>
        <p:sp>
          <p:nvSpPr>
            <p:cNvPr id="21" name="Pentágono 20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Pentágono 21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3" name="Grupo 22"/>
          <p:cNvGrpSpPr/>
          <p:nvPr/>
        </p:nvGrpSpPr>
        <p:grpSpPr>
          <a:xfrm rot="5400000">
            <a:off x="5734963" y="3879256"/>
            <a:ext cx="719669" cy="108012"/>
            <a:chOff x="1050298" y="3374994"/>
            <a:chExt cx="719669" cy="108012"/>
          </a:xfrm>
        </p:grpSpPr>
        <p:sp>
          <p:nvSpPr>
            <p:cNvPr id="24" name="Pentágono 2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Pentágono 24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5335864" y="4260481"/>
            <a:ext cx="719669" cy="108012"/>
            <a:chOff x="1050298" y="3374994"/>
            <a:chExt cx="719669" cy="108012"/>
          </a:xfrm>
        </p:grpSpPr>
        <p:sp>
          <p:nvSpPr>
            <p:cNvPr id="27" name="Pentágono 26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Pentágono 27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9" name="Grupo 28"/>
          <p:cNvGrpSpPr/>
          <p:nvPr/>
        </p:nvGrpSpPr>
        <p:grpSpPr>
          <a:xfrm rot="5400000">
            <a:off x="4926076" y="3086757"/>
            <a:ext cx="719669" cy="108012"/>
            <a:chOff x="1050298" y="3374994"/>
            <a:chExt cx="719669" cy="108012"/>
          </a:xfrm>
        </p:grpSpPr>
        <p:sp>
          <p:nvSpPr>
            <p:cNvPr id="30" name="Pentágono 29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Pentágono 30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2" name="Grupo 31"/>
          <p:cNvGrpSpPr/>
          <p:nvPr/>
        </p:nvGrpSpPr>
        <p:grpSpPr>
          <a:xfrm rot="5400000">
            <a:off x="4926077" y="3875194"/>
            <a:ext cx="719669" cy="108012"/>
            <a:chOff x="1050298" y="3374994"/>
            <a:chExt cx="719669" cy="108012"/>
          </a:xfrm>
        </p:grpSpPr>
        <p:sp>
          <p:nvSpPr>
            <p:cNvPr id="33" name="Pentágono 32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Pentágono 33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46459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105097" y="3283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2519383"/>
            <a:ext cx="1714500" cy="1914525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5337839" y="2689554"/>
            <a:ext cx="719669" cy="108012"/>
            <a:chOff x="1050298" y="3374994"/>
            <a:chExt cx="719669" cy="108012"/>
          </a:xfrm>
        </p:grpSpPr>
        <p:sp>
          <p:nvSpPr>
            <p:cNvPr id="14" name="Pentágono 1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Pentágono 15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8" name="Grupo 17"/>
          <p:cNvGrpSpPr/>
          <p:nvPr/>
        </p:nvGrpSpPr>
        <p:grpSpPr>
          <a:xfrm rot="5400000">
            <a:off x="5734962" y="3090819"/>
            <a:ext cx="719669" cy="108012"/>
            <a:chOff x="1050298" y="3374994"/>
            <a:chExt cx="719669" cy="108012"/>
          </a:xfrm>
        </p:grpSpPr>
        <p:sp>
          <p:nvSpPr>
            <p:cNvPr id="19" name="Pentágono 18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Pentágono 19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5330519" y="3476646"/>
            <a:ext cx="719669" cy="108012"/>
            <a:chOff x="1050298" y="3374994"/>
            <a:chExt cx="719669" cy="108012"/>
          </a:xfrm>
        </p:grpSpPr>
        <p:sp>
          <p:nvSpPr>
            <p:cNvPr id="21" name="Pentágono 20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Pentágono 21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3" name="Grupo 22"/>
          <p:cNvGrpSpPr/>
          <p:nvPr/>
        </p:nvGrpSpPr>
        <p:grpSpPr>
          <a:xfrm rot="5400000">
            <a:off x="5734963" y="3879256"/>
            <a:ext cx="719669" cy="108012"/>
            <a:chOff x="1050298" y="3374994"/>
            <a:chExt cx="719669" cy="108012"/>
          </a:xfrm>
        </p:grpSpPr>
        <p:sp>
          <p:nvSpPr>
            <p:cNvPr id="24" name="Pentágono 23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Pentágono 24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5335864" y="4260481"/>
            <a:ext cx="719669" cy="108012"/>
            <a:chOff x="1050298" y="3374994"/>
            <a:chExt cx="719669" cy="108012"/>
          </a:xfrm>
        </p:grpSpPr>
        <p:sp>
          <p:nvSpPr>
            <p:cNvPr id="27" name="Pentágono 26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Pentágono 27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9" name="Grupo 28"/>
          <p:cNvGrpSpPr/>
          <p:nvPr/>
        </p:nvGrpSpPr>
        <p:grpSpPr>
          <a:xfrm rot="5400000">
            <a:off x="4926076" y="3086757"/>
            <a:ext cx="719669" cy="108012"/>
            <a:chOff x="1050298" y="3374994"/>
            <a:chExt cx="719669" cy="108012"/>
          </a:xfrm>
        </p:grpSpPr>
        <p:sp>
          <p:nvSpPr>
            <p:cNvPr id="30" name="Pentágono 29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Pentágono 30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2" name="Grupo 31"/>
          <p:cNvGrpSpPr/>
          <p:nvPr/>
        </p:nvGrpSpPr>
        <p:grpSpPr>
          <a:xfrm rot="5400000">
            <a:off x="4926077" y="3875194"/>
            <a:ext cx="719669" cy="108012"/>
            <a:chOff x="1050298" y="3374994"/>
            <a:chExt cx="719669" cy="108012"/>
          </a:xfrm>
        </p:grpSpPr>
        <p:sp>
          <p:nvSpPr>
            <p:cNvPr id="33" name="Pentágono 32"/>
            <p:cNvSpPr/>
            <p:nvPr/>
          </p:nvSpPr>
          <p:spPr>
            <a:xfrm>
              <a:off x="1415478" y="3374994"/>
              <a:ext cx="354489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Pentágono 33"/>
            <p:cNvSpPr/>
            <p:nvPr/>
          </p:nvSpPr>
          <p:spPr>
            <a:xfrm flipH="1">
              <a:off x="1050298" y="3374994"/>
              <a:ext cx="365180" cy="108012"/>
            </a:xfrm>
            <a:prstGeom prst="homePlat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65243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2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8287787" y="-26727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105097" y="37059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graphicFrame>
        <p:nvGraphicFramePr>
          <p:cNvPr id="10" name="Objet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170033"/>
              </p:ext>
            </p:extLst>
          </p:nvPr>
        </p:nvGraphicFramePr>
        <p:xfrm>
          <a:off x="227013" y="555625"/>
          <a:ext cx="4718050" cy="498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Hoja de cálculo" r:id="rId4" imgW="4714787" imgH="5715034" progId="Excel.Sheet.12">
                  <p:embed/>
                </p:oleObj>
              </mc:Choice>
              <mc:Fallback>
                <p:oleObj name="Hoja de cálculo" r:id="rId4" imgW="4714787" imgH="571503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7013" y="555625"/>
                        <a:ext cx="4718050" cy="4983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ángulo 10"/>
          <p:cNvSpPr/>
          <p:nvPr/>
        </p:nvSpPr>
        <p:spPr>
          <a:xfrm>
            <a:off x="6895735" y="3838859"/>
            <a:ext cx="4356359" cy="23083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dirty="0" smtClean="0"/>
              <a:t>F</a:t>
            </a:r>
            <a:r>
              <a:rPr lang="es-ES" baseline="-25000" dirty="0" smtClean="0"/>
              <a:t>A</a:t>
            </a:r>
            <a:r>
              <a:rPr lang="pl-PL" baseline="-25000" dirty="0" smtClean="0"/>
              <a:t>(</a:t>
            </a:r>
            <a:r>
              <a:rPr lang="es-ES" baseline="-25000" dirty="0" smtClean="0"/>
              <a:t>ABCD</a:t>
            </a:r>
            <a:r>
              <a:rPr lang="pl-PL" baseline="-25000" dirty="0" smtClean="0"/>
              <a:t>)</a:t>
            </a:r>
            <a:r>
              <a:rPr lang="pl-PL" dirty="0" smtClean="0"/>
              <a:t> </a:t>
            </a:r>
            <a:r>
              <a:rPr lang="pl-PL" dirty="0"/>
              <a:t>= ∑ </a:t>
            </a:r>
            <a:r>
              <a:rPr lang="pl-PL" dirty="0" smtClean="0"/>
              <a:t>(</a:t>
            </a:r>
            <a:r>
              <a:rPr lang="es-ES" dirty="0" smtClean="0"/>
              <a:t>0,2,3,5,6,7,8,9</a:t>
            </a:r>
            <a:r>
              <a:rPr lang="pl-PL" dirty="0" smtClean="0"/>
              <a:t>) </a:t>
            </a:r>
            <a:r>
              <a:rPr lang="es-ES" dirty="0" smtClean="0">
                <a:solidFill>
                  <a:srgbClr val="FF0000"/>
                </a:solidFill>
              </a:rPr>
              <a:t>x= 10,,,</a:t>
            </a:r>
          </a:p>
          <a:p>
            <a:r>
              <a:rPr lang="pl-PL" dirty="0" smtClean="0"/>
              <a:t>F</a:t>
            </a:r>
            <a:r>
              <a:rPr lang="es-ES" baseline="-25000" dirty="0" smtClean="0"/>
              <a:t>B</a:t>
            </a:r>
            <a:r>
              <a:rPr lang="pl-PL" baseline="-25000" dirty="0" smtClean="0"/>
              <a:t>(</a:t>
            </a:r>
            <a:r>
              <a:rPr lang="es-ES" baseline="-25000" dirty="0"/>
              <a:t>ABCD</a:t>
            </a:r>
            <a:r>
              <a:rPr lang="pl-PL" baseline="-25000" dirty="0"/>
              <a:t>)</a:t>
            </a:r>
            <a:r>
              <a:rPr lang="pl-PL" dirty="0"/>
              <a:t> = ∑ </a:t>
            </a:r>
            <a:r>
              <a:rPr lang="pl-PL" dirty="0" smtClean="0"/>
              <a:t>()</a:t>
            </a:r>
            <a:r>
              <a:rPr lang="es-ES" dirty="0" smtClean="0">
                <a:solidFill>
                  <a:srgbClr val="FF0000"/>
                </a:solidFill>
              </a:rPr>
              <a:t> </a:t>
            </a:r>
            <a:r>
              <a:rPr lang="es-ES" dirty="0">
                <a:solidFill>
                  <a:srgbClr val="FF0000"/>
                </a:solidFill>
              </a:rPr>
              <a:t>x= </a:t>
            </a:r>
            <a:r>
              <a:rPr lang="es-ES" dirty="0" smtClean="0">
                <a:solidFill>
                  <a:srgbClr val="FF0000"/>
                </a:solidFill>
              </a:rPr>
              <a:t>6;7;10;11</a:t>
            </a:r>
            <a:endParaRPr lang="pl-PL" dirty="0"/>
          </a:p>
          <a:p>
            <a:r>
              <a:rPr lang="pl-PL" dirty="0" smtClean="0"/>
              <a:t>F</a:t>
            </a:r>
            <a:r>
              <a:rPr lang="es-ES" baseline="-25000" dirty="0" smtClean="0"/>
              <a:t>C</a:t>
            </a:r>
            <a:r>
              <a:rPr lang="pl-PL" baseline="-25000" dirty="0" smtClean="0"/>
              <a:t>(</a:t>
            </a:r>
            <a:r>
              <a:rPr lang="es-ES" baseline="-25000" dirty="0"/>
              <a:t>ABCD</a:t>
            </a:r>
            <a:r>
              <a:rPr lang="pl-PL" baseline="-25000" dirty="0"/>
              <a:t>)</a:t>
            </a:r>
            <a:r>
              <a:rPr lang="pl-PL" dirty="0"/>
              <a:t> = ∑ </a:t>
            </a:r>
            <a:r>
              <a:rPr lang="pl-PL" dirty="0" smtClean="0"/>
              <a:t>() </a:t>
            </a:r>
            <a:r>
              <a:rPr lang="es-ES" dirty="0" smtClean="0">
                <a:solidFill>
                  <a:srgbClr val="FF0000"/>
                </a:solidFill>
              </a:rPr>
              <a:t>x=4;5:8;9;10</a:t>
            </a:r>
          </a:p>
          <a:p>
            <a:r>
              <a:rPr lang="pl-PL" dirty="0" smtClean="0"/>
              <a:t>F</a:t>
            </a:r>
            <a:r>
              <a:rPr lang="es-ES" baseline="-25000" dirty="0" smtClean="0"/>
              <a:t>D</a:t>
            </a:r>
            <a:r>
              <a:rPr lang="pl-PL" baseline="-25000" dirty="0" smtClean="0"/>
              <a:t>(</a:t>
            </a:r>
            <a:r>
              <a:rPr lang="es-ES" baseline="-25000" dirty="0"/>
              <a:t>ABCD</a:t>
            </a:r>
            <a:r>
              <a:rPr lang="pl-PL" baseline="-25000" dirty="0"/>
              <a:t>)</a:t>
            </a:r>
            <a:r>
              <a:rPr lang="pl-PL" dirty="0" smtClean="0"/>
              <a:t> </a:t>
            </a:r>
            <a:r>
              <a:rPr lang="pl-PL" dirty="0"/>
              <a:t>= ∑ </a:t>
            </a:r>
            <a:r>
              <a:rPr lang="pl-PL" dirty="0" smtClean="0"/>
              <a:t>()</a:t>
            </a:r>
            <a:r>
              <a:rPr lang="es-ES" dirty="0" smtClean="0"/>
              <a:t> </a:t>
            </a:r>
            <a:r>
              <a:rPr lang="es-ES" dirty="0" smtClean="0">
                <a:solidFill>
                  <a:srgbClr val="FF0000"/>
                </a:solidFill>
              </a:rPr>
              <a:t>X= 7;11;15</a:t>
            </a:r>
            <a:endParaRPr lang="pl-PL" dirty="0">
              <a:solidFill>
                <a:srgbClr val="FF0000"/>
              </a:solidFill>
            </a:endParaRPr>
          </a:p>
          <a:p>
            <a:r>
              <a:rPr lang="pl-PL" dirty="0" smtClean="0"/>
              <a:t>F</a:t>
            </a:r>
            <a:r>
              <a:rPr lang="es-ES" baseline="-25000" dirty="0" smtClean="0"/>
              <a:t>E</a:t>
            </a:r>
            <a:r>
              <a:rPr lang="pl-PL" baseline="-25000" dirty="0" smtClean="0"/>
              <a:t>(</a:t>
            </a:r>
            <a:r>
              <a:rPr lang="es-ES" baseline="-25000" dirty="0"/>
              <a:t>ABCD</a:t>
            </a:r>
            <a:r>
              <a:rPr lang="pl-PL" baseline="-25000" dirty="0"/>
              <a:t>)</a:t>
            </a:r>
            <a:r>
              <a:rPr lang="pl-PL" dirty="0"/>
              <a:t> = ∑ </a:t>
            </a:r>
            <a:r>
              <a:rPr lang="pl-PL" dirty="0" smtClean="0"/>
              <a:t>()</a:t>
            </a:r>
            <a:r>
              <a:rPr lang="es-ES" dirty="0" smtClean="0">
                <a:solidFill>
                  <a:srgbClr val="FF0000"/>
                </a:solidFill>
              </a:rPr>
              <a:t> </a:t>
            </a:r>
            <a:r>
              <a:rPr lang="es-ES" dirty="0">
                <a:solidFill>
                  <a:srgbClr val="FF0000"/>
                </a:solidFill>
              </a:rPr>
              <a:t>x= 6;7;10;11</a:t>
            </a:r>
            <a:endParaRPr lang="pl-PL" dirty="0"/>
          </a:p>
          <a:p>
            <a:r>
              <a:rPr lang="pl-PL" dirty="0" smtClean="0"/>
              <a:t>F</a:t>
            </a:r>
            <a:r>
              <a:rPr lang="es-ES" baseline="-25000" dirty="0" smtClean="0"/>
              <a:t>F</a:t>
            </a:r>
            <a:r>
              <a:rPr lang="pl-PL" baseline="-25000" dirty="0" smtClean="0"/>
              <a:t>(</a:t>
            </a:r>
            <a:r>
              <a:rPr lang="es-ES" baseline="-25000" dirty="0"/>
              <a:t>ABCD</a:t>
            </a:r>
            <a:r>
              <a:rPr lang="pl-PL" baseline="-25000" dirty="0"/>
              <a:t>)</a:t>
            </a:r>
            <a:r>
              <a:rPr lang="pl-PL" dirty="0"/>
              <a:t> = ∑ </a:t>
            </a:r>
            <a:r>
              <a:rPr lang="pl-PL" dirty="0" smtClean="0"/>
              <a:t>() </a:t>
            </a:r>
            <a:r>
              <a:rPr lang="es-ES" dirty="0">
                <a:solidFill>
                  <a:srgbClr val="FF0000"/>
                </a:solidFill>
              </a:rPr>
              <a:t>x=4;5:8;9;10</a:t>
            </a:r>
          </a:p>
          <a:p>
            <a:r>
              <a:rPr lang="pl-PL" dirty="0" smtClean="0"/>
              <a:t>F</a:t>
            </a:r>
            <a:r>
              <a:rPr lang="es-ES" baseline="-25000" dirty="0" smtClean="0"/>
              <a:t>G</a:t>
            </a:r>
            <a:r>
              <a:rPr lang="pl-PL" baseline="-25000" dirty="0" smtClean="0"/>
              <a:t>(</a:t>
            </a:r>
            <a:r>
              <a:rPr lang="es-ES" baseline="-25000" dirty="0"/>
              <a:t>ABCD</a:t>
            </a:r>
            <a:r>
              <a:rPr lang="pl-PL" baseline="-25000" dirty="0"/>
              <a:t>)</a:t>
            </a:r>
            <a:r>
              <a:rPr lang="pl-PL" dirty="0"/>
              <a:t> = ∑ </a:t>
            </a:r>
            <a:r>
              <a:rPr lang="pl-PL" dirty="0" smtClean="0"/>
              <a:t>()</a:t>
            </a:r>
            <a:r>
              <a:rPr lang="es-ES" dirty="0" smtClean="0"/>
              <a:t> </a:t>
            </a:r>
            <a:r>
              <a:rPr lang="es-ES" dirty="0">
                <a:solidFill>
                  <a:srgbClr val="FF0000"/>
                </a:solidFill>
              </a:rPr>
              <a:t>X= 7;11;15</a:t>
            </a:r>
            <a:endParaRPr lang="pl-PL" dirty="0">
              <a:solidFill>
                <a:srgbClr val="FF0000"/>
              </a:solidFill>
            </a:endParaRPr>
          </a:p>
          <a:p>
            <a:endParaRPr lang="pl-PL" dirty="0"/>
          </a:p>
        </p:txBody>
      </p:sp>
      <p:graphicFrame>
        <p:nvGraphicFramePr>
          <p:cNvPr id="13" name="Objeto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030783"/>
              </p:ext>
            </p:extLst>
          </p:nvPr>
        </p:nvGraphicFramePr>
        <p:xfrm>
          <a:off x="8711567" y="1094440"/>
          <a:ext cx="3214916" cy="2190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Hoja de cálculo" r:id="rId7" imgW="2752857" imgH="1876308" progId="Excel.Sheet.12">
                  <p:embed/>
                </p:oleObj>
              </mc:Choice>
              <mc:Fallback>
                <p:oleObj name="Hoja de cálculo" r:id="rId7" imgW="2752857" imgH="187630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711567" y="1094440"/>
                        <a:ext cx="3214916" cy="2190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ángulo redondeado 13"/>
          <p:cNvSpPr/>
          <p:nvPr/>
        </p:nvSpPr>
        <p:spPr>
          <a:xfrm>
            <a:off x="10738122" y="1529401"/>
            <a:ext cx="966233" cy="164838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5" name="Grupo 14"/>
          <p:cNvGrpSpPr/>
          <p:nvPr/>
        </p:nvGrpSpPr>
        <p:grpSpPr>
          <a:xfrm>
            <a:off x="11378356" y="1129665"/>
            <a:ext cx="622300" cy="854732"/>
            <a:chOff x="6096000" y="3234406"/>
            <a:chExt cx="622300" cy="477666"/>
          </a:xfrm>
        </p:grpSpPr>
        <p:cxnSp>
          <p:nvCxnSpPr>
            <p:cNvPr id="16" name="Conector recto 15"/>
            <p:cNvCxnSpPr/>
            <p:nvPr/>
          </p:nvCxnSpPr>
          <p:spPr>
            <a:xfrm flipH="1">
              <a:off x="6096000" y="3234406"/>
              <a:ext cx="6223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>
              <a:off x="6096000" y="3234406"/>
              <a:ext cx="0" cy="47766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6096000" y="3712072"/>
              <a:ext cx="6223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/>
              <p:cNvSpPr txBox="1"/>
              <p:nvPr/>
            </p:nvSpPr>
            <p:spPr>
              <a:xfrm>
                <a:off x="5259376" y="662202"/>
                <a:ext cx="339259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2200" dirty="0" smtClean="0"/>
                  <a:t>F</a:t>
                </a:r>
                <a:r>
                  <a:rPr lang="es-ES" sz="2200" baseline="-25000" dirty="0" smtClean="0"/>
                  <a:t>(A)</a:t>
                </a:r>
                <a14:m>
                  <m:oMath xmlns:m="http://schemas.openxmlformats.org/officeDocument/2006/math">
                    <m:r>
                      <a:rPr lang="es-ES" sz="22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s-E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E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s-E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s-E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E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2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ES" sz="22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sz="22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ES" sz="22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2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ES" sz="22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2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s-ES" sz="2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CuadroTexto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376" y="662202"/>
                <a:ext cx="3392595" cy="430887"/>
              </a:xfrm>
              <a:prstGeom prst="rect">
                <a:avLst/>
              </a:prstGeom>
              <a:blipFill rotWithShape="0">
                <a:blip r:embed="rId9"/>
                <a:stretch>
                  <a:fillRect l="-2338" t="-11429" b="-271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Imagen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2575" y="3517803"/>
            <a:ext cx="1714500" cy="1914525"/>
          </a:xfrm>
          <a:prstGeom prst="rect">
            <a:avLst/>
          </a:prstGeom>
        </p:spPr>
      </p:pic>
      <p:sp>
        <p:nvSpPr>
          <p:cNvPr id="21" name="Rectángulo redondeado 20"/>
          <p:cNvSpPr/>
          <p:nvPr/>
        </p:nvSpPr>
        <p:spPr>
          <a:xfrm>
            <a:off x="9115382" y="2535175"/>
            <a:ext cx="2732990" cy="81788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 redondeado 21"/>
          <p:cNvSpPr/>
          <p:nvPr/>
        </p:nvSpPr>
        <p:spPr>
          <a:xfrm>
            <a:off x="10075584" y="1957062"/>
            <a:ext cx="957850" cy="97028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3" name="Grupo 22"/>
          <p:cNvGrpSpPr/>
          <p:nvPr/>
        </p:nvGrpSpPr>
        <p:grpSpPr>
          <a:xfrm flipH="1">
            <a:off x="9034349" y="1154955"/>
            <a:ext cx="690496" cy="854732"/>
            <a:chOff x="6096000" y="3234406"/>
            <a:chExt cx="622300" cy="477666"/>
          </a:xfrm>
        </p:grpSpPr>
        <p:cxnSp>
          <p:nvCxnSpPr>
            <p:cNvPr id="24" name="Conector recto 23"/>
            <p:cNvCxnSpPr/>
            <p:nvPr/>
          </p:nvCxnSpPr>
          <p:spPr>
            <a:xfrm flipH="1">
              <a:off x="6096000" y="3234406"/>
              <a:ext cx="6223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/>
            <p:cNvCxnSpPr/>
            <p:nvPr/>
          </p:nvCxnSpPr>
          <p:spPr>
            <a:xfrm>
              <a:off x="6096000" y="3234406"/>
              <a:ext cx="0" cy="47766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/>
            <p:cNvCxnSpPr/>
            <p:nvPr/>
          </p:nvCxnSpPr>
          <p:spPr>
            <a:xfrm>
              <a:off x="6096000" y="3712072"/>
              <a:ext cx="6223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Conector recto 26"/>
          <p:cNvCxnSpPr/>
          <p:nvPr/>
        </p:nvCxnSpPr>
        <p:spPr>
          <a:xfrm flipH="1">
            <a:off x="9877245" y="1307355"/>
            <a:ext cx="0" cy="8547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o 27"/>
          <p:cNvGrpSpPr/>
          <p:nvPr/>
        </p:nvGrpSpPr>
        <p:grpSpPr>
          <a:xfrm flipH="1">
            <a:off x="9034349" y="2917984"/>
            <a:ext cx="690496" cy="854732"/>
            <a:chOff x="6096000" y="3234406"/>
            <a:chExt cx="622300" cy="477666"/>
          </a:xfrm>
        </p:grpSpPr>
        <p:cxnSp>
          <p:nvCxnSpPr>
            <p:cNvPr id="29" name="Conector recto 28"/>
            <p:cNvCxnSpPr/>
            <p:nvPr/>
          </p:nvCxnSpPr>
          <p:spPr>
            <a:xfrm flipH="1">
              <a:off x="6096000" y="3234406"/>
              <a:ext cx="6223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/>
            <p:cNvCxnSpPr/>
            <p:nvPr/>
          </p:nvCxnSpPr>
          <p:spPr>
            <a:xfrm>
              <a:off x="6096000" y="3234406"/>
              <a:ext cx="0" cy="47766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/>
            <p:cNvCxnSpPr/>
            <p:nvPr/>
          </p:nvCxnSpPr>
          <p:spPr>
            <a:xfrm>
              <a:off x="6096000" y="3712072"/>
              <a:ext cx="6223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upo 31"/>
          <p:cNvGrpSpPr/>
          <p:nvPr/>
        </p:nvGrpSpPr>
        <p:grpSpPr>
          <a:xfrm>
            <a:off x="11366992" y="2831678"/>
            <a:ext cx="622300" cy="854732"/>
            <a:chOff x="6096000" y="3234406"/>
            <a:chExt cx="622300" cy="477666"/>
          </a:xfrm>
        </p:grpSpPr>
        <p:cxnSp>
          <p:nvCxnSpPr>
            <p:cNvPr id="33" name="Conector recto 32"/>
            <p:cNvCxnSpPr/>
            <p:nvPr/>
          </p:nvCxnSpPr>
          <p:spPr>
            <a:xfrm flipH="1">
              <a:off x="6096000" y="3234406"/>
              <a:ext cx="6223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/>
            <p:cNvCxnSpPr/>
            <p:nvPr/>
          </p:nvCxnSpPr>
          <p:spPr>
            <a:xfrm>
              <a:off x="6096000" y="3234406"/>
              <a:ext cx="0" cy="47766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/>
            <p:cNvCxnSpPr/>
            <p:nvPr/>
          </p:nvCxnSpPr>
          <p:spPr>
            <a:xfrm>
              <a:off x="6096000" y="3712072"/>
              <a:ext cx="6223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upo 35"/>
          <p:cNvGrpSpPr/>
          <p:nvPr/>
        </p:nvGrpSpPr>
        <p:grpSpPr>
          <a:xfrm>
            <a:off x="10954576" y="1129665"/>
            <a:ext cx="622300" cy="854732"/>
            <a:chOff x="6096000" y="3234406"/>
            <a:chExt cx="622300" cy="477666"/>
          </a:xfrm>
        </p:grpSpPr>
        <p:cxnSp>
          <p:nvCxnSpPr>
            <p:cNvPr id="38" name="Conector recto 37"/>
            <p:cNvCxnSpPr/>
            <p:nvPr/>
          </p:nvCxnSpPr>
          <p:spPr>
            <a:xfrm flipH="1">
              <a:off x="6096000" y="3234406"/>
              <a:ext cx="6223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/>
            <p:cNvCxnSpPr/>
            <p:nvPr/>
          </p:nvCxnSpPr>
          <p:spPr>
            <a:xfrm>
              <a:off x="6096000" y="3234406"/>
              <a:ext cx="0" cy="47766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/>
            <p:cNvCxnSpPr/>
            <p:nvPr/>
          </p:nvCxnSpPr>
          <p:spPr>
            <a:xfrm>
              <a:off x="6096000" y="3712072"/>
              <a:ext cx="6223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uadroTexto 1"/>
          <p:cNvSpPr txBox="1"/>
          <p:nvPr/>
        </p:nvSpPr>
        <p:spPr>
          <a:xfrm>
            <a:off x="5324141" y="1187699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Fb</a:t>
            </a:r>
            <a:r>
              <a:rPr lang="es-ES" dirty="0" smtClean="0"/>
              <a:t>=C’D’+CD+B’</a:t>
            </a: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 flipH="1">
            <a:off x="5324141" y="1772396"/>
            <a:ext cx="3143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Fc</a:t>
            </a:r>
            <a:r>
              <a:rPr lang="es-ES" dirty="0" smtClean="0"/>
              <a:t>=C’+B+CD</a:t>
            </a:r>
          </a:p>
          <a:p>
            <a:r>
              <a:rPr lang="es-ES" dirty="0" err="1" smtClean="0"/>
              <a:t>Fd</a:t>
            </a:r>
            <a:r>
              <a:rPr lang="es-ES" dirty="0" smtClean="0"/>
              <a:t>=</a:t>
            </a:r>
            <a:r>
              <a:rPr lang="es-ES" dirty="0" err="1" smtClean="0"/>
              <a:t>b’d+bc’d+b’c+cd</a:t>
            </a:r>
            <a:r>
              <a:rPr lang="es-ES" dirty="0" smtClean="0"/>
              <a:t>’</a:t>
            </a:r>
          </a:p>
          <a:p>
            <a:r>
              <a:rPr lang="es-ES" dirty="0" smtClean="0"/>
              <a:t>Fe=</a:t>
            </a:r>
            <a:r>
              <a:rPr lang="es-ES" dirty="0" err="1" smtClean="0"/>
              <a:t>b’c’d+cd</a:t>
            </a:r>
            <a:r>
              <a:rPr lang="es-ES" dirty="0" smtClean="0"/>
              <a:t>’</a:t>
            </a:r>
            <a:r>
              <a:rPr lang="es-E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5959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231904" y="95534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2" y="471821"/>
            <a:ext cx="8767244" cy="1177165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910" y="1847933"/>
            <a:ext cx="2898374" cy="4825401"/>
          </a:xfrm>
          <a:prstGeom prst="rect">
            <a:avLst/>
          </a:prstGeom>
        </p:spPr>
      </p:pic>
      <p:sp>
        <p:nvSpPr>
          <p:cNvPr id="12" name="Elipse 11"/>
          <p:cNvSpPr/>
          <p:nvPr/>
        </p:nvSpPr>
        <p:spPr>
          <a:xfrm>
            <a:off x="6382153" y="3068960"/>
            <a:ext cx="2450874" cy="21602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" name="Conector recto de flecha 17"/>
          <p:cNvCxnSpPr>
            <a:stCxn id="31" idx="3"/>
          </p:cNvCxnSpPr>
          <p:nvPr/>
        </p:nvCxnSpPr>
        <p:spPr>
          <a:xfrm flipV="1">
            <a:off x="6596960" y="4149080"/>
            <a:ext cx="1034763" cy="5096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/>
          <p:nvPr/>
        </p:nvCxnSpPr>
        <p:spPr>
          <a:xfrm>
            <a:off x="7608168" y="4149080"/>
            <a:ext cx="15856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/>
          <p:cNvSpPr/>
          <p:nvPr/>
        </p:nvSpPr>
        <p:spPr>
          <a:xfrm>
            <a:off x="6096559" y="3284984"/>
            <a:ext cx="718962" cy="100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Rectángulo 27"/>
          <p:cNvSpPr/>
          <p:nvPr/>
        </p:nvSpPr>
        <p:spPr>
          <a:xfrm>
            <a:off x="5877998" y="3601344"/>
            <a:ext cx="718962" cy="100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/>
          <p:cNvSpPr/>
          <p:nvPr/>
        </p:nvSpPr>
        <p:spPr>
          <a:xfrm>
            <a:off x="5737078" y="3920982"/>
            <a:ext cx="718962" cy="100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Rectángulo 29"/>
          <p:cNvSpPr/>
          <p:nvPr/>
        </p:nvSpPr>
        <p:spPr>
          <a:xfrm>
            <a:off x="5737078" y="4302649"/>
            <a:ext cx="718962" cy="100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ángulo 30"/>
          <p:cNvSpPr/>
          <p:nvPr/>
        </p:nvSpPr>
        <p:spPr>
          <a:xfrm>
            <a:off x="5877998" y="4608554"/>
            <a:ext cx="718962" cy="100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 31"/>
          <p:cNvSpPr/>
          <p:nvPr/>
        </p:nvSpPr>
        <p:spPr>
          <a:xfrm flipV="1">
            <a:off x="6096559" y="4915905"/>
            <a:ext cx="718962" cy="63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Pergamino horizontal 37"/>
          <p:cNvSpPr/>
          <p:nvPr/>
        </p:nvSpPr>
        <p:spPr>
          <a:xfrm>
            <a:off x="5449927" y="962434"/>
            <a:ext cx="2177457" cy="731542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 smtClean="0"/>
              <a:t>Mux</a:t>
            </a:r>
            <a:r>
              <a:rPr lang="es-ES" dirty="0" smtClean="0"/>
              <a:t> d 8 a 1</a:t>
            </a:r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2841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015880" y="-9241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2" y="471821"/>
            <a:ext cx="8767244" cy="117716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16" y="1648986"/>
            <a:ext cx="7822170" cy="5169938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8834906" y="5949280"/>
            <a:ext cx="1796069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dirty="0" smtClean="0">
                <a:solidFill>
                  <a:schemeClr val="tx1"/>
                </a:solidFill>
                <a:hlinkClick r:id="rId4" action="ppaction://program"/>
              </a:rPr>
              <a:t>Simular </a:t>
            </a:r>
            <a:r>
              <a:rPr lang="es-ES" dirty="0" err="1" smtClean="0">
                <a:solidFill>
                  <a:schemeClr val="tx1"/>
                </a:solidFill>
                <a:hlinkClick r:id="rId4" action="ppaction://program"/>
              </a:rPr>
              <a:t>Proteus</a:t>
            </a:r>
            <a:endParaRPr lang="es-E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17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015880" y="-9241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2" y="471821"/>
            <a:ext cx="8767244" cy="1177165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8834906" y="5949280"/>
            <a:ext cx="1796069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dirty="0" smtClean="0">
                <a:solidFill>
                  <a:schemeClr val="tx1"/>
                </a:solidFill>
                <a:hlinkClick r:id="rId3" action="ppaction://program"/>
              </a:rPr>
              <a:t>Simular </a:t>
            </a:r>
            <a:r>
              <a:rPr lang="es-ES" dirty="0" err="1" smtClean="0">
                <a:solidFill>
                  <a:schemeClr val="tx1"/>
                </a:solidFill>
                <a:hlinkClick r:id="rId3" action="ppaction://program"/>
              </a:rPr>
              <a:t>Proteus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" name="Llamada de flecha hacia arriba 3"/>
          <p:cNvSpPr/>
          <p:nvPr/>
        </p:nvSpPr>
        <p:spPr>
          <a:xfrm>
            <a:off x="1834780" y="1412776"/>
            <a:ext cx="4536504" cy="252028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Hacer con </a:t>
            </a:r>
            <a:r>
              <a:rPr lang="es-ES" dirty="0" err="1" smtClean="0"/>
              <a:t>Mux</a:t>
            </a:r>
            <a:r>
              <a:rPr lang="es-ES" dirty="0" smtClean="0"/>
              <a:t> de 16 a 1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8108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241928" y="95534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4" y="622773"/>
            <a:ext cx="10333928" cy="166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1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241928" y="95534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324" y="464866"/>
            <a:ext cx="9720049" cy="116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97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10302</TotalTime>
  <Words>678</Words>
  <Application>Microsoft Office PowerPoint</Application>
  <PresentationFormat>Panorámica</PresentationFormat>
  <Paragraphs>126</Paragraphs>
  <Slides>21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32" baseType="lpstr">
      <vt:lpstr>Arial</vt:lpstr>
      <vt:lpstr>Calibri</vt:lpstr>
      <vt:lpstr>Cambria Math</vt:lpstr>
      <vt:lpstr>Montserrat SemiBold</vt:lpstr>
      <vt:lpstr>Tahoma</vt:lpstr>
      <vt:lpstr>Times New Roman</vt:lpstr>
      <vt:lpstr>Trebuchet MS</vt:lpstr>
      <vt:lpstr>Wingdings</vt:lpstr>
      <vt:lpstr>Wingdings 3</vt:lpstr>
      <vt:lpstr>Faceta</vt:lpstr>
      <vt:lpstr>Hoja de cálculo</vt:lpstr>
      <vt:lpstr>TD1</vt:lpstr>
      <vt:lpstr>TD1</vt:lpstr>
      <vt:lpstr>TD1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EySC- Electrónica</dc:title>
  <dc:creator>Sergio</dc:creator>
  <cp:lastModifiedBy>Sergio</cp:lastModifiedBy>
  <cp:revision>339</cp:revision>
  <dcterms:created xsi:type="dcterms:W3CDTF">2020-03-19T15:22:29Z</dcterms:created>
  <dcterms:modified xsi:type="dcterms:W3CDTF">2020-08-03T15:03:13Z</dcterms:modified>
</cp:coreProperties>
</file>
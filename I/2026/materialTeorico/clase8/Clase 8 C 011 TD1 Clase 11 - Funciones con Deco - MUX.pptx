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20"/>
  </p:notesMasterIdLst>
  <p:sldIdLst>
    <p:sldId id="259" r:id="rId2"/>
    <p:sldId id="260" r:id="rId3"/>
    <p:sldId id="284" r:id="rId4"/>
    <p:sldId id="336" r:id="rId5"/>
    <p:sldId id="337" r:id="rId6"/>
    <p:sldId id="334" r:id="rId7"/>
    <p:sldId id="344" r:id="rId8"/>
    <p:sldId id="320" r:id="rId9"/>
    <p:sldId id="338" r:id="rId10"/>
    <p:sldId id="339" r:id="rId11"/>
    <p:sldId id="340" r:id="rId12"/>
    <p:sldId id="335" r:id="rId13"/>
    <p:sldId id="341" r:id="rId14"/>
    <p:sldId id="342" r:id="rId15"/>
    <p:sldId id="343" r:id="rId16"/>
    <p:sldId id="333" r:id="rId17"/>
    <p:sldId id="345" r:id="rId18"/>
    <p:sldId id="346" r:id="rId19"/>
  </p:sldIdLst>
  <p:sldSz cx="12192000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128" autoAdjust="0"/>
  </p:normalViewPr>
  <p:slideViewPr>
    <p:cSldViewPr>
      <p:cViewPr varScale="1">
        <p:scale>
          <a:sx n="83" d="100"/>
          <a:sy n="83" d="100"/>
        </p:scale>
        <p:origin x="732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7E2E8F-42E0-4909-B6CA-8C94C1B177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712E115-8550-48E8-8097-E08E06F7B1C5}">
      <dgm:prSet phldrT="[Texto]"/>
      <dgm:spPr/>
      <dgm:t>
        <a:bodyPr/>
        <a:lstStyle/>
        <a:p>
          <a:r>
            <a:rPr lang="es-ES" dirty="0" err="1" smtClean="0"/>
            <a:t>Verilog</a:t>
          </a:r>
          <a:r>
            <a:rPr lang="es-ES" dirty="0" smtClean="0"/>
            <a:t> con Xilinx</a:t>
          </a:r>
          <a:endParaRPr lang="es-ES" dirty="0"/>
        </a:p>
      </dgm:t>
    </dgm:pt>
    <dgm:pt modelId="{295E6FAB-80AF-4A35-BDBD-83D82BA90BF4}" type="parTrans" cxnId="{46F8E938-2BD5-4051-ADCD-285775432822}">
      <dgm:prSet/>
      <dgm:spPr/>
      <dgm:t>
        <a:bodyPr/>
        <a:lstStyle/>
        <a:p>
          <a:endParaRPr lang="es-ES"/>
        </a:p>
      </dgm:t>
    </dgm:pt>
    <dgm:pt modelId="{2D329F98-E246-4A28-8114-A62BD0F85A6E}" type="sibTrans" cxnId="{46F8E938-2BD5-4051-ADCD-285775432822}">
      <dgm:prSet/>
      <dgm:spPr/>
      <dgm:t>
        <a:bodyPr/>
        <a:lstStyle/>
        <a:p>
          <a:endParaRPr lang="es-ES"/>
        </a:p>
      </dgm:t>
    </dgm:pt>
    <dgm:pt modelId="{539B6E09-12E8-425A-849A-B2EB451AB2CE}">
      <dgm:prSet phldrT="[Texto]"/>
      <dgm:spPr/>
      <dgm:t>
        <a:bodyPr/>
        <a:lstStyle/>
        <a:p>
          <a:r>
            <a:rPr lang="es-ES" dirty="0" err="1" smtClean="0"/>
            <a:t>RegyComb</a:t>
          </a:r>
          <a:endParaRPr lang="es-ES" dirty="0"/>
        </a:p>
      </dgm:t>
    </dgm:pt>
    <dgm:pt modelId="{F4510A27-9E50-4DF2-A92F-8B87996080C8}" type="parTrans" cxnId="{FF72EB6C-FD97-41D1-9181-6D3C004D0263}">
      <dgm:prSet/>
      <dgm:spPr/>
      <dgm:t>
        <a:bodyPr/>
        <a:lstStyle/>
        <a:p>
          <a:endParaRPr lang="es-ES"/>
        </a:p>
      </dgm:t>
    </dgm:pt>
    <dgm:pt modelId="{E9F4000C-B8E9-4682-A7DA-D9F2C4C6F053}" type="sibTrans" cxnId="{FF72EB6C-FD97-41D1-9181-6D3C004D0263}">
      <dgm:prSet/>
      <dgm:spPr/>
      <dgm:t>
        <a:bodyPr/>
        <a:lstStyle/>
        <a:p>
          <a:endParaRPr lang="es-ES"/>
        </a:p>
      </dgm:t>
    </dgm:pt>
    <dgm:pt modelId="{09A3A2ED-746B-4C57-B8FA-1ACACCEABBD0}">
      <dgm:prSet phldrT="[Texto]"/>
      <dgm:spPr/>
      <dgm:t>
        <a:bodyPr/>
        <a:lstStyle/>
        <a:p>
          <a:r>
            <a:rPr lang="es-ES" dirty="0" smtClean="0"/>
            <a:t>RegyComb2</a:t>
          </a:r>
          <a:endParaRPr lang="es-ES" dirty="0"/>
        </a:p>
      </dgm:t>
    </dgm:pt>
    <dgm:pt modelId="{7237F4B0-25AE-4F9B-9066-3A00A27F861F}" type="parTrans" cxnId="{EC3F14BA-7A4E-4F10-BB81-4EC75AD6ADFB}">
      <dgm:prSet/>
      <dgm:spPr/>
      <dgm:t>
        <a:bodyPr/>
        <a:lstStyle/>
        <a:p>
          <a:endParaRPr lang="es-ES"/>
        </a:p>
      </dgm:t>
    </dgm:pt>
    <dgm:pt modelId="{BFF8A72B-77EB-46E5-A403-418BA2D1E050}" type="sibTrans" cxnId="{EC3F14BA-7A4E-4F10-BB81-4EC75AD6ADFB}">
      <dgm:prSet/>
      <dgm:spPr/>
      <dgm:t>
        <a:bodyPr/>
        <a:lstStyle/>
        <a:p>
          <a:endParaRPr lang="es-ES"/>
        </a:p>
      </dgm:t>
    </dgm:pt>
    <dgm:pt modelId="{A4F0D164-CE27-41E3-B8D3-B957850C8B36}">
      <dgm:prSet phldrT="[Texto]"/>
      <dgm:spPr/>
      <dgm:t>
        <a:bodyPr/>
        <a:lstStyle/>
        <a:p>
          <a:endParaRPr lang="es-ES" dirty="0"/>
        </a:p>
      </dgm:t>
    </dgm:pt>
    <dgm:pt modelId="{939709C2-7425-4FA8-AF03-683845491D6B}" type="parTrans" cxnId="{C4402F51-D645-4549-9E20-CAF57BE8512B}">
      <dgm:prSet/>
      <dgm:spPr/>
      <dgm:t>
        <a:bodyPr/>
        <a:lstStyle/>
        <a:p>
          <a:endParaRPr lang="es-ES"/>
        </a:p>
      </dgm:t>
    </dgm:pt>
    <dgm:pt modelId="{AEA87EF1-8939-401F-BA43-C5E41611BA92}" type="sibTrans" cxnId="{C4402F51-D645-4549-9E20-CAF57BE8512B}">
      <dgm:prSet/>
      <dgm:spPr/>
      <dgm:t>
        <a:bodyPr/>
        <a:lstStyle/>
        <a:p>
          <a:endParaRPr lang="es-ES"/>
        </a:p>
      </dgm:t>
    </dgm:pt>
    <dgm:pt modelId="{17DE0A7D-0BB5-44BC-91F3-4FE37C717A54}" type="pres">
      <dgm:prSet presAssocID="{327E2E8F-42E0-4909-B6CA-8C94C1B1778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6642D94D-94B6-40B9-8DE4-7C541811FBD1}" type="pres">
      <dgm:prSet presAssocID="{C712E115-8550-48E8-8097-E08E06F7B1C5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CA87826-C166-43D1-907D-844F917DB310}" type="pres">
      <dgm:prSet presAssocID="{C712E115-8550-48E8-8097-E08E06F7B1C5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9BCB4E6-3AE4-4915-B38C-C3C13DE8A3C7}" type="pres">
      <dgm:prSet presAssocID="{A4F0D164-CE27-41E3-B8D3-B957850C8B36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1094165C-6C86-4A14-8B10-A34ADB121B70}" type="presOf" srcId="{C712E115-8550-48E8-8097-E08E06F7B1C5}" destId="{6642D94D-94B6-40B9-8DE4-7C541811FBD1}" srcOrd="0" destOrd="0" presId="urn:microsoft.com/office/officeart/2005/8/layout/vList2"/>
    <dgm:cxn modelId="{EC3F14BA-7A4E-4F10-BB81-4EC75AD6ADFB}" srcId="{C712E115-8550-48E8-8097-E08E06F7B1C5}" destId="{09A3A2ED-746B-4C57-B8FA-1ACACCEABBD0}" srcOrd="1" destOrd="0" parTransId="{7237F4B0-25AE-4F9B-9066-3A00A27F861F}" sibTransId="{BFF8A72B-77EB-46E5-A403-418BA2D1E050}"/>
    <dgm:cxn modelId="{C4402F51-D645-4549-9E20-CAF57BE8512B}" srcId="{327E2E8F-42E0-4909-B6CA-8C94C1B17781}" destId="{A4F0D164-CE27-41E3-B8D3-B957850C8B36}" srcOrd="1" destOrd="0" parTransId="{939709C2-7425-4FA8-AF03-683845491D6B}" sibTransId="{AEA87EF1-8939-401F-BA43-C5E41611BA92}"/>
    <dgm:cxn modelId="{E6E09A71-1E38-4C08-8CB8-D71DF4C1D133}" type="presOf" srcId="{539B6E09-12E8-425A-849A-B2EB451AB2CE}" destId="{4CA87826-C166-43D1-907D-844F917DB310}" srcOrd="0" destOrd="0" presId="urn:microsoft.com/office/officeart/2005/8/layout/vList2"/>
    <dgm:cxn modelId="{FF72EB6C-FD97-41D1-9181-6D3C004D0263}" srcId="{C712E115-8550-48E8-8097-E08E06F7B1C5}" destId="{539B6E09-12E8-425A-849A-B2EB451AB2CE}" srcOrd="0" destOrd="0" parTransId="{F4510A27-9E50-4DF2-A92F-8B87996080C8}" sibTransId="{E9F4000C-B8E9-4682-A7DA-D9F2C4C6F053}"/>
    <dgm:cxn modelId="{6AEE1AA9-B43F-4588-A75C-BB1ADF6384A8}" type="presOf" srcId="{09A3A2ED-746B-4C57-B8FA-1ACACCEABBD0}" destId="{4CA87826-C166-43D1-907D-844F917DB310}" srcOrd="0" destOrd="1" presId="urn:microsoft.com/office/officeart/2005/8/layout/vList2"/>
    <dgm:cxn modelId="{18B8069F-91EC-4895-A0DE-F2E88BA00D67}" type="presOf" srcId="{327E2E8F-42E0-4909-B6CA-8C94C1B17781}" destId="{17DE0A7D-0BB5-44BC-91F3-4FE37C717A54}" srcOrd="0" destOrd="0" presId="urn:microsoft.com/office/officeart/2005/8/layout/vList2"/>
    <dgm:cxn modelId="{AF42B9E9-B603-412F-9958-092C84BDB0B9}" type="presOf" srcId="{A4F0D164-CE27-41E3-B8D3-B957850C8B36}" destId="{59BCB4E6-3AE4-4915-B38C-C3C13DE8A3C7}" srcOrd="0" destOrd="0" presId="urn:microsoft.com/office/officeart/2005/8/layout/vList2"/>
    <dgm:cxn modelId="{46F8E938-2BD5-4051-ADCD-285775432822}" srcId="{327E2E8F-42E0-4909-B6CA-8C94C1B17781}" destId="{C712E115-8550-48E8-8097-E08E06F7B1C5}" srcOrd="0" destOrd="0" parTransId="{295E6FAB-80AF-4A35-BDBD-83D82BA90BF4}" sibTransId="{2D329F98-E246-4A28-8114-A62BD0F85A6E}"/>
    <dgm:cxn modelId="{B8926723-276A-4C87-816A-2185F6621D69}" type="presParOf" srcId="{17DE0A7D-0BB5-44BC-91F3-4FE37C717A54}" destId="{6642D94D-94B6-40B9-8DE4-7C541811FBD1}" srcOrd="0" destOrd="0" presId="urn:microsoft.com/office/officeart/2005/8/layout/vList2"/>
    <dgm:cxn modelId="{6F0D376B-B883-4C80-A190-19AADCA58423}" type="presParOf" srcId="{17DE0A7D-0BB5-44BC-91F3-4FE37C717A54}" destId="{4CA87826-C166-43D1-907D-844F917DB310}" srcOrd="1" destOrd="0" presId="urn:microsoft.com/office/officeart/2005/8/layout/vList2"/>
    <dgm:cxn modelId="{6E619D46-FF4F-4396-9042-9611DF8AE429}" type="presParOf" srcId="{17DE0A7D-0BB5-44BC-91F3-4FE37C717A54}" destId="{59BCB4E6-3AE4-4915-B38C-C3C13DE8A3C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2D94D-94B6-40B9-8DE4-7C541811FBD1}">
      <dsp:nvSpPr>
        <dsp:cNvPr id="0" name=""/>
        <dsp:cNvSpPr/>
      </dsp:nvSpPr>
      <dsp:spPr>
        <a:xfrm>
          <a:off x="0" y="24394"/>
          <a:ext cx="475252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4100" kern="1200" dirty="0" err="1" smtClean="0"/>
            <a:t>Verilog</a:t>
          </a:r>
          <a:r>
            <a:rPr lang="es-ES" sz="4100" kern="1200" dirty="0" smtClean="0"/>
            <a:t> con Xilinx</a:t>
          </a:r>
          <a:endParaRPr lang="es-ES" sz="4100" kern="1200" dirty="0"/>
        </a:p>
      </dsp:txBody>
      <dsp:txXfrm>
        <a:off x="46834" y="71228"/>
        <a:ext cx="4658859" cy="865732"/>
      </dsp:txXfrm>
    </dsp:sp>
    <dsp:sp modelId="{4CA87826-C166-43D1-907D-844F917DB310}">
      <dsp:nvSpPr>
        <dsp:cNvPr id="0" name=""/>
        <dsp:cNvSpPr/>
      </dsp:nvSpPr>
      <dsp:spPr>
        <a:xfrm>
          <a:off x="0" y="983794"/>
          <a:ext cx="4752527" cy="1060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893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s-ES" sz="3200" kern="1200" dirty="0" err="1" smtClean="0"/>
            <a:t>RegyComb</a:t>
          </a:r>
          <a:endParaRPr lang="es-E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s-ES" sz="3200" kern="1200" dirty="0" smtClean="0"/>
            <a:t>RegyComb2</a:t>
          </a:r>
          <a:endParaRPr lang="es-ES" sz="3200" kern="1200" dirty="0"/>
        </a:p>
      </dsp:txBody>
      <dsp:txXfrm>
        <a:off x="0" y="983794"/>
        <a:ext cx="4752527" cy="1060874"/>
      </dsp:txXfrm>
    </dsp:sp>
    <dsp:sp modelId="{59BCB4E6-3AE4-4915-B38C-C3C13DE8A3C7}">
      <dsp:nvSpPr>
        <dsp:cNvPr id="0" name=""/>
        <dsp:cNvSpPr/>
      </dsp:nvSpPr>
      <dsp:spPr>
        <a:xfrm>
          <a:off x="0" y="2044669"/>
          <a:ext cx="475252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4100" kern="1200" dirty="0"/>
        </a:p>
      </dsp:txBody>
      <dsp:txXfrm>
        <a:off x="46834" y="2091503"/>
        <a:ext cx="4658859" cy="865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4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641D9D7-1BCE-40E1-9338-F15CD5B5D82C}" type="datetimeFigureOut">
              <a:rPr lang="es-ES" smtClean="0"/>
              <a:t>30/08/2021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CA6CA60-FFD4-48FF-A235-436DE00AFB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654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6CA60-FFD4-48FF-A235-436DE00AFB4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32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834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69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83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19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22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3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3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86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58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89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7890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33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5654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66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25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9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7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package" Target="../embeddings/Hoja_de_c_lculo_de_Microsoft_Excel2.xlsx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3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4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5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Hoja_de_c_lculo_de_Microsoft_Excel8.xlsx"/><Relationship Id="rId13" Type="http://schemas.openxmlformats.org/officeDocument/2006/relationships/image" Target="../media/image17.emf"/><Relationship Id="rId3" Type="http://schemas.openxmlformats.org/officeDocument/2006/relationships/image" Target="../media/image18.png"/><Relationship Id="rId21" Type="http://schemas.openxmlformats.org/officeDocument/2006/relationships/image" Target="../media/image150.png"/><Relationship Id="rId7" Type="http://schemas.openxmlformats.org/officeDocument/2006/relationships/image" Target="../media/image14.emf"/><Relationship Id="rId12" Type="http://schemas.openxmlformats.org/officeDocument/2006/relationships/package" Target="../embeddings/Hoja_de_c_lculo_de_Microsoft_Excel10.xlsx"/><Relationship Id="rId2" Type="http://schemas.openxmlformats.org/officeDocument/2006/relationships/slideLayout" Target="../slideLayouts/slideLayout14.xml"/><Relationship Id="rId20" Type="http://schemas.openxmlformats.org/officeDocument/2006/relationships/image" Target="../media/image14.png"/><Relationship Id="rId1" Type="http://schemas.openxmlformats.org/officeDocument/2006/relationships/vmlDrawing" Target="../drawings/vmlDrawing5.vml"/><Relationship Id="rId6" Type="http://schemas.openxmlformats.org/officeDocument/2006/relationships/package" Target="../embeddings/Hoja_de_c_lculo_de_Microsoft_Excel7.xlsx"/><Relationship Id="rId11" Type="http://schemas.openxmlformats.org/officeDocument/2006/relationships/image" Target="../media/image16.emf"/><Relationship Id="rId24" Type="http://schemas.openxmlformats.org/officeDocument/2006/relationships/hyperlink" Target="file:///D:\Dropbox\00%20Sergio\UTN\Academico\TD1\Simulaciones\Proteus\Mux%204%20a%201%20P35%20a.pdsprj" TargetMode="External"/><Relationship Id="rId5" Type="http://schemas.openxmlformats.org/officeDocument/2006/relationships/image" Target="../media/image13.emf"/><Relationship Id="rId23" Type="http://schemas.openxmlformats.org/officeDocument/2006/relationships/image" Target="../media/image19.png"/><Relationship Id="rId10" Type="http://schemas.openxmlformats.org/officeDocument/2006/relationships/package" Target="../embeddings/Hoja_de_c_lculo_de_Microsoft_Excel9.xlsx"/><Relationship Id="rId19" Type="http://schemas.openxmlformats.org/officeDocument/2006/relationships/image" Target="../media/image13.png"/><Relationship Id="rId4" Type="http://schemas.openxmlformats.org/officeDocument/2006/relationships/package" Target="../embeddings/Hoja_de_c_lculo_de_Microsoft_Excel6.xlsx"/><Relationship Id="rId9" Type="http://schemas.openxmlformats.org/officeDocument/2006/relationships/image" Target="../media/image15.emf"/><Relationship Id="rId22" Type="http://schemas.openxmlformats.org/officeDocument/2006/relationships/image" Target="../media/image1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Hoja_de_c_lculo_de_Microsoft_Excel13.xlsx"/><Relationship Id="rId13" Type="http://schemas.openxmlformats.org/officeDocument/2006/relationships/image" Target="../media/image17.emf"/><Relationship Id="rId3" Type="http://schemas.openxmlformats.org/officeDocument/2006/relationships/image" Target="../media/image18.png"/><Relationship Id="rId21" Type="http://schemas.openxmlformats.org/officeDocument/2006/relationships/image" Target="../media/image150.png"/><Relationship Id="rId7" Type="http://schemas.openxmlformats.org/officeDocument/2006/relationships/image" Target="../media/image14.emf"/><Relationship Id="rId12" Type="http://schemas.openxmlformats.org/officeDocument/2006/relationships/package" Target="../embeddings/Hoja_de_c_lculo_de_Microsoft_Excel15.xlsx"/><Relationship Id="rId2" Type="http://schemas.openxmlformats.org/officeDocument/2006/relationships/slideLayout" Target="../slideLayouts/slideLayout14.xml"/><Relationship Id="rId20" Type="http://schemas.openxmlformats.org/officeDocument/2006/relationships/image" Target="../media/image14.png"/><Relationship Id="rId1" Type="http://schemas.openxmlformats.org/officeDocument/2006/relationships/vmlDrawing" Target="../drawings/vmlDrawing6.vml"/><Relationship Id="rId6" Type="http://schemas.openxmlformats.org/officeDocument/2006/relationships/package" Target="../embeddings/Hoja_de_c_lculo_de_Microsoft_Excel12.xlsx"/><Relationship Id="rId11" Type="http://schemas.openxmlformats.org/officeDocument/2006/relationships/image" Target="../media/image16.emf"/><Relationship Id="rId5" Type="http://schemas.openxmlformats.org/officeDocument/2006/relationships/image" Target="../media/image13.emf"/><Relationship Id="rId10" Type="http://schemas.openxmlformats.org/officeDocument/2006/relationships/package" Target="../embeddings/Hoja_de_c_lculo_de_Microsoft_Excel14.xlsx"/><Relationship Id="rId19" Type="http://schemas.openxmlformats.org/officeDocument/2006/relationships/image" Target="../media/image13.png"/><Relationship Id="rId4" Type="http://schemas.openxmlformats.org/officeDocument/2006/relationships/package" Target="../embeddings/Hoja_de_c_lculo_de_Microsoft_Excel11.xlsx"/><Relationship Id="rId9" Type="http://schemas.openxmlformats.org/officeDocument/2006/relationships/image" Target="../media/image15.emf"/><Relationship Id="rId22" Type="http://schemas.openxmlformats.org/officeDocument/2006/relationships/image" Target="../media/image1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6.xlsx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hyperlink" Target="file:///D:\Dropbox\00%20Sergio\UTN\Academico\TD1\Simulaciones\Proteus\Mux%208%20a%201%20P32%20b.pdsprj" TargetMode="Externa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Hoja_de_c_lculo_de_Microsoft_Excel19.xlsx"/><Relationship Id="rId13" Type="http://schemas.openxmlformats.org/officeDocument/2006/relationships/image" Target="../media/image30.png"/><Relationship Id="rId3" Type="http://schemas.openxmlformats.org/officeDocument/2006/relationships/image" Target="../media/image18.png"/><Relationship Id="rId7" Type="http://schemas.openxmlformats.org/officeDocument/2006/relationships/image" Target="../media/image27.emf"/><Relationship Id="rId12" Type="http://schemas.openxmlformats.org/officeDocument/2006/relationships/image" Target="../media/image29.e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3.png"/><Relationship Id="rId1" Type="http://schemas.openxmlformats.org/officeDocument/2006/relationships/vmlDrawing" Target="../drawings/vmlDrawing8.vml"/><Relationship Id="rId6" Type="http://schemas.openxmlformats.org/officeDocument/2006/relationships/package" Target="../embeddings/Hoja_de_c_lculo_de_Microsoft_Excel18.xlsx"/><Relationship Id="rId11" Type="http://schemas.openxmlformats.org/officeDocument/2006/relationships/package" Target="../embeddings/Hoja_de_c_lculo_de_Microsoft_Excel21.xlsx"/><Relationship Id="rId5" Type="http://schemas.openxmlformats.org/officeDocument/2006/relationships/image" Target="../media/image26.emf"/><Relationship Id="rId15" Type="http://schemas.openxmlformats.org/officeDocument/2006/relationships/image" Target="../media/image32.png"/><Relationship Id="rId10" Type="http://schemas.openxmlformats.org/officeDocument/2006/relationships/package" Target="../embeddings/Hoja_de_c_lculo_de_Microsoft_Excel20.xlsx"/><Relationship Id="rId4" Type="http://schemas.openxmlformats.org/officeDocument/2006/relationships/package" Target="../embeddings/Hoja_de_c_lculo_de_Microsoft_Excel17.xlsx"/><Relationship Id="rId9" Type="http://schemas.openxmlformats.org/officeDocument/2006/relationships/image" Target="../media/image28.emf"/><Relationship Id="rId1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3" name="Rectángulo 2"/>
          <p:cNvSpPr/>
          <p:nvPr/>
        </p:nvSpPr>
        <p:spPr>
          <a:xfrm>
            <a:off x="3668261" y="4937352"/>
            <a:ext cx="334474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4000" b="1" cap="none" spc="0" dirty="0" smtClean="0">
                <a:ln/>
                <a:solidFill>
                  <a:schemeClr val="tx2">
                    <a:lumMod val="75000"/>
                  </a:schemeClr>
                </a:solidFill>
                <a:effectLst/>
              </a:rPr>
              <a:t>Bienvenidos</a:t>
            </a:r>
          </a:p>
          <a:p>
            <a:pPr algn="ctr"/>
            <a:r>
              <a:rPr lang="es-ES" sz="4000" b="1" cap="none" spc="0" dirty="0" smtClean="0">
                <a:ln/>
                <a:solidFill>
                  <a:schemeClr val="tx2">
                    <a:lumMod val="75000"/>
                  </a:schemeClr>
                </a:solidFill>
                <a:effectLst/>
              </a:rPr>
              <a:t>Año 2020</a:t>
            </a:r>
            <a:endParaRPr lang="es-ES" sz="5400" b="1" cap="none" spc="0" dirty="0">
              <a:ln/>
              <a:solidFill>
                <a:schemeClr val="tx2">
                  <a:lumMod val="75000"/>
                </a:schemeClr>
              </a:solidFill>
              <a:effectLst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679647" y="2854482"/>
            <a:ext cx="113043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TD1</a:t>
            </a:r>
            <a:endParaRPr lang="es-ES" sz="40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5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 rot="925651">
            <a:off x="7024018" y="3326189"/>
            <a:ext cx="5750825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500" b="0" cap="none" spc="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Esperando que se conecten</a:t>
            </a:r>
          </a:p>
          <a:p>
            <a:pPr algn="ctr"/>
            <a:r>
              <a:rPr lang="es-ES" sz="250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Al ZOOM</a:t>
            </a:r>
            <a:endParaRPr lang="es-ES" sz="2500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7" name="Imagen 16"/>
          <p:cNvPicPr/>
          <p:nvPr/>
        </p:nvPicPr>
        <p:blipFill>
          <a:blip r:embed="rId3"/>
          <a:stretch>
            <a:fillRect/>
          </a:stretch>
        </p:blipFill>
        <p:spPr>
          <a:xfrm>
            <a:off x="7020326" y="229606"/>
            <a:ext cx="4111329" cy="1571536"/>
          </a:xfrm>
          <a:prstGeom prst="rect">
            <a:avLst/>
          </a:prstGeom>
        </p:spPr>
      </p:pic>
      <p:sp>
        <p:nvSpPr>
          <p:cNvPr id="6" name="Pergamino horizontal 5"/>
          <p:cNvSpPr/>
          <p:nvPr/>
        </p:nvSpPr>
        <p:spPr>
          <a:xfrm>
            <a:off x="259661" y="478218"/>
            <a:ext cx="3456384" cy="3084150"/>
          </a:xfrm>
          <a:prstGeom prst="horizontalScrol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Cuarentena</a:t>
            </a:r>
          </a:p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Día</a:t>
            </a:r>
          </a:p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145</a:t>
            </a:r>
          </a:p>
          <a:p>
            <a:pPr algn="ctr"/>
            <a:r>
              <a:rPr lang="es-ES" sz="3500" dirty="0" smtClean="0">
                <a:solidFill>
                  <a:srgbClr val="FF0000"/>
                </a:solidFill>
              </a:rPr>
              <a:t>03/08/2020</a:t>
            </a:r>
            <a:endParaRPr lang="es-ES" sz="3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9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-378048" y="2308615"/>
            <a:ext cx="6198406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3000" b="1" cap="none" spc="0" dirty="0" smtClean="0">
                <a:ln/>
                <a:solidFill>
                  <a:schemeClr val="accent3"/>
                </a:solidFill>
                <a:effectLst/>
              </a:rPr>
              <a:t>Para entrar al ZOOM.2020</a:t>
            </a:r>
          </a:p>
          <a:p>
            <a:pPr algn="ctr"/>
            <a:endParaRPr lang="es-ES" sz="30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3498516" y="977193"/>
            <a:ext cx="6018524" cy="10714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spc="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Nuevas directivas</a:t>
            </a:r>
            <a:endParaRPr lang="es-ES" sz="4000" spc="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1231319" y="5347475"/>
            <a:ext cx="7689186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5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No cumplir, deberé eliminarlo y no podrán volver a entrar a la sección.</a:t>
            </a:r>
            <a:endParaRPr lang="es-ES" sz="25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3" name="Llamada rectangular 12"/>
          <p:cNvSpPr/>
          <p:nvPr/>
        </p:nvSpPr>
        <p:spPr>
          <a:xfrm>
            <a:off x="9732245" y="3611871"/>
            <a:ext cx="2032000" cy="1701692"/>
          </a:xfrm>
          <a:prstGeom prst="wedgeRectCallout">
            <a:avLst>
              <a:gd name="adj1" fmla="val -66304"/>
              <a:gd name="adj2" fmla="val 1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Espero no ofender a nadie, pero es por seguridad de todos</a:t>
            </a:r>
            <a:endParaRPr lang="es-ES" dirty="0"/>
          </a:p>
        </p:txBody>
      </p:sp>
      <p:sp>
        <p:nvSpPr>
          <p:cNvPr id="14" name="Rectángulo 13"/>
          <p:cNvSpPr/>
          <p:nvPr/>
        </p:nvSpPr>
        <p:spPr>
          <a:xfrm>
            <a:off x="756662" y="3033597"/>
            <a:ext cx="897558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Deben </a:t>
            </a:r>
            <a:r>
              <a:rPr lang="es-ES" sz="3200" b="1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ser usuario registrado de ZOOM</a:t>
            </a:r>
            <a:endParaRPr lang="es-ES" sz="3200" i="1" dirty="0" smtClean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s-ES" sz="3200" i="1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endParaRPr lang="es-ES" sz="3200" i="1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s-ES" sz="3200" b="1" cap="none" spc="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Deben figurar: </a:t>
            </a:r>
            <a:r>
              <a:rPr lang="es-ES" sz="3200" i="1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Curso </a:t>
            </a:r>
            <a:r>
              <a:rPr lang="es-ES" sz="3200" i="1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Legajo Apellido </a:t>
            </a:r>
            <a:r>
              <a:rPr lang="es-ES" sz="3200" b="0" i="1" cap="none" spc="0" dirty="0" smtClean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y nombre </a:t>
            </a:r>
            <a:endParaRPr lang="es-ES" sz="3200" b="0" i="1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Rectángulo 14"/>
          <p:cNvSpPr>
            <a:spLocks noChangeArrowheads="1"/>
          </p:cNvSpPr>
          <p:nvPr/>
        </p:nvSpPr>
        <p:spPr bwMode="auto">
          <a:xfrm>
            <a:off x="1857140" y="321457"/>
            <a:ext cx="916940" cy="919480"/>
          </a:xfrm>
          <a:prstGeom prst="rect">
            <a:avLst/>
          </a:prstGeom>
          <a:noFill/>
          <a:ln w="76200">
            <a:solidFill>
              <a:srgbClr val="0071C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es-ES"/>
          </a:p>
        </p:txBody>
      </p:sp>
      <p:sp>
        <p:nvSpPr>
          <p:cNvPr id="16" name="Rectángulo 15"/>
          <p:cNvSpPr/>
          <p:nvPr/>
        </p:nvSpPr>
        <p:spPr>
          <a:xfrm>
            <a:off x="2306470" y="493642"/>
            <a:ext cx="829371" cy="6621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TUP</a:t>
            </a:r>
            <a:endParaRPr lang="es-ES" sz="2400" dirty="0"/>
          </a:p>
        </p:txBody>
      </p:sp>
      <p:sp>
        <p:nvSpPr>
          <p:cNvPr id="17" name="Rectángulo 16"/>
          <p:cNvSpPr/>
          <p:nvPr/>
        </p:nvSpPr>
        <p:spPr>
          <a:xfrm>
            <a:off x="-92310" y="286411"/>
            <a:ext cx="18894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TECNICATURA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UNIVERSITARIA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EN PROGRAMACIÓN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 eaLnBrk="0" fontAlgn="base" hangingPunct="0">
              <a:spcAft>
                <a:spcPts val="0"/>
              </a:spcAft>
            </a:pPr>
            <a:r>
              <a:rPr lang="es-ES" sz="1200" dirty="0">
                <a:solidFill>
                  <a:srgbClr val="0071CE"/>
                </a:solidFill>
                <a:latin typeface="Montserrat SemiBold"/>
                <a:ea typeface="Times New Roman" panose="02020603050405020304" pitchFamily="18" charset="0"/>
              </a:rPr>
              <a:t>UTN-FRC</a:t>
            </a:r>
            <a:endParaRPr lang="es-ES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888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0" tmFilter="0, 0; .2, .5; .8, .5; 1, 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0" autoRev="1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repeatCount="1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0" tmFilter="0, 0; .2, .5; .8, .5; 1, 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0" autoRev="1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repeatCount="1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0" tmFilter="0, 0; .2, .5; .8, .5; 1, 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0" autoRev="1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build="p" rev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519077" y="1120617"/>
            <a:ext cx="10071586" cy="3777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endParaRPr lang="es-ES" sz="2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bo 1"/>
          <p:cNvSpPr/>
          <p:nvPr/>
        </p:nvSpPr>
        <p:spPr>
          <a:xfrm>
            <a:off x="241131" y="95534"/>
            <a:ext cx="10108817" cy="1025083"/>
          </a:xfrm>
          <a:prstGeom prst="cube">
            <a:avLst>
              <a:gd name="adj" fmla="val 263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/>
              <a:t>Unidad Temática Nº 5:. Circuitos </a:t>
            </a:r>
            <a:r>
              <a:rPr lang="es-ES" sz="2600" dirty="0" err="1"/>
              <a:t>combinacionales</a:t>
            </a:r>
            <a:r>
              <a:rPr lang="es-ES" sz="2600" dirty="0"/>
              <a:t>. (Cap. 4)</a:t>
            </a:r>
          </a:p>
          <a:p>
            <a:pPr algn="ctr"/>
            <a:endParaRPr lang="es-ES" sz="2600" dirty="0"/>
          </a:p>
        </p:txBody>
      </p:sp>
      <p:sp>
        <p:nvSpPr>
          <p:cNvPr id="3" name="Flecha doblada 2"/>
          <p:cNvSpPr/>
          <p:nvPr/>
        </p:nvSpPr>
        <p:spPr>
          <a:xfrm rot="14305691" flipH="1">
            <a:off x="388433" y="784040"/>
            <a:ext cx="450051" cy="534465"/>
          </a:xfrm>
          <a:prstGeom prst="bentArrow">
            <a:avLst>
              <a:gd name="adj1" fmla="val 25000"/>
              <a:gd name="adj2" fmla="val 14914"/>
              <a:gd name="adj3" fmla="val 25000"/>
              <a:gd name="adj4" fmla="val 54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65016" y="1382905"/>
            <a:ext cx="10755969" cy="30469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err="1" smtClean="0"/>
              <a:t>Verilog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Circuitos </a:t>
            </a:r>
            <a:r>
              <a:rPr lang="es-ES" sz="2400" dirty="0" err="1"/>
              <a:t>combinacionales</a:t>
            </a:r>
            <a:r>
              <a:rPr lang="es-ES" sz="2400" dirty="0"/>
              <a:t> </a:t>
            </a:r>
            <a:r>
              <a:rPr lang="es-ES" sz="2400" dirty="0" smtClean="0"/>
              <a:t>básicos.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Registros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buses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Resolver </a:t>
            </a:r>
            <a:r>
              <a:rPr lang="es-ES" sz="2400" dirty="0"/>
              <a:t>problemas </a:t>
            </a:r>
            <a:r>
              <a:rPr lang="es-ES" sz="2400" dirty="0" smtClean="0"/>
              <a:t>con Decodificadores, Multiplexores</a:t>
            </a:r>
            <a:r>
              <a:rPr lang="es-ES" sz="2400" dirty="0"/>
              <a:t>, </a:t>
            </a:r>
            <a:r>
              <a:rPr lang="es-ES" sz="2400" dirty="0" err="1"/>
              <a:t>Demultiplexores</a:t>
            </a:r>
            <a:r>
              <a:rPr lang="es-ES" sz="2400" dirty="0" smtClean="0"/>
              <a:t>,,Codificadores </a:t>
            </a:r>
            <a:r>
              <a:rPr lang="es-ES" sz="2400" dirty="0"/>
              <a:t>con </a:t>
            </a:r>
            <a:r>
              <a:rPr lang="es-ES" sz="2400" dirty="0" err="1" smtClean="0"/>
              <a:t>Verilog</a:t>
            </a:r>
            <a:r>
              <a:rPr lang="es-ES" sz="2400" dirty="0" smtClean="0"/>
              <a:t>.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Funciones con multiplexores – </a:t>
            </a:r>
            <a:r>
              <a:rPr lang="es-ES" sz="2400" dirty="0" err="1" smtClean="0"/>
              <a:t>Sincronos</a:t>
            </a:r>
            <a:r>
              <a:rPr lang="es-ES" sz="2400" dirty="0" smtClean="0"/>
              <a:t> y </a:t>
            </a:r>
            <a:r>
              <a:rPr lang="es-ES" sz="2400" dirty="0" err="1" smtClean="0"/>
              <a:t>combinacionales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650624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519077" y="1120617"/>
            <a:ext cx="10071586" cy="3777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endParaRPr lang="es-ES" sz="2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bo 1"/>
          <p:cNvSpPr/>
          <p:nvPr/>
        </p:nvSpPr>
        <p:spPr>
          <a:xfrm>
            <a:off x="191344" y="26189"/>
            <a:ext cx="10108817" cy="1025083"/>
          </a:xfrm>
          <a:prstGeom prst="cube">
            <a:avLst>
              <a:gd name="adj" fmla="val 263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/>
              <a:t>Unidad Temática Nº 5:. Circuitos </a:t>
            </a:r>
            <a:r>
              <a:rPr lang="es-ES" sz="2600" dirty="0" err="1"/>
              <a:t>combinacionales</a:t>
            </a:r>
            <a:r>
              <a:rPr lang="es-ES" sz="2600" dirty="0"/>
              <a:t>. (Cap. 4)</a:t>
            </a:r>
          </a:p>
          <a:p>
            <a:pPr algn="ctr"/>
            <a:endParaRPr lang="es-ES" sz="2600" dirty="0"/>
          </a:p>
        </p:txBody>
      </p:sp>
      <p:sp>
        <p:nvSpPr>
          <p:cNvPr id="3" name="Flecha doblada 2"/>
          <p:cNvSpPr/>
          <p:nvPr/>
        </p:nvSpPr>
        <p:spPr>
          <a:xfrm rot="14305691" flipH="1">
            <a:off x="388433" y="784040"/>
            <a:ext cx="450051" cy="534465"/>
          </a:xfrm>
          <a:prstGeom prst="bentArrow">
            <a:avLst>
              <a:gd name="adj1" fmla="val 25000"/>
              <a:gd name="adj2" fmla="val 14914"/>
              <a:gd name="adj3" fmla="val 25000"/>
              <a:gd name="adj4" fmla="val 54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65017" y="1382905"/>
            <a:ext cx="2522672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err="1" smtClean="0"/>
              <a:t>Verilog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Registros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buses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err="1" smtClean="0"/>
              <a:t>clk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s-ES" sz="2400" dirty="0"/>
          </a:p>
        </p:txBody>
      </p:sp>
      <p:sp>
        <p:nvSpPr>
          <p:cNvPr id="5" name="Rectángulo 4"/>
          <p:cNvSpPr/>
          <p:nvPr/>
        </p:nvSpPr>
        <p:spPr>
          <a:xfrm>
            <a:off x="4346589" y="1190381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/>
              <a:t>module </a:t>
            </a:r>
            <a:r>
              <a:rPr lang="es-ES" dirty="0" err="1"/>
              <a:t>RegyComb</a:t>
            </a:r>
            <a:r>
              <a:rPr lang="es-ES" dirty="0"/>
              <a:t>(</a:t>
            </a:r>
          </a:p>
          <a:p>
            <a:r>
              <a:rPr lang="es-ES" dirty="0"/>
              <a:t>    input </a:t>
            </a:r>
            <a:r>
              <a:rPr lang="es-ES" dirty="0" err="1"/>
              <a:t>clock</a:t>
            </a:r>
            <a:r>
              <a:rPr lang="es-ES" dirty="0"/>
              <a:t>,</a:t>
            </a:r>
          </a:p>
          <a:p>
            <a:r>
              <a:rPr lang="es-ES" dirty="0"/>
              <a:t>    input a,</a:t>
            </a:r>
          </a:p>
          <a:p>
            <a:r>
              <a:rPr lang="es-ES" dirty="0"/>
              <a:t>    input b,</a:t>
            </a:r>
          </a:p>
          <a:p>
            <a:r>
              <a:rPr lang="es-ES" dirty="0"/>
              <a:t>    input c,</a:t>
            </a:r>
          </a:p>
          <a:p>
            <a:r>
              <a:rPr lang="es-ES" dirty="0"/>
              <a:t>    output sal,</a:t>
            </a:r>
          </a:p>
          <a:p>
            <a:r>
              <a:rPr lang="es-ES" dirty="0"/>
              <a:t>    output sal2,</a:t>
            </a:r>
          </a:p>
          <a:p>
            <a:r>
              <a:rPr lang="es-ES" dirty="0"/>
              <a:t>    output </a:t>
            </a:r>
            <a:r>
              <a:rPr lang="es-ES" dirty="0" err="1"/>
              <a:t>reg</a:t>
            </a:r>
            <a:r>
              <a:rPr lang="es-ES" dirty="0"/>
              <a:t> </a:t>
            </a:r>
            <a:r>
              <a:rPr lang="es-ES" dirty="0" err="1"/>
              <a:t>Rsal</a:t>
            </a:r>
            <a:endParaRPr lang="es-ES" dirty="0"/>
          </a:p>
          <a:p>
            <a:r>
              <a:rPr lang="es-ES" dirty="0"/>
              <a:t>    );</a:t>
            </a:r>
          </a:p>
          <a:p>
            <a:endParaRPr lang="es-ES" dirty="0"/>
          </a:p>
          <a:p>
            <a:r>
              <a:rPr lang="es-ES" dirty="0"/>
              <a:t>//	</a:t>
            </a:r>
            <a:r>
              <a:rPr lang="es-ES" dirty="0" err="1"/>
              <a:t>assign</a:t>
            </a:r>
            <a:r>
              <a:rPr lang="es-ES" dirty="0"/>
              <a:t> sal=a &amp; b;</a:t>
            </a:r>
          </a:p>
          <a:p>
            <a:endParaRPr lang="es-ES" dirty="0"/>
          </a:p>
          <a:p>
            <a:r>
              <a:rPr lang="es-ES" dirty="0"/>
              <a:t>	</a:t>
            </a:r>
            <a:r>
              <a:rPr lang="es-ES" dirty="0" err="1"/>
              <a:t>assign</a:t>
            </a:r>
            <a:r>
              <a:rPr lang="es-ES" dirty="0"/>
              <a:t> sal2 = </a:t>
            </a:r>
            <a:r>
              <a:rPr lang="es-ES" dirty="0" err="1"/>
              <a:t>Rsal</a:t>
            </a:r>
            <a:r>
              <a:rPr lang="es-ES" dirty="0"/>
              <a:t> | b;</a:t>
            </a:r>
          </a:p>
          <a:p>
            <a:endParaRPr lang="es-ES" dirty="0"/>
          </a:p>
          <a:p>
            <a:r>
              <a:rPr lang="es-ES" dirty="0"/>
              <a:t>	</a:t>
            </a:r>
            <a:r>
              <a:rPr lang="es-ES" dirty="0" err="1"/>
              <a:t>always</a:t>
            </a:r>
            <a:r>
              <a:rPr lang="es-ES" dirty="0"/>
              <a:t> @(</a:t>
            </a:r>
            <a:r>
              <a:rPr lang="es-ES" dirty="0" err="1"/>
              <a:t>posedge</a:t>
            </a:r>
            <a:r>
              <a:rPr lang="es-ES" dirty="0"/>
              <a:t> </a:t>
            </a:r>
            <a:r>
              <a:rPr lang="es-ES" dirty="0" err="1"/>
              <a:t>clock</a:t>
            </a:r>
            <a:r>
              <a:rPr lang="es-ES" dirty="0"/>
              <a:t> )</a:t>
            </a:r>
          </a:p>
          <a:p>
            <a:r>
              <a:rPr lang="es-ES" dirty="0"/>
              <a:t>      </a:t>
            </a:r>
            <a:r>
              <a:rPr lang="es-ES" dirty="0" err="1"/>
              <a:t>Rsal</a:t>
            </a:r>
            <a:r>
              <a:rPr lang="es-ES" dirty="0"/>
              <a:t> = c | b;</a:t>
            </a:r>
          </a:p>
          <a:p>
            <a:r>
              <a:rPr lang="es-ES" dirty="0"/>
              <a:t>		</a:t>
            </a:r>
            <a:r>
              <a:rPr lang="es-ES" dirty="0" err="1"/>
              <a:t>assign</a:t>
            </a:r>
            <a:r>
              <a:rPr lang="es-ES" dirty="0"/>
              <a:t> sal=c | b;</a:t>
            </a:r>
          </a:p>
          <a:p>
            <a:r>
              <a:rPr lang="es-ES" dirty="0"/>
              <a:t>//		</a:t>
            </a:r>
            <a:r>
              <a:rPr lang="es-ES" dirty="0" err="1"/>
              <a:t>assign</a:t>
            </a:r>
            <a:r>
              <a:rPr lang="es-ES" dirty="0"/>
              <a:t> sal=a &amp; b;</a:t>
            </a:r>
          </a:p>
          <a:p>
            <a:endParaRPr lang="es-ES" dirty="0"/>
          </a:p>
          <a:p>
            <a:r>
              <a:rPr lang="es-ES" dirty="0" err="1"/>
              <a:t>endmodule</a:t>
            </a:r>
            <a:endParaRPr lang="es-ES" dirty="0"/>
          </a:p>
        </p:txBody>
      </p:sp>
      <p:sp>
        <p:nvSpPr>
          <p:cNvPr id="6" name="Flecha derecha 5"/>
          <p:cNvSpPr/>
          <p:nvPr/>
        </p:nvSpPr>
        <p:spPr>
          <a:xfrm rot="20008899" flipH="1">
            <a:off x="7635106" y="3771779"/>
            <a:ext cx="2808312" cy="13666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registro</a:t>
            </a:r>
            <a:endParaRPr lang="es-ES" dirty="0"/>
          </a:p>
        </p:txBody>
      </p:sp>
      <p:sp>
        <p:nvSpPr>
          <p:cNvPr id="11" name="Flecha derecha 10"/>
          <p:cNvSpPr/>
          <p:nvPr/>
        </p:nvSpPr>
        <p:spPr>
          <a:xfrm rot="20008899" flipH="1">
            <a:off x="6719221" y="2642587"/>
            <a:ext cx="2808312" cy="13666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Combinatorio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75488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519077" y="1120617"/>
            <a:ext cx="10071586" cy="3777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endParaRPr lang="es-ES" sz="2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bo 1"/>
          <p:cNvSpPr/>
          <p:nvPr/>
        </p:nvSpPr>
        <p:spPr>
          <a:xfrm>
            <a:off x="191344" y="26189"/>
            <a:ext cx="10108817" cy="1025083"/>
          </a:xfrm>
          <a:prstGeom prst="cube">
            <a:avLst>
              <a:gd name="adj" fmla="val 263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/>
              <a:t>Unidad Temática Nº 5:. Circuitos </a:t>
            </a:r>
            <a:r>
              <a:rPr lang="es-ES" sz="2600" dirty="0" err="1"/>
              <a:t>combinacionales</a:t>
            </a:r>
            <a:r>
              <a:rPr lang="es-ES" sz="2600" dirty="0"/>
              <a:t>. (Cap. 4)</a:t>
            </a:r>
          </a:p>
          <a:p>
            <a:pPr algn="ctr"/>
            <a:endParaRPr lang="es-ES" sz="2600" dirty="0"/>
          </a:p>
        </p:txBody>
      </p:sp>
      <p:sp>
        <p:nvSpPr>
          <p:cNvPr id="3" name="Flecha doblada 2"/>
          <p:cNvSpPr/>
          <p:nvPr/>
        </p:nvSpPr>
        <p:spPr>
          <a:xfrm rot="14305691" flipH="1">
            <a:off x="388433" y="784040"/>
            <a:ext cx="450051" cy="534465"/>
          </a:xfrm>
          <a:prstGeom prst="bentArrow">
            <a:avLst>
              <a:gd name="adj1" fmla="val 25000"/>
              <a:gd name="adj2" fmla="val 14914"/>
              <a:gd name="adj3" fmla="val 25000"/>
              <a:gd name="adj4" fmla="val 54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65017" y="1382905"/>
            <a:ext cx="2522672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err="1" smtClean="0"/>
              <a:t>Verilog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Registros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buses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err="1" smtClean="0"/>
              <a:t>clk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s-ES" sz="2400" dirty="0"/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3415106312"/>
              </p:ext>
            </p:extLst>
          </p:nvPr>
        </p:nvGraphicFramePr>
        <p:xfrm>
          <a:off x="3935760" y="2276872"/>
          <a:ext cx="4752527" cy="3028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9015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519077" y="1120617"/>
            <a:ext cx="10071586" cy="3777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endParaRPr lang="es-ES" sz="2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bo 1"/>
          <p:cNvSpPr/>
          <p:nvPr/>
        </p:nvSpPr>
        <p:spPr>
          <a:xfrm>
            <a:off x="241131" y="95534"/>
            <a:ext cx="10108817" cy="1025083"/>
          </a:xfrm>
          <a:prstGeom prst="cube">
            <a:avLst>
              <a:gd name="adj" fmla="val 263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/>
              <a:t>Unidad Temática Nº 5:. Circuitos </a:t>
            </a:r>
            <a:r>
              <a:rPr lang="es-ES" sz="2600" dirty="0" err="1"/>
              <a:t>combinacionales</a:t>
            </a:r>
            <a:r>
              <a:rPr lang="es-ES" sz="2600" dirty="0"/>
              <a:t>. (Cap. 4)</a:t>
            </a:r>
          </a:p>
          <a:p>
            <a:pPr algn="ctr"/>
            <a:endParaRPr lang="es-ES" sz="2600" dirty="0"/>
          </a:p>
        </p:txBody>
      </p:sp>
      <p:sp>
        <p:nvSpPr>
          <p:cNvPr id="3" name="Flecha doblada 2"/>
          <p:cNvSpPr/>
          <p:nvPr/>
        </p:nvSpPr>
        <p:spPr>
          <a:xfrm rot="14305691" flipH="1">
            <a:off x="388433" y="784040"/>
            <a:ext cx="450051" cy="534465"/>
          </a:xfrm>
          <a:prstGeom prst="bentArrow">
            <a:avLst>
              <a:gd name="adj1" fmla="val 25000"/>
              <a:gd name="adj2" fmla="val 14914"/>
              <a:gd name="adj3" fmla="val 25000"/>
              <a:gd name="adj4" fmla="val 54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96825" y="1315620"/>
            <a:ext cx="6779296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err="1" smtClean="0"/>
              <a:t>Verilog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Resolver </a:t>
            </a:r>
            <a:r>
              <a:rPr lang="es-ES" sz="2400" dirty="0"/>
              <a:t>problemas </a:t>
            </a:r>
            <a:r>
              <a:rPr lang="es-ES" sz="2400" dirty="0" smtClean="0"/>
              <a:t>con Decodificadores</a:t>
            </a:r>
            <a:endParaRPr lang="es-ES" sz="2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01" y="2808740"/>
            <a:ext cx="5581650" cy="311467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85" y="2547594"/>
            <a:ext cx="49149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808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519077" y="1120617"/>
            <a:ext cx="10071586" cy="3777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endParaRPr lang="es-ES" sz="2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bo 1"/>
          <p:cNvSpPr/>
          <p:nvPr/>
        </p:nvSpPr>
        <p:spPr>
          <a:xfrm>
            <a:off x="241131" y="95534"/>
            <a:ext cx="10108817" cy="1025083"/>
          </a:xfrm>
          <a:prstGeom prst="cube">
            <a:avLst>
              <a:gd name="adj" fmla="val 263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/>
              <a:t>Unidad Temática Nº 5:. Circuitos </a:t>
            </a:r>
            <a:r>
              <a:rPr lang="es-ES" sz="2600" dirty="0" err="1"/>
              <a:t>combinacionales</a:t>
            </a:r>
            <a:r>
              <a:rPr lang="es-ES" sz="2600" dirty="0"/>
              <a:t>. (Cap. 4)</a:t>
            </a:r>
          </a:p>
          <a:p>
            <a:pPr algn="ctr"/>
            <a:endParaRPr lang="es-ES" sz="2600" dirty="0"/>
          </a:p>
        </p:txBody>
      </p:sp>
      <p:sp>
        <p:nvSpPr>
          <p:cNvPr id="3" name="Flecha doblada 2"/>
          <p:cNvSpPr/>
          <p:nvPr/>
        </p:nvSpPr>
        <p:spPr>
          <a:xfrm rot="14305691" flipH="1">
            <a:off x="388433" y="784040"/>
            <a:ext cx="450051" cy="534465"/>
          </a:xfrm>
          <a:prstGeom prst="bentArrow">
            <a:avLst>
              <a:gd name="adj1" fmla="val 25000"/>
              <a:gd name="adj2" fmla="val 14914"/>
              <a:gd name="adj3" fmla="val 25000"/>
              <a:gd name="adj4" fmla="val 54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96825" y="1315620"/>
            <a:ext cx="6779296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err="1" smtClean="0"/>
              <a:t>Verilog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Resolver </a:t>
            </a:r>
            <a:r>
              <a:rPr lang="es-ES" sz="2400" dirty="0"/>
              <a:t>problemas </a:t>
            </a:r>
            <a:r>
              <a:rPr lang="es-ES" sz="2400" dirty="0" smtClean="0"/>
              <a:t>con Decodificadores</a:t>
            </a:r>
            <a:endParaRPr lang="es-ES" sz="2400" dirty="0"/>
          </a:p>
        </p:txBody>
      </p:sp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272035"/>
              </p:ext>
            </p:extLst>
          </p:nvPr>
        </p:nvGraphicFramePr>
        <p:xfrm>
          <a:off x="396825" y="4263250"/>
          <a:ext cx="2020887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2" name="Hoja de cálculo" r:id="rId3" imgW="2019428" imgH="2171616" progId="Excel.Sheet.12">
                  <p:embed/>
                </p:oleObj>
              </mc:Choice>
              <mc:Fallback>
                <p:oleObj name="Hoja de cálculo" r:id="rId3" imgW="2019428" imgH="217161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825" y="4263250"/>
                        <a:ext cx="2020887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418952"/>
              </p:ext>
            </p:extLst>
          </p:nvPr>
        </p:nvGraphicFramePr>
        <p:xfrm>
          <a:off x="396875" y="2257425"/>
          <a:ext cx="4719638" cy="189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3" name="Hoja de cálculo" r:id="rId5" imgW="4714787" imgH="2171616" progId="Excel.Sheet.12">
                  <p:embed/>
                </p:oleObj>
              </mc:Choice>
              <mc:Fallback>
                <p:oleObj name="Hoja de cálculo" r:id="rId5" imgW="4714787" imgH="217161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875" y="2257425"/>
                        <a:ext cx="4719638" cy="1893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Grupo 43"/>
          <p:cNvGrpSpPr/>
          <p:nvPr/>
        </p:nvGrpSpPr>
        <p:grpSpPr>
          <a:xfrm>
            <a:off x="5760898" y="2547594"/>
            <a:ext cx="1415899" cy="1255903"/>
            <a:chOff x="5052985" y="4354015"/>
            <a:chExt cx="1415899" cy="1255903"/>
          </a:xfrm>
        </p:grpSpPr>
        <p:sp>
          <p:nvSpPr>
            <p:cNvPr id="9" name="Rectángulo 8"/>
            <p:cNvSpPr/>
            <p:nvPr/>
          </p:nvSpPr>
          <p:spPr>
            <a:xfrm>
              <a:off x="5375920" y="4388746"/>
              <a:ext cx="792088" cy="12004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 err="1" smtClean="0"/>
                <a:t>Deco</a:t>
              </a:r>
              <a:endParaRPr lang="es-ES" sz="1400" dirty="0" smtClean="0"/>
            </a:p>
            <a:p>
              <a:pPr algn="ctr"/>
              <a:r>
                <a:rPr lang="es-ES" sz="1200" dirty="0" smtClean="0"/>
                <a:t>3</a:t>
              </a:r>
            </a:p>
            <a:p>
              <a:pPr algn="ctr"/>
              <a:r>
                <a:rPr lang="es-ES" sz="1200" dirty="0" smtClean="0"/>
                <a:t>a</a:t>
              </a:r>
            </a:p>
            <a:p>
              <a:pPr algn="ctr"/>
              <a:r>
                <a:rPr lang="es-ES" sz="1200" dirty="0" smtClean="0"/>
                <a:t>8 </a:t>
              </a:r>
              <a:r>
                <a:rPr lang="es-ES" sz="1200" dirty="0" err="1" smtClean="0"/>
                <a:t>lineas</a:t>
              </a:r>
              <a:endParaRPr lang="es-ES" sz="1200" dirty="0"/>
            </a:p>
          </p:txBody>
        </p:sp>
        <p:grpSp>
          <p:nvGrpSpPr>
            <p:cNvPr id="43" name="Grupo 42"/>
            <p:cNvGrpSpPr/>
            <p:nvPr/>
          </p:nvGrpSpPr>
          <p:grpSpPr>
            <a:xfrm>
              <a:off x="5052985" y="4354015"/>
              <a:ext cx="1415899" cy="1255903"/>
              <a:chOff x="5052985" y="4354015"/>
              <a:chExt cx="1415899" cy="1255903"/>
            </a:xfrm>
          </p:grpSpPr>
          <p:cxnSp>
            <p:nvCxnSpPr>
              <p:cNvPr id="14" name="Conector recto de flecha 13"/>
              <p:cNvCxnSpPr/>
              <p:nvPr/>
            </p:nvCxnSpPr>
            <p:spPr>
              <a:xfrm>
                <a:off x="6168008" y="4509120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CuadroTexto 18"/>
              <p:cNvSpPr txBox="1"/>
              <p:nvPr/>
            </p:nvSpPr>
            <p:spPr>
              <a:xfrm>
                <a:off x="5953591" y="4365104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 smtClean="0"/>
                  <a:t>0</a:t>
                </a:r>
                <a:endParaRPr lang="es-ES" sz="800" baseline="-25000" dirty="0"/>
              </a:p>
            </p:txBody>
          </p:sp>
          <p:cxnSp>
            <p:nvCxnSpPr>
              <p:cNvPr id="23" name="Conector recto de flecha 22"/>
              <p:cNvCxnSpPr/>
              <p:nvPr/>
            </p:nvCxnSpPr>
            <p:spPr>
              <a:xfrm>
                <a:off x="5087888" y="4522883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CuadroTexto 23"/>
              <p:cNvSpPr txBox="1"/>
              <p:nvPr/>
            </p:nvSpPr>
            <p:spPr>
              <a:xfrm>
                <a:off x="5063155" y="4354015"/>
                <a:ext cx="24558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/>
                  <a:t>A</a:t>
                </a:r>
                <a:endParaRPr lang="es-ES" sz="800" baseline="-25000" dirty="0"/>
              </a:p>
            </p:txBody>
          </p:sp>
          <p:cxnSp>
            <p:nvCxnSpPr>
              <p:cNvPr id="25" name="Conector recto de flecha 24"/>
              <p:cNvCxnSpPr/>
              <p:nvPr/>
            </p:nvCxnSpPr>
            <p:spPr>
              <a:xfrm>
                <a:off x="6174430" y="4664932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CuadroTexto 25"/>
              <p:cNvSpPr txBox="1"/>
              <p:nvPr/>
            </p:nvSpPr>
            <p:spPr>
              <a:xfrm>
                <a:off x="5960013" y="4520916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1</a:t>
                </a:r>
              </a:p>
            </p:txBody>
          </p:sp>
          <p:cxnSp>
            <p:nvCxnSpPr>
              <p:cNvPr id="27" name="Conector recto de flecha 26"/>
              <p:cNvCxnSpPr/>
              <p:nvPr/>
            </p:nvCxnSpPr>
            <p:spPr>
              <a:xfrm>
                <a:off x="6180852" y="4816958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CuadroTexto 27"/>
              <p:cNvSpPr txBox="1"/>
              <p:nvPr/>
            </p:nvSpPr>
            <p:spPr>
              <a:xfrm>
                <a:off x="5966435" y="4672942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 smtClean="0"/>
                  <a:t>2</a:t>
                </a:r>
                <a:endParaRPr lang="es-ES" sz="800" baseline="-25000" dirty="0"/>
              </a:p>
            </p:txBody>
          </p:sp>
          <p:cxnSp>
            <p:nvCxnSpPr>
              <p:cNvPr id="29" name="Conector recto de flecha 28"/>
              <p:cNvCxnSpPr/>
              <p:nvPr/>
            </p:nvCxnSpPr>
            <p:spPr>
              <a:xfrm>
                <a:off x="6180852" y="4971263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CuadroTexto 29"/>
              <p:cNvSpPr txBox="1"/>
              <p:nvPr/>
            </p:nvSpPr>
            <p:spPr>
              <a:xfrm>
                <a:off x="5966435" y="4827247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3</a:t>
                </a:r>
              </a:p>
            </p:txBody>
          </p:sp>
          <p:cxnSp>
            <p:nvCxnSpPr>
              <p:cNvPr id="31" name="Conector recto de flecha 30"/>
              <p:cNvCxnSpPr/>
              <p:nvPr/>
            </p:nvCxnSpPr>
            <p:spPr>
              <a:xfrm>
                <a:off x="6179799" y="5111192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CuadroTexto 31"/>
              <p:cNvSpPr txBox="1"/>
              <p:nvPr/>
            </p:nvSpPr>
            <p:spPr>
              <a:xfrm>
                <a:off x="5965382" y="4967176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4</a:t>
                </a:r>
              </a:p>
            </p:txBody>
          </p:sp>
          <p:cxnSp>
            <p:nvCxnSpPr>
              <p:cNvPr id="33" name="Conector recto de flecha 32"/>
              <p:cNvCxnSpPr/>
              <p:nvPr/>
            </p:nvCxnSpPr>
            <p:spPr>
              <a:xfrm>
                <a:off x="6174430" y="5256908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CuadroTexto 33"/>
              <p:cNvSpPr txBox="1"/>
              <p:nvPr/>
            </p:nvSpPr>
            <p:spPr>
              <a:xfrm>
                <a:off x="5960013" y="5112892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 smtClean="0"/>
                  <a:t>5</a:t>
                </a:r>
                <a:endParaRPr lang="es-ES" sz="800" baseline="-25000" dirty="0"/>
              </a:p>
            </p:txBody>
          </p:sp>
          <p:cxnSp>
            <p:nvCxnSpPr>
              <p:cNvPr id="35" name="Conector recto de flecha 34"/>
              <p:cNvCxnSpPr/>
              <p:nvPr/>
            </p:nvCxnSpPr>
            <p:spPr>
              <a:xfrm>
                <a:off x="6172656" y="5404269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CuadroTexto 35"/>
              <p:cNvSpPr txBox="1"/>
              <p:nvPr/>
            </p:nvSpPr>
            <p:spPr>
              <a:xfrm>
                <a:off x="5958239" y="5260253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6</a:t>
                </a:r>
              </a:p>
            </p:txBody>
          </p:sp>
          <p:cxnSp>
            <p:nvCxnSpPr>
              <p:cNvPr id="37" name="Conector recto de flecha 36"/>
              <p:cNvCxnSpPr/>
              <p:nvPr/>
            </p:nvCxnSpPr>
            <p:spPr>
              <a:xfrm>
                <a:off x="6173543" y="5538490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CuadroTexto 37"/>
              <p:cNvSpPr txBox="1"/>
              <p:nvPr/>
            </p:nvSpPr>
            <p:spPr>
              <a:xfrm>
                <a:off x="5959126" y="5394474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7</a:t>
                </a:r>
              </a:p>
            </p:txBody>
          </p:sp>
          <p:cxnSp>
            <p:nvCxnSpPr>
              <p:cNvPr id="39" name="Conector recto de flecha 38"/>
              <p:cNvCxnSpPr/>
              <p:nvPr/>
            </p:nvCxnSpPr>
            <p:spPr>
              <a:xfrm>
                <a:off x="5095918" y="4696306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CuadroTexto 39"/>
              <p:cNvSpPr txBox="1"/>
              <p:nvPr/>
            </p:nvSpPr>
            <p:spPr>
              <a:xfrm>
                <a:off x="5062113" y="4520916"/>
                <a:ext cx="24558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/>
                  <a:t>A</a:t>
                </a:r>
                <a:endParaRPr lang="es-ES" sz="800" baseline="-25000" dirty="0"/>
              </a:p>
            </p:txBody>
          </p:sp>
          <p:cxnSp>
            <p:nvCxnSpPr>
              <p:cNvPr id="41" name="Conector recto de flecha 40"/>
              <p:cNvCxnSpPr/>
              <p:nvPr/>
            </p:nvCxnSpPr>
            <p:spPr>
              <a:xfrm>
                <a:off x="5087888" y="4869160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CuadroTexto 41"/>
              <p:cNvSpPr txBox="1"/>
              <p:nvPr/>
            </p:nvSpPr>
            <p:spPr>
              <a:xfrm>
                <a:off x="5052985" y="4696787"/>
                <a:ext cx="30455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800" dirty="0"/>
                  <a:t>C</a:t>
                </a:r>
                <a:endParaRPr lang="es-ES" sz="800" baseline="-25000" dirty="0"/>
              </a:p>
            </p:txBody>
          </p:sp>
        </p:grpSp>
      </p:grpSp>
      <p:grpSp>
        <p:nvGrpSpPr>
          <p:cNvPr id="45" name="Grupo 44"/>
          <p:cNvGrpSpPr/>
          <p:nvPr/>
        </p:nvGrpSpPr>
        <p:grpSpPr>
          <a:xfrm>
            <a:off x="3575720" y="4642255"/>
            <a:ext cx="1415899" cy="1255903"/>
            <a:chOff x="5052985" y="4354015"/>
            <a:chExt cx="1415899" cy="1255903"/>
          </a:xfrm>
        </p:grpSpPr>
        <p:sp>
          <p:nvSpPr>
            <p:cNvPr id="46" name="Rectángulo 45"/>
            <p:cNvSpPr/>
            <p:nvPr/>
          </p:nvSpPr>
          <p:spPr>
            <a:xfrm>
              <a:off x="5375920" y="4388746"/>
              <a:ext cx="792088" cy="12004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 err="1" smtClean="0"/>
                <a:t>Deco</a:t>
              </a:r>
              <a:endParaRPr lang="es-ES" sz="1400" dirty="0" smtClean="0"/>
            </a:p>
            <a:p>
              <a:pPr algn="ctr"/>
              <a:r>
                <a:rPr lang="es-ES" sz="1200" dirty="0" smtClean="0"/>
                <a:t>3</a:t>
              </a:r>
            </a:p>
            <a:p>
              <a:pPr algn="ctr"/>
              <a:r>
                <a:rPr lang="es-ES" sz="1200" dirty="0" smtClean="0"/>
                <a:t>a</a:t>
              </a:r>
            </a:p>
            <a:p>
              <a:pPr algn="ctr"/>
              <a:r>
                <a:rPr lang="es-ES" sz="1200" dirty="0" smtClean="0"/>
                <a:t>8 líneas</a:t>
              </a:r>
              <a:endParaRPr lang="es-ES" sz="1200" dirty="0"/>
            </a:p>
          </p:txBody>
        </p:sp>
        <p:grpSp>
          <p:nvGrpSpPr>
            <p:cNvPr id="47" name="Grupo 46"/>
            <p:cNvGrpSpPr/>
            <p:nvPr/>
          </p:nvGrpSpPr>
          <p:grpSpPr>
            <a:xfrm>
              <a:off x="5052985" y="4354015"/>
              <a:ext cx="1415899" cy="1255903"/>
              <a:chOff x="5052985" y="4354015"/>
              <a:chExt cx="1415899" cy="1255903"/>
            </a:xfrm>
          </p:grpSpPr>
          <p:cxnSp>
            <p:nvCxnSpPr>
              <p:cNvPr id="48" name="Conector recto de flecha 47"/>
              <p:cNvCxnSpPr/>
              <p:nvPr/>
            </p:nvCxnSpPr>
            <p:spPr>
              <a:xfrm>
                <a:off x="6168008" y="4509120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CuadroTexto 48"/>
              <p:cNvSpPr txBox="1"/>
              <p:nvPr/>
            </p:nvSpPr>
            <p:spPr>
              <a:xfrm>
                <a:off x="5953591" y="4365104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 smtClean="0"/>
                  <a:t>0</a:t>
                </a:r>
                <a:endParaRPr lang="es-ES" sz="800" baseline="-25000" dirty="0"/>
              </a:p>
            </p:txBody>
          </p:sp>
          <p:cxnSp>
            <p:nvCxnSpPr>
              <p:cNvPr id="50" name="Conector recto de flecha 49"/>
              <p:cNvCxnSpPr/>
              <p:nvPr/>
            </p:nvCxnSpPr>
            <p:spPr>
              <a:xfrm>
                <a:off x="5087888" y="4522883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CuadroTexto 50"/>
              <p:cNvSpPr txBox="1"/>
              <p:nvPr/>
            </p:nvSpPr>
            <p:spPr>
              <a:xfrm>
                <a:off x="5063155" y="4354015"/>
                <a:ext cx="24558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/>
                  <a:t>A</a:t>
                </a:r>
                <a:endParaRPr lang="es-ES" sz="800" baseline="-25000" dirty="0"/>
              </a:p>
            </p:txBody>
          </p:sp>
          <p:cxnSp>
            <p:nvCxnSpPr>
              <p:cNvPr id="52" name="Conector recto de flecha 51"/>
              <p:cNvCxnSpPr/>
              <p:nvPr/>
            </p:nvCxnSpPr>
            <p:spPr>
              <a:xfrm>
                <a:off x="6174430" y="4664932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CuadroTexto 52"/>
              <p:cNvSpPr txBox="1"/>
              <p:nvPr/>
            </p:nvSpPr>
            <p:spPr>
              <a:xfrm>
                <a:off x="5960013" y="4520916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1</a:t>
                </a:r>
              </a:p>
            </p:txBody>
          </p:sp>
          <p:cxnSp>
            <p:nvCxnSpPr>
              <p:cNvPr id="54" name="Conector recto de flecha 53"/>
              <p:cNvCxnSpPr/>
              <p:nvPr/>
            </p:nvCxnSpPr>
            <p:spPr>
              <a:xfrm>
                <a:off x="6180852" y="4816958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CuadroTexto 54"/>
              <p:cNvSpPr txBox="1"/>
              <p:nvPr/>
            </p:nvSpPr>
            <p:spPr>
              <a:xfrm>
                <a:off x="5966435" y="4672942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 smtClean="0"/>
                  <a:t>2</a:t>
                </a:r>
                <a:endParaRPr lang="es-ES" sz="800" baseline="-25000" dirty="0"/>
              </a:p>
            </p:txBody>
          </p:sp>
          <p:cxnSp>
            <p:nvCxnSpPr>
              <p:cNvPr id="56" name="Conector recto de flecha 55"/>
              <p:cNvCxnSpPr/>
              <p:nvPr/>
            </p:nvCxnSpPr>
            <p:spPr>
              <a:xfrm>
                <a:off x="6180852" y="4971263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CuadroTexto 56"/>
              <p:cNvSpPr txBox="1"/>
              <p:nvPr/>
            </p:nvSpPr>
            <p:spPr>
              <a:xfrm>
                <a:off x="5966435" y="4827247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3</a:t>
                </a:r>
              </a:p>
            </p:txBody>
          </p:sp>
          <p:cxnSp>
            <p:nvCxnSpPr>
              <p:cNvPr id="58" name="Conector recto de flecha 57"/>
              <p:cNvCxnSpPr/>
              <p:nvPr/>
            </p:nvCxnSpPr>
            <p:spPr>
              <a:xfrm>
                <a:off x="6179799" y="5111192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CuadroTexto 58"/>
              <p:cNvSpPr txBox="1"/>
              <p:nvPr/>
            </p:nvSpPr>
            <p:spPr>
              <a:xfrm>
                <a:off x="5965382" y="4967176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4</a:t>
                </a:r>
              </a:p>
            </p:txBody>
          </p:sp>
          <p:cxnSp>
            <p:nvCxnSpPr>
              <p:cNvPr id="60" name="Conector recto de flecha 59"/>
              <p:cNvCxnSpPr/>
              <p:nvPr/>
            </p:nvCxnSpPr>
            <p:spPr>
              <a:xfrm>
                <a:off x="6174430" y="5256908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CuadroTexto 60"/>
              <p:cNvSpPr txBox="1"/>
              <p:nvPr/>
            </p:nvSpPr>
            <p:spPr>
              <a:xfrm>
                <a:off x="5960013" y="5112892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 smtClean="0"/>
                  <a:t>5</a:t>
                </a:r>
                <a:endParaRPr lang="es-ES" sz="800" baseline="-25000" dirty="0"/>
              </a:p>
            </p:txBody>
          </p:sp>
          <p:cxnSp>
            <p:nvCxnSpPr>
              <p:cNvPr id="62" name="Conector recto de flecha 61"/>
              <p:cNvCxnSpPr/>
              <p:nvPr/>
            </p:nvCxnSpPr>
            <p:spPr>
              <a:xfrm>
                <a:off x="6172656" y="5404269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CuadroTexto 62"/>
              <p:cNvSpPr txBox="1"/>
              <p:nvPr/>
            </p:nvSpPr>
            <p:spPr>
              <a:xfrm>
                <a:off x="5958239" y="5260253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6</a:t>
                </a:r>
              </a:p>
            </p:txBody>
          </p:sp>
          <p:cxnSp>
            <p:nvCxnSpPr>
              <p:cNvPr id="64" name="Conector recto de flecha 63"/>
              <p:cNvCxnSpPr/>
              <p:nvPr/>
            </p:nvCxnSpPr>
            <p:spPr>
              <a:xfrm>
                <a:off x="6173543" y="5538490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CuadroTexto 64"/>
              <p:cNvSpPr txBox="1"/>
              <p:nvPr/>
            </p:nvSpPr>
            <p:spPr>
              <a:xfrm>
                <a:off x="5959126" y="5394474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 smtClean="0"/>
                  <a:t>Q</a:t>
                </a:r>
                <a:r>
                  <a:rPr lang="es-ES" sz="800" baseline="-25000" dirty="0"/>
                  <a:t>7</a:t>
                </a:r>
              </a:p>
            </p:txBody>
          </p:sp>
          <p:cxnSp>
            <p:nvCxnSpPr>
              <p:cNvPr id="66" name="Conector recto de flecha 65"/>
              <p:cNvCxnSpPr/>
              <p:nvPr/>
            </p:nvCxnSpPr>
            <p:spPr>
              <a:xfrm>
                <a:off x="5095918" y="4696306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CuadroTexto 66"/>
              <p:cNvSpPr txBox="1"/>
              <p:nvPr/>
            </p:nvSpPr>
            <p:spPr>
              <a:xfrm>
                <a:off x="5062113" y="4520916"/>
                <a:ext cx="24558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800" dirty="0"/>
                  <a:t>A</a:t>
                </a:r>
                <a:endParaRPr lang="es-ES" sz="800" baseline="-25000" dirty="0"/>
              </a:p>
            </p:txBody>
          </p:sp>
          <p:cxnSp>
            <p:nvCxnSpPr>
              <p:cNvPr id="68" name="Conector recto de flecha 67"/>
              <p:cNvCxnSpPr/>
              <p:nvPr/>
            </p:nvCxnSpPr>
            <p:spPr>
              <a:xfrm>
                <a:off x="5087888" y="4869160"/>
                <a:ext cx="288032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CuadroTexto 68"/>
              <p:cNvSpPr txBox="1"/>
              <p:nvPr/>
            </p:nvSpPr>
            <p:spPr>
              <a:xfrm>
                <a:off x="5052985" y="4696787"/>
                <a:ext cx="30455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800" dirty="0"/>
                  <a:t>C</a:t>
                </a:r>
                <a:endParaRPr lang="es-ES" sz="800" baseline="-25000" dirty="0"/>
              </a:p>
            </p:txBody>
          </p:sp>
        </p:grpSp>
      </p:grpSp>
      <p:grpSp>
        <p:nvGrpSpPr>
          <p:cNvPr id="82" name="Grupo 81"/>
          <p:cNvGrpSpPr/>
          <p:nvPr/>
        </p:nvGrpSpPr>
        <p:grpSpPr>
          <a:xfrm>
            <a:off x="4513639" y="4859011"/>
            <a:ext cx="1327032" cy="914400"/>
            <a:chOff x="5478903" y="4844505"/>
            <a:chExt cx="1327032" cy="914400"/>
          </a:xfrm>
        </p:grpSpPr>
        <p:grpSp>
          <p:nvGrpSpPr>
            <p:cNvPr id="79" name="Grupo 78"/>
            <p:cNvGrpSpPr/>
            <p:nvPr/>
          </p:nvGrpSpPr>
          <p:grpSpPr>
            <a:xfrm>
              <a:off x="5478903" y="4844505"/>
              <a:ext cx="1136604" cy="914400"/>
              <a:chOff x="5478903" y="4844505"/>
              <a:chExt cx="1136604" cy="914400"/>
            </a:xfrm>
          </p:grpSpPr>
          <p:sp>
            <p:nvSpPr>
              <p:cNvPr id="70" name="Arco 69"/>
              <p:cNvSpPr/>
              <p:nvPr/>
            </p:nvSpPr>
            <p:spPr>
              <a:xfrm>
                <a:off x="6015606" y="5064924"/>
                <a:ext cx="599901" cy="476244"/>
              </a:xfrm>
              <a:prstGeom prst="arc">
                <a:avLst>
                  <a:gd name="adj1" fmla="val 15836195"/>
                  <a:gd name="adj2" fmla="val 5513026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8" name="Arco 77"/>
              <p:cNvSpPr/>
              <p:nvPr/>
            </p:nvSpPr>
            <p:spPr>
              <a:xfrm rot="3337024">
                <a:off x="5459797" y="4863611"/>
                <a:ext cx="914400" cy="876187"/>
              </a:xfrm>
              <a:prstGeom prst="arc">
                <a:avLst>
                  <a:gd name="adj1" fmla="val 16349400"/>
                  <a:gd name="adj2" fmla="val 20157929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cxnSp>
          <p:nvCxnSpPr>
            <p:cNvPr id="81" name="Conector recto 80"/>
            <p:cNvCxnSpPr/>
            <p:nvPr/>
          </p:nvCxnSpPr>
          <p:spPr>
            <a:xfrm>
              <a:off x="6615507" y="5302745"/>
              <a:ext cx="1904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Conector angular 85"/>
          <p:cNvCxnSpPr/>
          <p:nvPr/>
        </p:nvCxnSpPr>
        <p:spPr>
          <a:xfrm>
            <a:off x="4978775" y="4953172"/>
            <a:ext cx="400823" cy="25550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angular 88"/>
          <p:cNvCxnSpPr/>
          <p:nvPr/>
        </p:nvCxnSpPr>
        <p:spPr>
          <a:xfrm>
            <a:off x="4985197" y="5259503"/>
            <a:ext cx="404815" cy="2037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angular 92"/>
          <p:cNvCxnSpPr/>
          <p:nvPr/>
        </p:nvCxnSpPr>
        <p:spPr>
          <a:xfrm flipV="1">
            <a:off x="4978775" y="5374191"/>
            <a:ext cx="400823" cy="170957"/>
          </a:xfrm>
          <a:prstGeom prst="bentConnector3">
            <a:avLst>
              <a:gd name="adj1" fmla="val 3574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angular 94"/>
          <p:cNvCxnSpPr/>
          <p:nvPr/>
        </p:nvCxnSpPr>
        <p:spPr>
          <a:xfrm flipV="1">
            <a:off x="4989845" y="5454301"/>
            <a:ext cx="360447" cy="23820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/>
          <p:cNvSpPr txBox="1"/>
          <p:nvPr/>
        </p:nvSpPr>
        <p:spPr>
          <a:xfrm>
            <a:off x="5708966" y="5037021"/>
            <a:ext cx="505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smtClean="0"/>
              <a:t>F(a)</a:t>
            </a:r>
            <a:endParaRPr lang="es-ES" sz="1400" dirty="0"/>
          </a:p>
        </p:txBody>
      </p:sp>
      <p:pic>
        <p:nvPicPr>
          <p:cNvPr id="111" name="Imagen 1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459" y="2026761"/>
            <a:ext cx="1321338" cy="86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798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999410"/>
              </p:ext>
            </p:extLst>
          </p:nvPr>
        </p:nvGraphicFramePr>
        <p:xfrm>
          <a:off x="263352" y="953429"/>
          <a:ext cx="158115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" name="Hoja de cálculo" r:id="rId3" imgW="1581044" imgH="1714618" progId="Excel.Sheet.12">
                  <p:embed/>
                </p:oleObj>
              </mc:Choice>
              <mc:Fallback>
                <p:oleObj name="Hoja de cálculo" r:id="rId3" imgW="1581044" imgH="17146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352" y="953429"/>
                        <a:ext cx="1581150" cy="149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Flecha derecha 29"/>
          <p:cNvSpPr/>
          <p:nvPr/>
        </p:nvSpPr>
        <p:spPr>
          <a:xfrm flipH="1">
            <a:off x="9893304" y="829430"/>
            <a:ext cx="2125417" cy="151216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</a:t>
            </a:r>
          </a:p>
          <a:p>
            <a:pPr algn="ctr"/>
            <a:r>
              <a:rPr lang="es-ES" dirty="0" err="1" smtClean="0"/>
              <a:t>Verilog</a:t>
            </a: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1790701" y="3155178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ES" dirty="0"/>
          </a:p>
          <a:p>
            <a:r>
              <a:rPr lang="es-ES" dirty="0"/>
              <a:t>   </a:t>
            </a:r>
            <a:r>
              <a:rPr lang="es-ES" dirty="0" err="1"/>
              <a:t>always</a:t>
            </a:r>
            <a:r>
              <a:rPr lang="es-ES" dirty="0"/>
              <a:t> @(</a:t>
            </a:r>
            <a:r>
              <a:rPr lang="es-ES" dirty="0" err="1"/>
              <a:t>posedge</a:t>
            </a:r>
            <a:r>
              <a:rPr lang="es-ES" dirty="0"/>
              <a:t> </a:t>
            </a:r>
            <a:r>
              <a:rPr lang="es-ES" dirty="0" err="1"/>
              <a:t>clk</a:t>
            </a:r>
            <a:r>
              <a:rPr lang="es-ES" dirty="0"/>
              <a:t>)</a:t>
            </a:r>
          </a:p>
          <a:p>
            <a:r>
              <a:rPr lang="es-ES" dirty="0"/>
              <a:t>      </a:t>
            </a:r>
            <a:r>
              <a:rPr lang="es-ES" dirty="0" err="1"/>
              <a:t>if</a:t>
            </a:r>
            <a:r>
              <a:rPr lang="es-ES" dirty="0"/>
              <a:t> (</a:t>
            </a:r>
            <a:r>
              <a:rPr lang="es-ES" dirty="0" err="1"/>
              <a:t>reset</a:t>
            </a:r>
            <a:r>
              <a:rPr lang="es-ES" dirty="0"/>
              <a:t>)</a:t>
            </a:r>
          </a:p>
          <a:p>
            <a:r>
              <a:rPr lang="es-ES" dirty="0"/>
              <a:t>         Sal &lt;= 4'h0;		// hexadecimal</a:t>
            </a:r>
          </a:p>
          <a:p>
            <a:r>
              <a:rPr lang="es-ES" dirty="0"/>
              <a:t>      </a:t>
            </a:r>
            <a:r>
              <a:rPr lang="es-ES" dirty="0" err="1"/>
              <a:t>else</a:t>
            </a:r>
            <a:endParaRPr lang="es-ES" dirty="0"/>
          </a:p>
          <a:p>
            <a:r>
              <a:rPr lang="es-ES" dirty="0"/>
              <a:t>         case (A)</a:t>
            </a:r>
          </a:p>
          <a:p>
            <a:r>
              <a:rPr lang="es-ES" dirty="0"/>
              <a:t>            2'b00   : Sal &lt;= 4'b0001;</a:t>
            </a:r>
          </a:p>
          <a:p>
            <a:r>
              <a:rPr lang="es-ES" dirty="0"/>
              <a:t>            2'b01   : Sal &lt;= 4'b0010;</a:t>
            </a:r>
          </a:p>
          <a:p>
            <a:r>
              <a:rPr lang="es-ES" dirty="0"/>
              <a:t>            2'b10   : Sal &lt;= 4'b0100;</a:t>
            </a:r>
          </a:p>
          <a:p>
            <a:r>
              <a:rPr lang="es-ES" dirty="0"/>
              <a:t>            2'b11   : Sal &lt;= 4'b1000;</a:t>
            </a:r>
          </a:p>
          <a:p>
            <a:r>
              <a:rPr lang="es-ES" dirty="0"/>
              <a:t>            default : Sal &lt;= 4'b0000;</a:t>
            </a:r>
          </a:p>
          <a:p>
            <a:r>
              <a:rPr lang="es-ES" dirty="0"/>
              <a:t>         </a:t>
            </a:r>
            <a:r>
              <a:rPr lang="es-ES" dirty="0" err="1"/>
              <a:t>endcase</a:t>
            </a:r>
            <a:endParaRPr lang="es-ES" dirty="0"/>
          </a:p>
          <a:p>
            <a:r>
              <a:rPr lang="es-ES" dirty="0"/>
              <a:t>				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7030566" y="4382803"/>
            <a:ext cx="3608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	</a:t>
            </a:r>
            <a:r>
              <a:rPr lang="es-ES" dirty="0" err="1"/>
              <a:t>assign</a:t>
            </a:r>
            <a:r>
              <a:rPr lang="es-ES" dirty="0"/>
              <a:t> </a:t>
            </a:r>
            <a:r>
              <a:rPr lang="es-ES" dirty="0" err="1"/>
              <a:t>Sal_C</a:t>
            </a:r>
            <a:r>
              <a:rPr lang="es-ES" dirty="0"/>
              <a:t>= Sal[0] | Sal[2];</a:t>
            </a:r>
          </a:p>
        </p:txBody>
      </p:sp>
      <p:sp>
        <p:nvSpPr>
          <p:cNvPr id="18" name="Flecha derecha 17"/>
          <p:cNvSpPr/>
          <p:nvPr/>
        </p:nvSpPr>
        <p:spPr>
          <a:xfrm>
            <a:off x="6312024" y="4089658"/>
            <a:ext cx="1078405" cy="1324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/>
          <p:cNvSpPr txBox="1"/>
          <p:nvPr/>
        </p:nvSpPr>
        <p:spPr>
          <a:xfrm>
            <a:off x="2922188" y="700490"/>
            <a:ext cx="5002371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 smtClean="0"/>
              <a:t>Decodificaror</a:t>
            </a:r>
            <a:r>
              <a:rPr lang="es-ES" dirty="0" smtClean="0"/>
              <a:t> para generar funciones</a:t>
            </a:r>
            <a:endParaRPr lang="es-ES" dirty="0"/>
          </a:p>
        </p:txBody>
      </p:sp>
      <p:sp>
        <p:nvSpPr>
          <p:cNvPr id="2" name="Rectángulo 1"/>
          <p:cNvSpPr/>
          <p:nvPr/>
        </p:nvSpPr>
        <p:spPr>
          <a:xfrm>
            <a:off x="6538002" y="3043798"/>
            <a:ext cx="2136037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 smtClean="0"/>
              <a:t>Reset</a:t>
            </a:r>
            <a:r>
              <a:rPr lang="es-ES" dirty="0" smtClean="0"/>
              <a:t> síncrono</a:t>
            </a:r>
            <a:endParaRPr lang="es-ES" dirty="0"/>
          </a:p>
        </p:txBody>
      </p:sp>
      <p:cxnSp>
        <p:nvCxnSpPr>
          <p:cNvPr id="6" name="Conector recto de flecha 5"/>
          <p:cNvCxnSpPr/>
          <p:nvPr/>
        </p:nvCxnSpPr>
        <p:spPr>
          <a:xfrm flipH="1">
            <a:off x="4439816" y="3389585"/>
            <a:ext cx="1872208" cy="45951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/>
          <p:cNvSpPr/>
          <p:nvPr/>
        </p:nvSpPr>
        <p:spPr>
          <a:xfrm>
            <a:off x="1908138" y="1257770"/>
            <a:ext cx="351523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module </a:t>
            </a:r>
            <a:r>
              <a:rPr lang="es-ES" dirty="0" err="1"/>
              <a:t>Deco_fun</a:t>
            </a:r>
            <a:r>
              <a:rPr lang="es-ES" dirty="0"/>
              <a:t>(</a:t>
            </a:r>
          </a:p>
          <a:p>
            <a:r>
              <a:rPr lang="es-ES" dirty="0"/>
              <a:t>		input </a:t>
            </a:r>
            <a:r>
              <a:rPr lang="es-ES" dirty="0" err="1"/>
              <a:t>clk</a:t>
            </a:r>
            <a:r>
              <a:rPr lang="es-ES" dirty="0"/>
              <a:t>,</a:t>
            </a:r>
          </a:p>
          <a:p>
            <a:r>
              <a:rPr lang="es-ES" dirty="0"/>
              <a:t>		input </a:t>
            </a:r>
            <a:r>
              <a:rPr lang="es-ES" dirty="0" err="1"/>
              <a:t>reset</a:t>
            </a:r>
            <a:r>
              <a:rPr lang="es-ES" dirty="0"/>
              <a:t>,</a:t>
            </a:r>
          </a:p>
          <a:p>
            <a:r>
              <a:rPr lang="es-ES" dirty="0"/>
              <a:t>		input [1:0] A,</a:t>
            </a:r>
          </a:p>
          <a:p>
            <a:r>
              <a:rPr lang="es-ES" dirty="0"/>
              <a:t>		output </a:t>
            </a:r>
            <a:r>
              <a:rPr lang="es-ES" dirty="0" err="1"/>
              <a:t>Sal_C</a:t>
            </a:r>
            <a:r>
              <a:rPr lang="es-ES" dirty="0"/>
              <a:t>,</a:t>
            </a:r>
          </a:p>
          <a:p>
            <a:r>
              <a:rPr lang="es-ES" dirty="0"/>
              <a:t>		output </a:t>
            </a:r>
            <a:r>
              <a:rPr lang="es-ES" dirty="0" err="1"/>
              <a:t>reg</a:t>
            </a:r>
            <a:r>
              <a:rPr lang="es-ES" dirty="0"/>
              <a:t> [3:0] Sal</a:t>
            </a:r>
          </a:p>
          <a:p>
            <a:r>
              <a:rPr lang="es-ES" dirty="0"/>
              <a:t>    );</a:t>
            </a:r>
          </a:p>
        </p:txBody>
      </p:sp>
    </p:spTree>
    <p:extLst>
      <p:ext uri="{BB962C8B-B14F-4D97-AF65-F5344CB8AC3E}">
        <p14:creationId xmlns:p14="http://schemas.microsoft.com/office/powerpoint/2010/main" val="39319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999410"/>
              </p:ext>
            </p:extLst>
          </p:nvPr>
        </p:nvGraphicFramePr>
        <p:xfrm>
          <a:off x="263352" y="953429"/>
          <a:ext cx="158115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Hoja de cálculo" r:id="rId3" imgW="1581044" imgH="1714618" progId="Excel.Sheet.12">
                  <p:embed/>
                </p:oleObj>
              </mc:Choice>
              <mc:Fallback>
                <p:oleObj name="Hoja de cálculo" r:id="rId3" imgW="1581044" imgH="17146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352" y="953429"/>
                        <a:ext cx="1581150" cy="149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Flecha derecha 29"/>
          <p:cNvSpPr/>
          <p:nvPr/>
        </p:nvSpPr>
        <p:spPr>
          <a:xfrm flipH="1">
            <a:off x="9893304" y="829430"/>
            <a:ext cx="2125417" cy="151216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</a:t>
            </a:r>
          </a:p>
          <a:p>
            <a:pPr algn="ctr"/>
            <a:r>
              <a:rPr lang="es-ES" dirty="0" err="1" smtClean="0"/>
              <a:t>Verilog</a:t>
            </a: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1790701" y="3155178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ES" dirty="0"/>
          </a:p>
          <a:p>
            <a:r>
              <a:rPr lang="es-ES" dirty="0"/>
              <a:t>   </a:t>
            </a:r>
            <a:r>
              <a:rPr lang="es-ES" dirty="0" err="1"/>
              <a:t>always</a:t>
            </a:r>
            <a:r>
              <a:rPr lang="es-ES" dirty="0"/>
              <a:t> @(</a:t>
            </a:r>
            <a:r>
              <a:rPr lang="es-ES" dirty="0" err="1"/>
              <a:t>posedge</a:t>
            </a:r>
            <a:r>
              <a:rPr lang="es-ES" dirty="0"/>
              <a:t> </a:t>
            </a:r>
            <a:r>
              <a:rPr lang="es-ES" dirty="0" err="1" smtClean="0"/>
              <a:t>clk</a:t>
            </a:r>
            <a:r>
              <a:rPr lang="es-ES" dirty="0"/>
              <a:t> , </a:t>
            </a:r>
            <a:r>
              <a:rPr lang="es-ES" dirty="0" err="1">
                <a:solidFill>
                  <a:srgbClr val="00B050"/>
                </a:solidFill>
              </a:rPr>
              <a:t>posedge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 err="1" smtClean="0">
                <a:solidFill>
                  <a:srgbClr val="00B050"/>
                </a:solidFill>
              </a:rPr>
              <a:t>reset</a:t>
            </a:r>
            <a:r>
              <a:rPr lang="es-ES" dirty="0" smtClean="0"/>
              <a:t>)</a:t>
            </a:r>
            <a:endParaRPr lang="es-ES" dirty="0"/>
          </a:p>
          <a:p>
            <a:r>
              <a:rPr lang="es-ES" dirty="0"/>
              <a:t>      </a:t>
            </a:r>
            <a:r>
              <a:rPr lang="es-ES" dirty="0" err="1"/>
              <a:t>if</a:t>
            </a:r>
            <a:r>
              <a:rPr lang="es-ES" dirty="0"/>
              <a:t> (</a:t>
            </a:r>
            <a:r>
              <a:rPr lang="es-ES" dirty="0" err="1"/>
              <a:t>reset</a:t>
            </a:r>
            <a:r>
              <a:rPr lang="es-ES" dirty="0"/>
              <a:t>)</a:t>
            </a:r>
          </a:p>
          <a:p>
            <a:r>
              <a:rPr lang="es-ES" dirty="0"/>
              <a:t>         Sal &lt;= 4'h0;		// hexadecimal</a:t>
            </a:r>
          </a:p>
          <a:p>
            <a:r>
              <a:rPr lang="es-ES" dirty="0"/>
              <a:t>      </a:t>
            </a:r>
            <a:r>
              <a:rPr lang="es-ES" dirty="0" err="1"/>
              <a:t>else</a:t>
            </a:r>
            <a:endParaRPr lang="es-ES" dirty="0"/>
          </a:p>
          <a:p>
            <a:r>
              <a:rPr lang="es-ES" dirty="0"/>
              <a:t>         case (A)</a:t>
            </a:r>
          </a:p>
          <a:p>
            <a:r>
              <a:rPr lang="es-ES" dirty="0"/>
              <a:t>            2'b00   : Sal &lt;= 4'b0001;</a:t>
            </a:r>
          </a:p>
          <a:p>
            <a:r>
              <a:rPr lang="es-ES" dirty="0"/>
              <a:t>            2'b01   : Sal &lt;= 4'b0010;</a:t>
            </a:r>
          </a:p>
          <a:p>
            <a:r>
              <a:rPr lang="es-ES" dirty="0"/>
              <a:t>            2'b10   : Sal &lt;= 4'b0100;</a:t>
            </a:r>
          </a:p>
          <a:p>
            <a:r>
              <a:rPr lang="es-ES" dirty="0"/>
              <a:t>            2'b11   : Sal &lt;= 4'b1000;</a:t>
            </a:r>
          </a:p>
          <a:p>
            <a:r>
              <a:rPr lang="es-ES" dirty="0"/>
              <a:t>            default : Sal &lt;= 4'b0000;</a:t>
            </a:r>
          </a:p>
          <a:p>
            <a:r>
              <a:rPr lang="es-ES" dirty="0"/>
              <a:t>         </a:t>
            </a:r>
            <a:r>
              <a:rPr lang="es-ES" dirty="0" err="1"/>
              <a:t>endcase</a:t>
            </a:r>
            <a:endParaRPr lang="es-ES" dirty="0"/>
          </a:p>
          <a:p>
            <a:r>
              <a:rPr lang="es-ES" dirty="0"/>
              <a:t>				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7030566" y="4382803"/>
            <a:ext cx="3608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	</a:t>
            </a:r>
            <a:r>
              <a:rPr lang="es-ES" dirty="0" err="1"/>
              <a:t>assign</a:t>
            </a:r>
            <a:r>
              <a:rPr lang="es-ES" dirty="0"/>
              <a:t> </a:t>
            </a:r>
            <a:r>
              <a:rPr lang="es-ES" dirty="0" err="1"/>
              <a:t>Sal_C</a:t>
            </a:r>
            <a:r>
              <a:rPr lang="es-ES" dirty="0"/>
              <a:t>= Sal[0] | Sal[2];</a:t>
            </a:r>
          </a:p>
        </p:txBody>
      </p:sp>
      <p:sp>
        <p:nvSpPr>
          <p:cNvPr id="18" name="Flecha derecha 17"/>
          <p:cNvSpPr/>
          <p:nvPr/>
        </p:nvSpPr>
        <p:spPr>
          <a:xfrm>
            <a:off x="6312024" y="4089658"/>
            <a:ext cx="1078405" cy="1324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/>
          <p:cNvSpPr txBox="1"/>
          <p:nvPr/>
        </p:nvSpPr>
        <p:spPr>
          <a:xfrm>
            <a:off x="2922188" y="700490"/>
            <a:ext cx="5002371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 smtClean="0"/>
              <a:t>Decodificaror</a:t>
            </a:r>
            <a:r>
              <a:rPr lang="es-ES" dirty="0" smtClean="0"/>
              <a:t> para generar funciones</a:t>
            </a:r>
            <a:endParaRPr lang="es-ES" dirty="0"/>
          </a:p>
        </p:txBody>
      </p:sp>
      <p:sp>
        <p:nvSpPr>
          <p:cNvPr id="2" name="Rectángulo 1"/>
          <p:cNvSpPr/>
          <p:nvPr/>
        </p:nvSpPr>
        <p:spPr>
          <a:xfrm>
            <a:off x="6556034" y="2562906"/>
            <a:ext cx="2136037" cy="43204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 smtClean="0"/>
              <a:t>Reset</a:t>
            </a:r>
            <a:r>
              <a:rPr lang="es-ES" dirty="0" smtClean="0"/>
              <a:t> </a:t>
            </a:r>
            <a:r>
              <a:rPr lang="es-ES" dirty="0" err="1" smtClean="0"/>
              <a:t>Asincrono</a:t>
            </a:r>
            <a:endParaRPr lang="es-ES" dirty="0"/>
          </a:p>
        </p:txBody>
      </p:sp>
      <p:cxnSp>
        <p:nvCxnSpPr>
          <p:cNvPr id="6" name="Conector recto de flecha 5"/>
          <p:cNvCxnSpPr/>
          <p:nvPr/>
        </p:nvCxnSpPr>
        <p:spPr>
          <a:xfrm flipH="1">
            <a:off x="4838701" y="2838437"/>
            <a:ext cx="1329307" cy="45065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/>
          <p:cNvSpPr/>
          <p:nvPr/>
        </p:nvSpPr>
        <p:spPr>
          <a:xfrm>
            <a:off x="1908138" y="1257770"/>
            <a:ext cx="351523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module </a:t>
            </a:r>
            <a:r>
              <a:rPr lang="es-ES" dirty="0" err="1"/>
              <a:t>Deco_fun</a:t>
            </a:r>
            <a:r>
              <a:rPr lang="es-ES" dirty="0"/>
              <a:t>(</a:t>
            </a:r>
          </a:p>
          <a:p>
            <a:r>
              <a:rPr lang="es-ES" dirty="0"/>
              <a:t>		input </a:t>
            </a:r>
            <a:r>
              <a:rPr lang="es-ES" dirty="0" err="1"/>
              <a:t>clk</a:t>
            </a:r>
            <a:r>
              <a:rPr lang="es-ES" dirty="0"/>
              <a:t>,</a:t>
            </a:r>
          </a:p>
          <a:p>
            <a:r>
              <a:rPr lang="es-ES" dirty="0"/>
              <a:t>		input </a:t>
            </a:r>
            <a:r>
              <a:rPr lang="es-ES" dirty="0" err="1"/>
              <a:t>reset</a:t>
            </a:r>
            <a:r>
              <a:rPr lang="es-ES" dirty="0"/>
              <a:t>,</a:t>
            </a:r>
          </a:p>
          <a:p>
            <a:r>
              <a:rPr lang="es-ES" dirty="0"/>
              <a:t>		input [1:0] A,</a:t>
            </a:r>
          </a:p>
          <a:p>
            <a:r>
              <a:rPr lang="es-ES" dirty="0"/>
              <a:t>		output </a:t>
            </a:r>
            <a:r>
              <a:rPr lang="es-ES" dirty="0" err="1"/>
              <a:t>Sal_C</a:t>
            </a:r>
            <a:r>
              <a:rPr lang="es-ES" dirty="0"/>
              <a:t>,</a:t>
            </a:r>
          </a:p>
          <a:p>
            <a:r>
              <a:rPr lang="es-ES" dirty="0"/>
              <a:t>		output </a:t>
            </a:r>
            <a:r>
              <a:rPr lang="es-ES" dirty="0" err="1"/>
              <a:t>reg</a:t>
            </a:r>
            <a:r>
              <a:rPr lang="es-ES" dirty="0"/>
              <a:t> [3:0] Sal</a:t>
            </a:r>
          </a:p>
          <a:p>
            <a:r>
              <a:rPr lang="es-ES" dirty="0"/>
              <a:t>    );</a:t>
            </a:r>
          </a:p>
        </p:txBody>
      </p:sp>
    </p:spTree>
    <p:extLst>
      <p:ext uri="{BB962C8B-B14F-4D97-AF65-F5344CB8AC3E}">
        <p14:creationId xmlns:p14="http://schemas.microsoft.com/office/powerpoint/2010/main" val="387566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519077" y="1120617"/>
            <a:ext cx="10071586" cy="3777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endParaRPr lang="es-ES" sz="2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bo 1"/>
          <p:cNvSpPr/>
          <p:nvPr/>
        </p:nvSpPr>
        <p:spPr>
          <a:xfrm>
            <a:off x="241131" y="95534"/>
            <a:ext cx="10108817" cy="1025083"/>
          </a:xfrm>
          <a:prstGeom prst="cube">
            <a:avLst>
              <a:gd name="adj" fmla="val 263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/>
              <a:t>Unidad Temática Nº 5:. Circuitos </a:t>
            </a:r>
            <a:r>
              <a:rPr lang="es-ES" sz="2600" dirty="0" err="1"/>
              <a:t>combinacionales</a:t>
            </a:r>
            <a:r>
              <a:rPr lang="es-ES" sz="2600" dirty="0"/>
              <a:t>. (Cap. 4)</a:t>
            </a:r>
          </a:p>
          <a:p>
            <a:pPr algn="ctr"/>
            <a:endParaRPr lang="es-ES" sz="2600" dirty="0"/>
          </a:p>
        </p:txBody>
      </p:sp>
      <p:sp>
        <p:nvSpPr>
          <p:cNvPr id="3" name="Flecha doblada 2"/>
          <p:cNvSpPr/>
          <p:nvPr/>
        </p:nvSpPr>
        <p:spPr>
          <a:xfrm rot="14305691" flipH="1">
            <a:off x="388433" y="784040"/>
            <a:ext cx="450051" cy="534465"/>
          </a:xfrm>
          <a:prstGeom prst="bentArrow">
            <a:avLst>
              <a:gd name="adj1" fmla="val 25000"/>
              <a:gd name="adj2" fmla="val 14914"/>
              <a:gd name="adj3" fmla="val 25000"/>
              <a:gd name="adj4" fmla="val 54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96825" y="1315620"/>
            <a:ext cx="6779296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err="1" smtClean="0"/>
              <a:t>Verilog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Resolver </a:t>
            </a:r>
            <a:r>
              <a:rPr lang="es-ES" sz="2400" dirty="0"/>
              <a:t>problemas </a:t>
            </a:r>
            <a:r>
              <a:rPr lang="es-ES" sz="2400" dirty="0" smtClean="0"/>
              <a:t>con multiplexores</a:t>
            </a:r>
            <a:endParaRPr lang="es-ES" sz="2400" dirty="0"/>
          </a:p>
        </p:txBody>
      </p:sp>
      <p:pic>
        <p:nvPicPr>
          <p:cNvPr id="6146" name="Picture 2" descr="I2C IMU mux - [PDF Document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105" y="2341620"/>
            <a:ext cx="3075159" cy="122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53" y="3681384"/>
            <a:ext cx="3009900" cy="26289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872" y="3681384"/>
            <a:ext cx="51625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422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519077" y="1120617"/>
            <a:ext cx="10071586" cy="3777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endParaRPr lang="es-ES" sz="2000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bo 1"/>
          <p:cNvSpPr/>
          <p:nvPr/>
        </p:nvSpPr>
        <p:spPr>
          <a:xfrm>
            <a:off x="241131" y="1"/>
            <a:ext cx="10108817" cy="815424"/>
          </a:xfrm>
          <a:prstGeom prst="cube">
            <a:avLst>
              <a:gd name="adj" fmla="val 263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/>
              <a:t>Unidad Temática Nº 5:. Circuitos </a:t>
            </a:r>
            <a:r>
              <a:rPr lang="es-ES" sz="2600" dirty="0" err="1"/>
              <a:t>combinacionales</a:t>
            </a:r>
            <a:r>
              <a:rPr lang="es-ES" sz="2600" dirty="0"/>
              <a:t>. (Cap. 4)</a:t>
            </a:r>
          </a:p>
          <a:p>
            <a:pPr algn="ctr"/>
            <a:endParaRPr lang="es-ES" sz="260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0849970" y="95534"/>
            <a:ext cx="1342030" cy="62171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solidFill>
                  <a:srgbClr val="002060"/>
                </a:solidFill>
              </a:rPr>
              <a:t>TD1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519077" y="967406"/>
            <a:ext cx="6779296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err="1" smtClean="0"/>
              <a:t>Verilog</a:t>
            </a:r>
            <a:endParaRPr lang="es-ES" sz="2400" dirty="0" smtClean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ES" sz="2400" dirty="0" smtClean="0"/>
              <a:t>Resolver </a:t>
            </a:r>
            <a:r>
              <a:rPr lang="es-ES" sz="2400" dirty="0"/>
              <a:t>problemas </a:t>
            </a:r>
            <a:r>
              <a:rPr lang="es-ES" sz="2400" dirty="0" smtClean="0"/>
              <a:t>con multiplexores</a:t>
            </a:r>
            <a:endParaRPr lang="es-ES" sz="2400" dirty="0"/>
          </a:p>
        </p:txBody>
      </p:sp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237120"/>
              </p:ext>
            </p:extLst>
          </p:nvPr>
        </p:nvGraphicFramePr>
        <p:xfrm>
          <a:off x="519077" y="1950384"/>
          <a:ext cx="2019300" cy="267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Hoja de cálculo" r:id="rId3" imgW="2019428" imgH="3066985" progId="Excel.Sheet.12">
                  <p:embed/>
                </p:oleObj>
              </mc:Choice>
              <mc:Fallback>
                <p:oleObj name="Hoja de cálculo" r:id="rId3" imgW="2019428" imgH="30669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077" y="1950384"/>
                        <a:ext cx="2019300" cy="2674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ángulo 4"/>
          <p:cNvSpPr/>
          <p:nvPr/>
        </p:nvSpPr>
        <p:spPr>
          <a:xfrm>
            <a:off x="529545" y="4777303"/>
            <a:ext cx="15841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/>
              <a:t>module </a:t>
            </a:r>
            <a:r>
              <a:rPr lang="es-ES" sz="1400" dirty="0" err="1"/>
              <a:t>Mult_fun</a:t>
            </a:r>
            <a:r>
              <a:rPr lang="es-ES" sz="1400" dirty="0"/>
              <a:t>(</a:t>
            </a:r>
          </a:p>
          <a:p>
            <a:r>
              <a:rPr lang="es-ES" sz="1400" dirty="0"/>
              <a:t>    input </a:t>
            </a:r>
            <a:r>
              <a:rPr lang="es-ES" sz="1400" dirty="0" err="1"/>
              <a:t>clk</a:t>
            </a:r>
            <a:r>
              <a:rPr lang="es-ES" sz="1400" dirty="0"/>
              <a:t>,</a:t>
            </a:r>
          </a:p>
          <a:p>
            <a:r>
              <a:rPr lang="es-ES" sz="1400" dirty="0"/>
              <a:t>    input </a:t>
            </a:r>
            <a:r>
              <a:rPr lang="es-ES" sz="1400" dirty="0" err="1"/>
              <a:t>reset</a:t>
            </a:r>
            <a:r>
              <a:rPr lang="es-ES" sz="1400" dirty="0"/>
              <a:t>,</a:t>
            </a:r>
          </a:p>
          <a:p>
            <a:r>
              <a:rPr lang="es-ES" sz="1400" dirty="0"/>
              <a:t>    input A,</a:t>
            </a:r>
          </a:p>
          <a:p>
            <a:r>
              <a:rPr lang="es-ES" sz="1400" dirty="0"/>
              <a:t>    input B,</a:t>
            </a:r>
          </a:p>
          <a:p>
            <a:r>
              <a:rPr lang="es-ES" sz="1400" dirty="0"/>
              <a:t>    input C,</a:t>
            </a:r>
          </a:p>
          <a:p>
            <a:r>
              <a:rPr lang="es-ES" sz="1400" dirty="0"/>
              <a:t>    output  </a:t>
            </a:r>
            <a:r>
              <a:rPr lang="es-ES" sz="1400" dirty="0" err="1"/>
              <a:t>reg</a:t>
            </a:r>
            <a:r>
              <a:rPr lang="es-ES" sz="1400" dirty="0"/>
              <a:t> Sal</a:t>
            </a:r>
          </a:p>
          <a:p>
            <a:r>
              <a:rPr lang="es-ES" sz="1400" dirty="0"/>
              <a:t>    );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2676088" y="2103595"/>
            <a:ext cx="2060381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err="1" smtClean="0"/>
              <a:t>wire</a:t>
            </a:r>
            <a:r>
              <a:rPr lang="es-ES" sz="1400" dirty="0" smtClean="0"/>
              <a:t> </a:t>
            </a:r>
            <a:r>
              <a:rPr lang="es-ES" sz="1400" dirty="0"/>
              <a:t>[2:0] </a:t>
            </a:r>
            <a:r>
              <a:rPr lang="es-ES" sz="1400" dirty="0" err="1"/>
              <a:t>select</a:t>
            </a:r>
            <a:r>
              <a:rPr lang="es-ES" sz="1400" dirty="0"/>
              <a:t>;</a:t>
            </a:r>
          </a:p>
          <a:p>
            <a:r>
              <a:rPr lang="es-ES" sz="1400" dirty="0"/>
              <a:t>	  </a:t>
            </a:r>
          </a:p>
          <a:p>
            <a:r>
              <a:rPr lang="es-ES" sz="1400" dirty="0" err="1" smtClean="0"/>
              <a:t>assign</a:t>
            </a:r>
            <a:r>
              <a:rPr lang="es-ES" sz="1400" dirty="0" smtClean="0"/>
              <a:t> </a:t>
            </a:r>
            <a:r>
              <a:rPr lang="es-ES" sz="1400" dirty="0" err="1"/>
              <a:t>select</a:t>
            </a:r>
            <a:r>
              <a:rPr lang="es-ES" sz="1400" dirty="0"/>
              <a:t>[0]=C;</a:t>
            </a:r>
          </a:p>
          <a:p>
            <a:r>
              <a:rPr lang="es-ES" sz="1400" dirty="0" err="1" smtClean="0"/>
              <a:t>assign</a:t>
            </a:r>
            <a:r>
              <a:rPr lang="es-ES" sz="1400" dirty="0" smtClean="0"/>
              <a:t> </a:t>
            </a:r>
            <a:r>
              <a:rPr lang="es-ES" sz="1400" dirty="0" err="1"/>
              <a:t>select</a:t>
            </a:r>
            <a:r>
              <a:rPr lang="es-ES" sz="1400" dirty="0"/>
              <a:t>[1]=B;</a:t>
            </a:r>
          </a:p>
          <a:p>
            <a:r>
              <a:rPr lang="es-ES" sz="1400" dirty="0" err="1" smtClean="0"/>
              <a:t>assign</a:t>
            </a:r>
            <a:r>
              <a:rPr lang="es-ES" sz="1400" dirty="0" smtClean="0"/>
              <a:t> </a:t>
            </a:r>
            <a:r>
              <a:rPr lang="es-ES" sz="1400" dirty="0" err="1"/>
              <a:t>select</a:t>
            </a:r>
            <a:r>
              <a:rPr lang="es-ES" sz="1400" dirty="0"/>
              <a:t>[2]=A;</a:t>
            </a:r>
          </a:p>
          <a:p>
            <a:r>
              <a:rPr lang="es-ES" sz="1400" dirty="0"/>
              <a:t>		</a:t>
            </a:r>
          </a:p>
          <a:p>
            <a:r>
              <a:rPr lang="es-ES" sz="1400" dirty="0" err="1" smtClean="0"/>
              <a:t>always</a:t>
            </a:r>
            <a:r>
              <a:rPr lang="es-ES" sz="1400" dirty="0" smtClean="0"/>
              <a:t> </a:t>
            </a:r>
            <a:r>
              <a:rPr lang="es-ES" sz="1400" dirty="0"/>
              <a:t>@(</a:t>
            </a:r>
            <a:r>
              <a:rPr lang="es-ES" sz="1400" dirty="0" err="1"/>
              <a:t>posedge</a:t>
            </a:r>
            <a:r>
              <a:rPr lang="es-ES" sz="1400" dirty="0"/>
              <a:t> </a:t>
            </a:r>
            <a:r>
              <a:rPr lang="es-ES" sz="1400" dirty="0" err="1"/>
              <a:t>clk</a:t>
            </a:r>
            <a:r>
              <a:rPr lang="es-ES" sz="1400" dirty="0" smtClean="0"/>
              <a:t>)</a:t>
            </a:r>
          </a:p>
          <a:p>
            <a:endParaRPr lang="es-ES" sz="1400" dirty="0"/>
          </a:p>
          <a:p>
            <a:r>
              <a:rPr lang="es-ES" sz="1400" dirty="0" smtClean="0"/>
              <a:t>   </a:t>
            </a:r>
            <a:r>
              <a:rPr lang="es-ES" sz="1400" dirty="0"/>
              <a:t>case (</a:t>
            </a:r>
            <a:r>
              <a:rPr lang="es-ES" sz="1400" dirty="0" err="1"/>
              <a:t>select</a:t>
            </a:r>
            <a:r>
              <a:rPr lang="es-ES" sz="1400" dirty="0"/>
              <a:t>)</a:t>
            </a:r>
          </a:p>
          <a:p>
            <a:r>
              <a:rPr lang="es-ES" sz="1400" dirty="0"/>
              <a:t>         3'b000: Sal = 0;</a:t>
            </a:r>
          </a:p>
          <a:p>
            <a:r>
              <a:rPr lang="es-ES" sz="1400" dirty="0"/>
              <a:t>         3'b001: Sal = 1;</a:t>
            </a:r>
          </a:p>
          <a:p>
            <a:r>
              <a:rPr lang="es-ES" sz="1400" dirty="0"/>
              <a:t>         3'b010: Sal = 0;</a:t>
            </a:r>
          </a:p>
          <a:p>
            <a:r>
              <a:rPr lang="es-ES" sz="1400" dirty="0"/>
              <a:t>         3'b011: Sal = 1;</a:t>
            </a:r>
          </a:p>
          <a:p>
            <a:r>
              <a:rPr lang="es-ES" sz="1400" dirty="0"/>
              <a:t>			</a:t>
            </a:r>
          </a:p>
          <a:p>
            <a:r>
              <a:rPr lang="es-ES" sz="1400" dirty="0"/>
              <a:t>         3'b100: Sal = 1;</a:t>
            </a:r>
          </a:p>
          <a:p>
            <a:r>
              <a:rPr lang="es-ES" sz="1400" dirty="0"/>
              <a:t>         3'b101: Sal = 0;</a:t>
            </a:r>
          </a:p>
          <a:p>
            <a:r>
              <a:rPr lang="es-ES" sz="1400" dirty="0"/>
              <a:t>         3'b110: Sal = 0;</a:t>
            </a:r>
          </a:p>
          <a:p>
            <a:r>
              <a:rPr lang="es-ES" sz="1400" dirty="0"/>
              <a:t>         3'b111: Sal = 0;</a:t>
            </a:r>
          </a:p>
          <a:p>
            <a:r>
              <a:rPr lang="es-ES" sz="1400" dirty="0" err="1" smtClean="0"/>
              <a:t>endcase</a:t>
            </a:r>
            <a:endParaRPr lang="es-ES" sz="1400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469" y="2405761"/>
            <a:ext cx="7455531" cy="325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11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324" y="464866"/>
            <a:ext cx="9720049" cy="1167020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412842"/>
              </p:ext>
            </p:extLst>
          </p:nvPr>
        </p:nvGraphicFramePr>
        <p:xfrm>
          <a:off x="766763" y="1543050"/>
          <a:ext cx="3192462" cy="503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8" name="Hoja de cálculo" r:id="rId4" imgW="3190971" imgH="5772260" progId="Excel.Sheet.12">
                  <p:embed/>
                </p:oleObj>
              </mc:Choice>
              <mc:Fallback>
                <p:oleObj name="Hoja de cálculo" r:id="rId4" imgW="3190971" imgH="57722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6763" y="1543050"/>
                        <a:ext cx="3192462" cy="5033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ángulo 3"/>
          <p:cNvSpPr/>
          <p:nvPr/>
        </p:nvSpPr>
        <p:spPr>
          <a:xfrm>
            <a:off x="1199456" y="1844824"/>
            <a:ext cx="648072" cy="464384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004735"/>
              </p:ext>
            </p:extLst>
          </p:nvPr>
        </p:nvGraphicFramePr>
        <p:xfrm>
          <a:off x="3929317" y="1808019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9" name="Hoja de cálculo" r:id="rId6" imgW="1600209" imgH="1000104" progId="Excel.Sheet.12">
                  <p:embed/>
                </p:oleObj>
              </mc:Choice>
              <mc:Fallback>
                <p:oleObj name="Hoja de cálculo" r:id="rId6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29317" y="1808019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535660"/>
              </p:ext>
            </p:extLst>
          </p:nvPr>
        </p:nvGraphicFramePr>
        <p:xfrm>
          <a:off x="3929317" y="3109088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0" name="Hoja de cálculo" r:id="rId8" imgW="1600209" imgH="1000104" progId="Excel.Sheet.12">
                  <p:embed/>
                </p:oleObj>
              </mc:Choice>
              <mc:Fallback>
                <p:oleObj name="Hoja de cálculo" r:id="rId8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29317" y="3109088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402047"/>
              </p:ext>
            </p:extLst>
          </p:nvPr>
        </p:nvGraphicFramePr>
        <p:xfrm>
          <a:off x="3935250" y="4363085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1" name="Hoja de cálculo" r:id="rId10" imgW="1600209" imgH="1000104" progId="Excel.Sheet.12">
                  <p:embed/>
                </p:oleObj>
              </mc:Choice>
              <mc:Fallback>
                <p:oleObj name="Hoja de cálculo" r:id="rId10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35250" y="4363085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688402"/>
              </p:ext>
            </p:extLst>
          </p:nvPr>
        </p:nvGraphicFramePr>
        <p:xfrm>
          <a:off x="3935250" y="5513943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2" name="Hoja de cálculo" r:id="rId12" imgW="1600209" imgH="1000104" progId="Excel.Sheet.12">
                  <p:embed/>
                </p:oleObj>
              </mc:Choice>
              <mc:Fallback>
                <p:oleObj name="Hoja de cálculo" r:id="rId12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35250" y="5513943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Conector recto 5"/>
          <p:cNvCxnSpPr/>
          <p:nvPr/>
        </p:nvCxnSpPr>
        <p:spPr>
          <a:xfrm>
            <a:off x="3287688" y="3068960"/>
            <a:ext cx="33843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3287688" y="6577258"/>
            <a:ext cx="48245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3287688" y="5373216"/>
            <a:ext cx="3384376" cy="82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3359696" y="4221088"/>
            <a:ext cx="33123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/>
              <p:cNvSpPr txBox="1"/>
              <p:nvPr/>
            </p:nvSpPr>
            <p:spPr>
              <a:xfrm>
                <a:off x="5757472" y="2247047"/>
                <a:ext cx="5261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472" y="2247047"/>
                <a:ext cx="526106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26437" t="-31111" r="-12644" b="-48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ángulo redondeado 21"/>
          <p:cNvSpPr/>
          <p:nvPr/>
        </p:nvSpPr>
        <p:spPr>
          <a:xfrm>
            <a:off x="5087888" y="2295382"/>
            <a:ext cx="288032" cy="473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 redondeado 23"/>
          <p:cNvSpPr/>
          <p:nvPr/>
        </p:nvSpPr>
        <p:spPr>
          <a:xfrm>
            <a:off x="4511824" y="3573016"/>
            <a:ext cx="216260" cy="2291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redondeado 24"/>
          <p:cNvSpPr/>
          <p:nvPr/>
        </p:nvSpPr>
        <p:spPr>
          <a:xfrm>
            <a:off x="5123774" y="5102784"/>
            <a:ext cx="216260" cy="2291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/>
              <p:cNvSpPr txBox="1"/>
              <p:nvPr/>
            </p:nvSpPr>
            <p:spPr>
              <a:xfrm>
                <a:off x="5727638" y="3643738"/>
                <a:ext cx="760657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6" name="Cuadro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38" y="3643738"/>
                <a:ext cx="760657" cy="277576"/>
              </a:xfrm>
              <a:prstGeom prst="rect">
                <a:avLst/>
              </a:prstGeom>
              <a:blipFill rotWithShape="0">
                <a:blip r:embed="rId20"/>
                <a:stretch>
                  <a:fillRect l="-19355" t="-28889" r="-54032" b="-5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/>
              <p:cNvSpPr txBox="1"/>
              <p:nvPr/>
            </p:nvSpPr>
            <p:spPr>
              <a:xfrm>
                <a:off x="5744981" y="4787441"/>
                <a:ext cx="7606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7" name="CuadroTexto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981" y="4787441"/>
                <a:ext cx="760657" cy="276999"/>
              </a:xfrm>
              <a:prstGeom prst="rect">
                <a:avLst/>
              </a:prstGeom>
              <a:blipFill rotWithShape="0">
                <a:blip r:embed="rId21"/>
                <a:stretch>
                  <a:fillRect l="-18400" t="-30435" r="-8800" b="-478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/>
              <p:cNvSpPr txBox="1"/>
              <p:nvPr/>
            </p:nvSpPr>
            <p:spPr>
              <a:xfrm>
                <a:off x="5687640" y="5982652"/>
                <a:ext cx="4873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8" name="Cuadro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640" y="5982652"/>
                <a:ext cx="487313" cy="276999"/>
              </a:xfrm>
              <a:prstGeom prst="rect">
                <a:avLst/>
              </a:prstGeom>
              <a:blipFill rotWithShape="0">
                <a:blip r:embed="rId22"/>
                <a:stretch>
                  <a:fillRect l="-28750" t="-30435" r="-16250" b="-478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n 2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85525" y="1660654"/>
            <a:ext cx="4798990" cy="3105229"/>
          </a:xfrm>
          <a:prstGeom prst="rect">
            <a:avLst/>
          </a:prstGeom>
        </p:spPr>
      </p:pic>
      <p:sp>
        <p:nvSpPr>
          <p:cNvPr id="29" name="Rectángulo 28">
            <a:hlinkClick r:id="rId24" action="ppaction://program"/>
          </p:cNvPr>
          <p:cNvSpPr/>
          <p:nvPr/>
        </p:nvSpPr>
        <p:spPr>
          <a:xfrm>
            <a:off x="6808435" y="4955169"/>
            <a:ext cx="2232248" cy="3544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Simular</a:t>
            </a:r>
            <a:endParaRPr lang="es-ES" dirty="0"/>
          </a:p>
        </p:txBody>
      </p:sp>
      <p:sp>
        <p:nvSpPr>
          <p:cNvPr id="30" name="Flecha derecha 29"/>
          <p:cNvSpPr/>
          <p:nvPr/>
        </p:nvSpPr>
        <p:spPr>
          <a:xfrm flipH="1">
            <a:off x="6423819" y="689231"/>
            <a:ext cx="4536504" cy="151216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</a:t>
            </a:r>
          </a:p>
          <a:p>
            <a:pPr algn="ctr"/>
            <a:r>
              <a:rPr lang="es-ES" dirty="0" err="1" smtClean="0"/>
              <a:t>Verilog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393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324" y="464866"/>
            <a:ext cx="9720049" cy="1167020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412842"/>
              </p:ext>
            </p:extLst>
          </p:nvPr>
        </p:nvGraphicFramePr>
        <p:xfrm>
          <a:off x="766763" y="1543050"/>
          <a:ext cx="3192462" cy="503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9" name="Hoja de cálculo" r:id="rId4" imgW="3190971" imgH="5772260" progId="Excel.Sheet.12">
                  <p:embed/>
                </p:oleObj>
              </mc:Choice>
              <mc:Fallback>
                <p:oleObj name="Hoja de cálculo" r:id="rId4" imgW="3190971" imgH="57722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6763" y="1543050"/>
                        <a:ext cx="3192462" cy="5033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ángulo 3"/>
          <p:cNvSpPr/>
          <p:nvPr/>
        </p:nvSpPr>
        <p:spPr>
          <a:xfrm>
            <a:off x="1199456" y="1844824"/>
            <a:ext cx="648072" cy="464384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004735"/>
              </p:ext>
            </p:extLst>
          </p:nvPr>
        </p:nvGraphicFramePr>
        <p:xfrm>
          <a:off x="3929317" y="1808019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0" name="Hoja de cálculo" r:id="rId6" imgW="1600209" imgH="1000104" progId="Excel.Sheet.12">
                  <p:embed/>
                </p:oleObj>
              </mc:Choice>
              <mc:Fallback>
                <p:oleObj name="Hoja de cálculo" r:id="rId6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29317" y="1808019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535660"/>
              </p:ext>
            </p:extLst>
          </p:nvPr>
        </p:nvGraphicFramePr>
        <p:xfrm>
          <a:off x="3929317" y="3109088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1" name="Hoja de cálculo" r:id="rId8" imgW="1600209" imgH="1000104" progId="Excel.Sheet.12">
                  <p:embed/>
                </p:oleObj>
              </mc:Choice>
              <mc:Fallback>
                <p:oleObj name="Hoja de cálculo" r:id="rId8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29317" y="3109088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402047"/>
              </p:ext>
            </p:extLst>
          </p:nvPr>
        </p:nvGraphicFramePr>
        <p:xfrm>
          <a:off x="3935250" y="4363085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2" name="Hoja de cálculo" r:id="rId10" imgW="1600209" imgH="1000104" progId="Excel.Sheet.12">
                  <p:embed/>
                </p:oleObj>
              </mc:Choice>
              <mc:Fallback>
                <p:oleObj name="Hoja de cálculo" r:id="rId10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35250" y="4363085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688402"/>
              </p:ext>
            </p:extLst>
          </p:nvPr>
        </p:nvGraphicFramePr>
        <p:xfrm>
          <a:off x="3935250" y="5513943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3" name="Hoja de cálculo" r:id="rId12" imgW="1600209" imgH="1000104" progId="Excel.Sheet.12">
                  <p:embed/>
                </p:oleObj>
              </mc:Choice>
              <mc:Fallback>
                <p:oleObj name="Hoja de cálculo" r:id="rId12" imgW="1600209" imgH="10001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35250" y="5513943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Conector recto 5"/>
          <p:cNvCxnSpPr/>
          <p:nvPr/>
        </p:nvCxnSpPr>
        <p:spPr>
          <a:xfrm>
            <a:off x="3287688" y="3068960"/>
            <a:ext cx="33843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3287688" y="6577258"/>
            <a:ext cx="48245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3287688" y="5373216"/>
            <a:ext cx="3384376" cy="82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3359696" y="4221088"/>
            <a:ext cx="33123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/>
              <p:cNvSpPr txBox="1"/>
              <p:nvPr/>
            </p:nvSpPr>
            <p:spPr>
              <a:xfrm>
                <a:off x="5757472" y="2247047"/>
                <a:ext cx="5261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472" y="2247047"/>
                <a:ext cx="526106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26437" t="-31111" r="-12644" b="-48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ángulo redondeado 21"/>
          <p:cNvSpPr/>
          <p:nvPr/>
        </p:nvSpPr>
        <p:spPr>
          <a:xfrm>
            <a:off x="5087888" y="2295382"/>
            <a:ext cx="288032" cy="473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 redondeado 23"/>
          <p:cNvSpPr/>
          <p:nvPr/>
        </p:nvSpPr>
        <p:spPr>
          <a:xfrm>
            <a:off x="4511824" y="3573016"/>
            <a:ext cx="216260" cy="2291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redondeado 24"/>
          <p:cNvSpPr/>
          <p:nvPr/>
        </p:nvSpPr>
        <p:spPr>
          <a:xfrm>
            <a:off x="5123774" y="5102784"/>
            <a:ext cx="216260" cy="2291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/>
              <p:cNvSpPr txBox="1"/>
              <p:nvPr/>
            </p:nvSpPr>
            <p:spPr>
              <a:xfrm>
                <a:off x="5727638" y="3643738"/>
                <a:ext cx="760657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6" name="Cuadro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38" y="3643738"/>
                <a:ext cx="760657" cy="277576"/>
              </a:xfrm>
              <a:prstGeom prst="rect">
                <a:avLst/>
              </a:prstGeom>
              <a:blipFill rotWithShape="0">
                <a:blip r:embed="rId20"/>
                <a:stretch>
                  <a:fillRect l="-19355" t="-28889" r="-54032" b="-5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/>
              <p:cNvSpPr txBox="1"/>
              <p:nvPr/>
            </p:nvSpPr>
            <p:spPr>
              <a:xfrm>
                <a:off x="5744981" y="4787441"/>
                <a:ext cx="7606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7" name="CuadroTexto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981" y="4787441"/>
                <a:ext cx="760657" cy="276999"/>
              </a:xfrm>
              <a:prstGeom prst="rect">
                <a:avLst/>
              </a:prstGeom>
              <a:blipFill rotWithShape="0">
                <a:blip r:embed="rId21"/>
                <a:stretch>
                  <a:fillRect l="-18400" t="-30435" r="-8800" b="-478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/>
              <p:cNvSpPr txBox="1"/>
              <p:nvPr/>
            </p:nvSpPr>
            <p:spPr>
              <a:xfrm>
                <a:off x="5687640" y="5982652"/>
                <a:ext cx="4873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8" name="Cuadro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640" y="5982652"/>
                <a:ext cx="487313" cy="276999"/>
              </a:xfrm>
              <a:prstGeom prst="rect">
                <a:avLst/>
              </a:prstGeom>
              <a:blipFill rotWithShape="0">
                <a:blip r:embed="rId22"/>
                <a:stretch>
                  <a:fillRect l="-28750" t="-30435" r="-16250" b="-478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lecha derecha 29"/>
          <p:cNvSpPr/>
          <p:nvPr/>
        </p:nvSpPr>
        <p:spPr>
          <a:xfrm flipH="1">
            <a:off x="6423819" y="689231"/>
            <a:ext cx="4536504" cy="151216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</a:t>
            </a:r>
          </a:p>
          <a:p>
            <a:pPr algn="ctr"/>
            <a:r>
              <a:rPr lang="es-ES" dirty="0" err="1" smtClean="0"/>
              <a:t>Verilog</a:t>
            </a: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7032105" y="2187211"/>
            <a:ext cx="48225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sz="1600" dirty="0"/>
          </a:p>
          <a:p>
            <a:r>
              <a:rPr lang="es-ES" sz="1600" dirty="0"/>
              <a:t>//Clase 11 circuitos </a:t>
            </a:r>
            <a:r>
              <a:rPr lang="es-ES" sz="1600" dirty="0" err="1"/>
              <a:t>combinacionales</a:t>
            </a:r>
            <a:r>
              <a:rPr lang="es-ES" sz="1600" dirty="0"/>
              <a:t> con </a:t>
            </a:r>
            <a:r>
              <a:rPr lang="es-ES" sz="1600" dirty="0" err="1"/>
              <a:t>mux</a:t>
            </a:r>
            <a:r>
              <a:rPr lang="es-ES" sz="1600" dirty="0"/>
              <a:t> </a:t>
            </a:r>
            <a:r>
              <a:rPr lang="es-ES" sz="1600" dirty="0" smtClean="0"/>
              <a:t>// //(</a:t>
            </a:r>
            <a:r>
              <a:rPr lang="es-ES" sz="1600" dirty="0" err="1"/>
              <a:t>pag</a:t>
            </a:r>
            <a:r>
              <a:rPr lang="es-ES" sz="1600" dirty="0"/>
              <a:t> 12)</a:t>
            </a:r>
          </a:p>
          <a:p>
            <a:endParaRPr lang="es-ES" sz="1600" dirty="0" smtClean="0"/>
          </a:p>
          <a:p>
            <a:r>
              <a:rPr lang="es-ES" sz="1600" dirty="0" err="1" smtClean="0"/>
              <a:t>assign</a:t>
            </a:r>
            <a:r>
              <a:rPr lang="es-ES" sz="1600" dirty="0" smtClean="0"/>
              <a:t> </a:t>
            </a:r>
            <a:r>
              <a:rPr lang="es-ES" sz="1600" dirty="0"/>
              <a:t>select_2[0]=B;</a:t>
            </a:r>
          </a:p>
          <a:p>
            <a:r>
              <a:rPr lang="es-ES" sz="1600" dirty="0" err="1" smtClean="0"/>
              <a:t>assign</a:t>
            </a:r>
            <a:r>
              <a:rPr lang="es-ES" sz="1600" dirty="0" smtClean="0"/>
              <a:t> </a:t>
            </a:r>
            <a:r>
              <a:rPr lang="es-ES" sz="1600" dirty="0"/>
              <a:t>select_2[1]=A;</a:t>
            </a:r>
          </a:p>
          <a:p>
            <a:endParaRPr lang="es-ES" sz="1600" dirty="0"/>
          </a:p>
          <a:p>
            <a:r>
              <a:rPr lang="es-ES" sz="1600" dirty="0" err="1" smtClean="0"/>
              <a:t>always</a:t>
            </a:r>
            <a:r>
              <a:rPr lang="es-ES" sz="1600" dirty="0" smtClean="0"/>
              <a:t> </a:t>
            </a:r>
            <a:r>
              <a:rPr lang="es-ES" sz="1600" dirty="0"/>
              <a:t>@(</a:t>
            </a:r>
            <a:r>
              <a:rPr lang="es-ES" sz="1600" dirty="0" err="1"/>
              <a:t>posedge</a:t>
            </a:r>
            <a:r>
              <a:rPr lang="es-ES" sz="1600" dirty="0"/>
              <a:t> </a:t>
            </a:r>
            <a:r>
              <a:rPr lang="es-ES" sz="1600" dirty="0" err="1"/>
              <a:t>clk</a:t>
            </a:r>
            <a:r>
              <a:rPr lang="es-ES" sz="1600" dirty="0"/>
              <a:t>)</a:t>
            </a:r>
          </a:p>
          <a:p>
            <a:r>
              <a:rPr lang="es-ES" sz="1600" dirty="0"/>
              <a:t>     case (select_2)</a:t>
            </a:r>
          </a:p>
          <a:p>
            <a:r>
              <a:rPr lang="es-ES" sz="1600" dirty="0"/>
              <a:t>         2'b00: Sal_2 = ~D;</a:t>
            </a:r>
          </a:p>
          <a:p>
            <a:r>
              <a:rPr lang="es-ES" sz="1600" dirty="0"/>
              <a:t>         2'b01: Sal_2 = (~C &amp; ~D);</a:t>
            </a:r>
          </a:p>
          <a:p>
            <a:r>
              <a:rPr lang="es-ES" sz="1600" dirty="0"/>
              <a:t>         2'b10: Sal_2 = (C &amp; D);</a:t>
            </a:r>
          </a:p>
          <a:p>
            <a:r>
              <a:rPr lang="es-ES" sz="1600" dirty="0"/>
              <a:t>         2'b11: Sal_2 = 1;</a:t>
            </a:r>
          </a:p>
          <a:p>
            <a:endParaRPr lang="es-ES" sz="1600" dirty="0"/>
          </a:p>
          <a:p>
            <a:r>
              <a:rPr lang="es-ES" sz="1600" dirty="0" err="1" smtClean="0"/>
              <a:t>endcase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45020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echa derecha 29"/>
          <p:cNvSpPr/>
          <p:nvPr/>
        </p:nvSpPr>
        <p:spPr>
          <a:xfrm rot="13028747" flipH="1" flipV="1">
            <a:off x="1544702" y="694956"/>
            <a:ext cx="2436033" cy="110259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</a:t>
            </a:r>
          </a:p>
          <a:p>
            <a:pPr algn="ctr"/>
            <a:r>
              <a:rPr lang="es-ES" dirty="0" err="1" smtClean="0"/>
              <a:t>Verilog</a:t>
            </a:r>
            <a:endParaRPr lang="es-ES" dirty="0"/>
          </a:p>
        </p:txBody>
      </p:sp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51736"/>
              </p:ext>
            </p:extLst>
          </p:nvPr>
        </p:nvGraphicFramePr>
        <p:xfrm>
          <a:off x="766763" y="1543050"/>
          <a:ext cx="2428875" cy="503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Hoja de cálculo" r:id="rId3" imgW="2428928" imgH="5772260" progId="Excel.Sheet.12">
                  <p:embed/>
                </p:oleObj>
              </mc:Choice>
              <mc:Fallback>
                <p:oleObj name="Hoja de cálculo" r:id="rId3" imgW="2428928" imgH="57722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763" y="1543050"/>
                        <a:ext cx="2428875" cy="5033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ángulo 3"/>
          <p:cNvSpPr/>
          <p:nvPr/>
        </p:nvSpPr>
        <p:spPr>
          <a:xfrm>
            <a:off x="1199456" y="1844824"/>
            <a:ext cx="648072" cy="464384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5" name="Conector recto 14"/>
          <p:cNvCxnSpPr/>
          <p:nvPr/>
        </p:nvCxnSpPr>
        <p:spPr>
          <a:xfrm>
            <a:off x="6174953" y="4581128"/>
            <a:ext cx="48245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/>
          <p:cNvSpPr/>
          <p:nvPr/>
        </p:nvSpPr>
        <p:spPr>
          <a:xfrm>
            <a:off x="3678990" y="689231"/>
            <a:ext cx="48225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sz="1200" dirty="0"/>
          </a:p>
          <a:p>
            <a:r>
              <a:rPr lang="es-ES" sz="1200" dirty="0"/>
              <a:t>//Clase 11 circuitos </a:t>
            </a:r>
            <a:r>
              <a:rPr lang="es-ES" sz="1200" dirty="0" err="1"/>
              <a:t>combinacionales</a:t>
            </a:r>
            <a:r>
              <a:rPr lang="es-ES" sz="1200" dirty="0"/>
              <a:t> con </a:t>
            </a:r>
            <a:r>
              <a:rPr lang="es-ES" sz="1200" dirty="0" err="1"/>
              <a:t>mux</a:t>
            </a:r>
            <a:r>
              <a:rPr lang="es-ES" sz="1200" dirty="0"/>
              <a:t> </a:t>
            </a:r>
            <a:r>
              <a:rPr lang="es-ES" sz="1200" dirty="0" smtClean="0"/>
              <a:t>// //(</a:t>
            </a:r>
            <a:r>
              <a:rPr lang="es-ES" sz="1200" dirty="0" err="1"/>
              <a:t>pag</a:t>
            </a:r>
            <a:r>
              <a:rPr lang="es-ES" sz="1200" dirty="0"/>
              <a:t> 12)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assign</a:t>
            </a:r>
            <a:r>
              <a:rPr lang="es-ES" sz="1200" dirty="0" smtClean="0"/>
              <a:t> </a:t>
            </a:r>
            <a:r>
              <a:rPr lang="es-ES" sz="1200" dirty="0"/>
              <a:t>select_2[0]=B;</a:t>
            </a:r>
          </a:p>
          <a:p>
            <a:r>
              <a:rPr lang="es-ES" sz="1200" dirty="0" err="1" smtClean="0"/>
              <a:t>assign</a:t>
            </a:r>
            <a:r>
              <a:rPr lang="es-ES" sz="1200" dirty="0" smtClean="0"/>
              <a:t> </a:t>
            </a:r>
            <a:r>
              <a:rPr lang="es-ES" sz="1200" dirty="0"/>
              <a:t>select_2[1]=A;</a:t>
            </a:r>
          </a:p>
          <a:p>
            <a:endParaRPr lang="es-ES" sz="1200" dirty="0"/>
          </a:p>
          <a:p>
            <a:r>
              <a:rPr lang="es-ES" sz="1200" dirty="0" err="1" smtClean="0"/>
              <a:t>always</a:t>
            </a:r>
            <a:r>
              <a:rPr lang="es-ES" sz="1200" dirty="0" smtClean="0"/>
              <a:t> @(</a:t>
            </a:r>
            <a:r>
              <a:rPr lang="es-ES" sz="1200" dirty="0" err="1" smtClean="0"/>
              <a:t>posedge</a:t>
            </a:r>
            <a:r>
              <a:rPr lang="es-ES" sz="1200" dirty="0" smtClean="0"/>
              <a:t> </a:t>
            </a:r>
            <a:r>
              <a:rPr lang="es-ES" sz="1200" dirty="0" err="1" smtClean="0"/>
              <a:t>clk</a:t>
            </a:r>
            <a:r>
              <a:rPr lang="es-ES" sz="1200" dirty="0" smtClean="0"/>
              <a:t>)</a:t>
            </a:r>
          </a:p>
          <a:p>
            <a:r>
              <a:rPr lang="es-ES" sz="1200" dirty="0" smtClean="0"/>
              <a:t>     </a:t>
            </a:r>
            <a:r>
              <a:rPr lang="es-ES" sz="1200" dirty="0"/>
              <a:t>case (select_2)</a:t>
            </a:r>
          </a:p>
          <a:p>
            <a:r>
              <a:rPr lang="es-ES" sz="1200" dirty="0"/>
              <a:t>         2'b00: Sal_2 = ~</a:t>
            </a:r>
            <a:r>
              <a:rPr lang="es-ES" sz="1200" dirty="0" smtClean="0"/>
              <a:t>D;</a:t>
            </a:r>
            <a:endParaRPr lang="es-ES" sz="1200" dirty="0"/>
          </a:p>
          <a:p>
            <a:r>
              <a:rPr lang="es-ES" sz="1200" dirty="0"/>
              <a:t>         2'b01: Sal_2 = (~C &amp; ~D);</a:t>
            </a:r>
          </a:p>
          <a:p>
            <a:r>
              <a:rPr lang="es-ES" sz="1200" dirty="0"/>
              <a:t>         2'b10: Sal_2 = (C &amp; D);</a:t>
            </a:r>
          </a:p>
          <a:p>
            <a:r>
              <a:rPr lang="es-ES" sz="1200" dirty="0"/>
              <a:t>         2'b11: Sal_2 = 1;</a:t>
            </a:r>
          </a:p>
          <a:p>
            <a:endParaRPr lang="es-ES" sz="1200" dirty="0"/>
          </a:p>
          <a:p>
            <a:r>
              <a:rPr lang="es-ES" sz="1200" dirty="0" err="1" smtClean="0"/>
              <a:t>endcase</a:t>
            </a:r>
            <a:endParaRPr lang="es-ES" sz="1200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300" y="3387971"/>
            <a:ext cx="8897864" cy="2615216"/>
          </a:xfrm>
          <a:prstGeom prst="rect">
            <a:avLst/>
          </a:prstGeom>
        </p:spPr>
      </p:pic>
      <p:grpSp>
        <p:nvGrpSpPr>
          <p:cNvPr id="45" name="Grupo 44"/>
          <p:cNvGrpSpPr/>
          <p:nvPr/>
        </p:nvGrpSpPr>
        <p:grpSpPr>
          <a:xfrm>
            <a:off x="7176120" y="1301088"/>
            <a:ext cx="3099498" cy="2086883"/>
            <a:chOff x="7176120" y="1301088"/>
            <a:chExt cx="3099498" cy="2086883"/>
          </a:xfrm>
        </p:grpSpPr>
        <p:grpSp>
          <p:nvGrpSpPr>
            <p:cNvPr id="42" name="Grupo 41"/>
            <p:cNvGrpSpPr/>
            <p:nvPr/>
          </p:nvGrpSpPr>
          <p:grpSpPr>
            <a:xfrm>
              <a:off x="7176120" y="1301088"/>
              <a:ext cx="3099498" cy="2086883"/>
              <a:chOff x="7533006" y="1259468"/>
              <a:chExt cx="3099498" cy="2086883"/>
            </a:xfrm>
          </p:grpSpPr>
          <p:grpSp>
            <p:nvGrpSpPr>
              <p:cNvPr id="29" name="Grupo 28"/>
              <p:cNvGrpSpPr/>
              <p:nvPr/>
            </p:nvGrpSpPr>
            <p:grpSpPr>
              <a:xfrm>
                <a:off x="8185717" y="1259468"/>
                <a:ext cx="2446787" cy="2086883"/>
                <a:chOff x="8185717" y="1259468"/>
                <a:chExt cx="2446787" cy="2086883"/>
              </a:xfrm>
            </p:grpSpPr>
            <p:grpSp>
              <p:nvGrpSpPr>
                <p:cNvPr id="27" name="Grupo 26"/>
                <p:cNvGrpSpPr/>
                <p:nvPr/>
              </p:nvGrpSpPr>
              <p:grpSpPr>
                <a:xfrm>
                  <a:off x="8552814" y="1304588"/>
                  <a:ext cx="2079690" cy="1908388"/>
                  <a:chOff x="8552814" y="1304588"/>
                  <a:chExt cx="2079690" cy="1908388"/>
                </a:xfrm>
              </p:grpSpPr>
              <p:cxnSp>
                <p:nvCxnSpPr>
                  <p:cNvPr id="20" name="Conector recto 19"/>
                  <p:cNvCxnSpPr/>
                  <p:nvPr/>
                </p:nvCxnSpPr>
                <p:spPr>
                  <a:xfrm>
                    <a:off x="10200456" y="1412776"/>
                    <a:ext cx="4320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6" name="Grupo 25"/>
                  <p:cNvGrpSpPr/>
                  <p:nvPr/>
                </p:nvGrpSpPr>
                <p:grpSpPr>
                  <a:xfrm>
                    <a:off x="8552814" y="1304588"/>
                    <a:ext cx="1647642" cy="1908388"/>
                    <a:chOff x="8552814" y="1304588"/>
                    <a:chExt cx="1647642" cy="1908388"/>
                  </a:xfrm>
                </p:grpSpPr>
                <p:sp>
                  <p:nvSpPr>
                    <p:cNvPr id="2" name="Rectángulo 1"/>
                    <p:cNvSpPr/>
                    <p:nvPr/>
                  </p:nvSpPr>
                  <p:spPr>
                    <a:xfrm>
                      <a:off x="8984862" y="1304588"/>
                      <a:ext cx="1215594" cy="1381894"/>
                    </a:xfrm>
                    <a:prstGeom prst="rect">
                      <a:avLst/>
                    </a:prstGeom>
                    <a:solidFill>
                      <a:schemeClr val="bg2">
                        <a:lumMod val="50000"/>
                      </a:schemeClr>
                    </a:solidFill>
                    <a:ln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dirty="0" smtClean="0"/>
                        <a:t>MUX</a:t>
                      </a:r>
                    </a:p>
                    <a:p>
                      <a:pPr algn="ctr"/>
                      <a:r>
                        <a:rPr lang="es-ES" dirty="0" smtClean="0"/>
                        <a:t>4</a:t>
                      </a:r>
                    </a:p>
                    <a:p>
                      <a:pPr algn="ctr"/>
                      <a:r>
                        <a:rPr lang="es-ES" dirty="0"/>
                        <a:t>a</a:t>
                      </a:r>
                      <a:endParaRPr lang="es-ES" dirty="0" smtClean="0"/>
                    </a:p>
                    <a:p>
                      <a:pPr algn="ctr"/>
                      <a:r>
                        <a:rPr lang="es-ES" dirty="0"/>
                        <a:t>1</a:t>
                      </a:r>
                    </a:p>
                  </p:txBody>
                </p:sp>
                <p:cxnSp>
                  <p:nvCxnSpPr>
                    <p:cNvPr id="10" name="Conector recto 9"/>
                    <p:cNvCxnSpPr/>
                    <p:nvPr/>
                  </p:nvCxnSpPr>
                  <p:spPr>
                    <a:xfrm>
                      <a:off x="8552814" y="1412776"/>
                      <a:ext cx="432048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Conector recto 15"/>
                    <p:cNvCxnSpPr/>
                    <p:nvPr/>
                  </p:nvCxnSpPr>
                  <p:spPr>
                    <a:xfrm>
                      <a:off x="8552814" y="1700808"/>
                      <a:ext cx="432048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Conector recto 16"/>
                    <p:cNvCxnSpPr/>
                    <p:nvPr/>
                  </p:nvCxnSpPr>
                  <p:spPr>
                    <a:xfrm>
                      <a:off x="8552814" y="2996952"/>
                      <a:ext cx="783546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Conector recto 17"/>
                    <p:cNvCxnSpPr/>
                    <p:nvPr/>
                  </p:nvCxnSpPr>
                  <p:spPr>
                    <a:xfrm>
                      <a:off x="8552814" y="2348880"/>
                      <a:ext cx="432048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Conector recto 18"/>
                    <p:cNvCxnSpPr/>
                    <p:nvPr/>
                  </p:nvCxnSpPr>
                  <p:spPr>
                    <a:xfrm>
                      <a:off x="8552814" y="2029597"/>
                      <a:ext cx="432048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Conector recto 20"/>
                    <p:cNvCxnSpPr/>
                    <p:nvPr/>
                  </p:nvCxnSpPr>
                  <p:spPr>
                    <a:xfrm>
                      <a:off x="8552814" y="3212976"/>
                      <a:ext cx="1143586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Conector recto 21"/>
                    <p:cNvCxnSpPr/>
                    <p:nvPr/>
                  </p:nvCxnSpPr>
                  <p:spPr>
                    <a:xfrm flipH="1" flipV="1">
                      <a:off x="9336360" y="2686482"/>
                      <a:ext cx="0" cy="31047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Conector recto 23"/>
                    <p:cNvCxnSpPr/>
                    <p:nvPr/>
                  </p:nvCxnSpPr>
                  <p:spPr>
                    <a:xfrm flipV="1">
                      <a:off x="9696400" y="2686482"/>
                      <a:ext cx="0" cy="526494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28" name="CuadroTexto 27"/>
                <p:cNvSpPr txBox="1"/>
                <p:nvPr/>
              </p:nvSpPr>
              <p:spPr>
                <a:xfrm>
                  <a:off x="8960502" y="1259468"/>
                  <a:ext cx="2968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400" dirty="0" smtClean="0"/>
                    <a:t>I</a:t>
                  </a:r>
                  <a:r>
                    <a:rPr lang="es-ES" sz="1400" baseline="-25000" dirty="0" smtClean="0"/>
                    <a:t>0</a:t>
                  </a:r>
                  <a:endParaRPr lang="es-ES" sz="1400" baseline="-25000" dirty="0"/>
                </a:p>
              </p:txBody>
            </p:sp>
            <p:sp>
              <p:nvSpPr>
                <p:cNvPr id="31" name="CuadroTexto 30"/>
                <p:cNvSpPr txBox="1"/>
                <p:nvPr/>
              </p:nvSpPr>
              <p:spPr>
                <a:xfrm>
                  <a:off x="8960502" y="1543050"/>
                  <a:ext cx="2968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400" dirty="0" smtClean="0"/>
                    <a:t>I</a:t>
                  </a:r>
                  <a:r>
                    <a:rPr lang="es-ES" sz="1400" baseline="-25000" dirty="0"/>
                    <a:t>1</a:t>
                  </a:r>
                </a:p>
              </p:txBody>
            </p:sp>
            <p:sp>
              <p:nvSpPr>
                <p:cNvPr id="32" name="CuadroTexto 31"/>
                <p:cNvSpPr txBox="1"/>
                <p:nvPr/>
              </p:nvSpPr>
              <p:spPr>
                <a:xfrm>
                  <a:off x="8984862" y="2196863"/>
                  <a:ext cx="2968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400" dirty="0" smtClean="0"/>
                    <a:t>I</a:t>
                  </a:r>
                  <a:r>
                    <a:rPr lang="es-ES" sz="1400" baseline="-25000" dirty="0"/>
                    <a:t>3</a:t>
                  </a:r>
                </a:p>
              </p:txBody>
            </p:sp>
            <p:sp>
              <p:nvSpPr>
                <p:cNvPr id="33" name="CuadroTexto 32"/>
                <p:cNvSpPr txBox="1"/>
                <p:nvPr/>
              </p:nvSpPr>
              <p:spPr>
                <a:xfrm>
                  <a:off x="8984862" y="1862332"/>
                  <a:ext cx="2968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400" dirty="0" smtClean="0"/>
                    <a:t>I</a:t>
                  </a:r>
                  <a:r>
                    <a:rPr lang="es-ES" sz="1400" baseline="-25000" dirty="0"/>
                    <a:t>2</a:t>
                  </a:r>
                </a:p>
              </p:txBody>
            </p:sp>
            <p:sp>
              <p:nvSpPr>
                <p:cNvPr id="34" name="CuadroTexto 33"/>
                <p:cNvSpPr txBox="1"/>
                <p:nvPr/>
              </p:nvSpPr>
              <p:spPr>
                <a:xfrm>
                  <a:off x="9884658" y="1259468"/>
                  <a:ext cx="3401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dirty="0" smtClean="0"/>
                    <a:t>Q</a:t>
                  </a:r>
                  <a:endParaRPr lang="es-ES" baseline="-25000" dirty="0"/>
                </a:p>
              </p:txBody>
            </p:sp>
            <p:sp>
              <p:nvSpPr>
                <p:cNvPr id="35" name="CuadroTexto 34"/>
                <p:cNvSpPr txBox="1"/>
                <p:nvPr/>
              </p:nvSpPr>
              <p:spPr>
                <a:xfrm>
                  <a:off x="8185717" y="2824112"/>
                  <a:ext cx="2904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400" dirty="0" smtClean="0"/>
                    <a:t>A</a:t>
                  </a:r>
                  <a:endParaRPr lang="es-ES" sz="1400" baseline="-25000" dirty="0"/>
                </a:p>
              </p:txBody>
            </p:sp>
            <p:sp>
              <p:nvSpPr>
                <p:cNvPr id="36" name="CuadroTexto 35"/>
                <p:cNvSpPr txBox="1"/>
                <p:nvPr/>
              </p:nvSpPr>
              <p:spPr>
                <a:xfrm>
                  <a:off x="8199831" y="3038574"/>
                  <a:ext cx="28565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400" dirty="0"/>
                    <a:t>B</a:t>
                  </a:r>
                  <a:endParaRPr lang="es-ES" sz="1400" baseline="-250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uadroTexto 37"/>
                  <p:cNvSpPr txBox="1"/>
                  <p:nvPr/>
                </p:nvSpPr>
                <p:spPr>
                  <a:xfrm>
                    <a:off x="7533006" y="1608627"/>
                    <a:ext cx="984179" cy="27757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es-ES" dirty="0"/>
                                <m:t> </m:t>
                              </m:r>
                            </m:e>
                          </m:acc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38" name="CuadroTexto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33006" y="1608627"/>
                    <a:ext cx="984179" cy="277576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4321" t="-2222" r="-9877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CuadroTexto 38"/>
              <p:cNvSpPr txBox="1"/>
              <p:nvPr/>
            </p:nvSpPr>
            <p:spPr>
              <a:xfrm>
                <a:off x="7570936" y="1274276"/>
                <a:ext cx="384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F=D</a:t>
                </a:r>
                <a:endParaRPr lang="es-E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CuadroTexto 39"/>
                  <p:cNvSpPr txBox="1"/>
                  <p:nvPr/>
                </p:nvSpPr>
                <p:spPr>
                  <a:xfrm>
                    <a:off x="7533006" y="1907672"/>
                    <a:ext cx="92198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es-ES" dirty="0"/>
                  </a:p>
                </p:txBody>
              </p:sp>
            </mc:Choice>
            <mc:Fallback xmlns="">
              <p:sp>
                <p:nvSpPr>
                  <p:cNvPr id="40" name="CuadroTexto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33006" y="1907672"/>
                    <a:ext cx="921984" cy="276999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 l="-4636" r="-4636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CuadroTexto 40"/>
              <p:cNvSpPr txBox="1"/>
              <p:nvPr/>
            </p:nvSpPr>
            <p:spPr>
              <a:xfrm>
                <a:off x="7580390" y="2252764"/>
                <a:ext cx="3654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F=1</a:t>
                </a:r>
                <a:endParaRPr lang="es-ES" dirty="0"/>
              </a:p>
            </p:txBody>
          </p:sp>
        </p:grpSp>
        <p:sp>
          <p:nvSpPr>
            <p:cNvPr id="43" name="CuadroTexto 42"/>
            <p:cNvSpPr txBox="1"/>
            <p:nvPr/>
          </p:nvSpPr>
          <p:spPr>
            <a:xfrm>
              <a:off x="8822060" y="2430446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 smtClean="0"/>
                <a:t>A</a:t>
              </a:r>
              <a:r>
                <a:rPr lang="es-ES" sz="1400" baseline="-25000" dirty="0"/>
                <a:t>1</a:t>
              </a:r>
            </a:p>
          </p:txBody>
        </p:sp>
        <p:sp>
          <p:nvSpPr>
            <p:cNvPr id="44" name="CuadroTexto 43"/>
            <p:cNvSpPr txBox="1"/>
            <p:nvPr/>
          </p:nvSpPr>
          <p:spPr>
            <a:xfrm>
              <a:off x="9192635" y="2430945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/>
                <a:t>A</a:t>
              </a:r>
              <a:r>
                <a:rPr lang="es-ES" sz="1400" baseline="-25000" dirty="0" smtClean="0"/>
                <a:t>0</a:t>
              </a:r>
              <a:endParaRPr lang="es-ES" sz="1400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019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404392" y="463378"/>
            <a:ext cx="48345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sz="1200" dirty="0"/>
          </a:p>
          <a:p>
            <a:r>
              <a:rPr lang="es-ES" sz="1200" dirty="0" smtClean="0"/>
              <a:t>//Funciones con multiplexor // //(</a:t>
            </a:r>
            <a:r>
              <a:rPr lang="es-ES" sz="1200" dirty="0" err="1"/>
              <a:t>pag</a:t>
            </a:r>
            <a:r>
              <a:rPr lang="es-ES" sz="1200" dirty="0"/>
              <a:t> 12)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assign</a:t>
            </a:r>
            <a:r>
              <a:rPr lang="es-ES" sz="1200" dirty="0" smtClean="0"/>
              <a:t> </a:t>
            </a:r>
            <a:r>
              <a:rPr lang="es-ES" sz="1200" dirty="0"/>
              <a:t>select_2[0]=B;</a:t>
            </a:r>
          </a:p>
          <a:p>
            <a:r>
              <a:rPr lang="es-ES" sz="1200" dirty="0" err="1" smtClean="0"/>
              <a:t>assign</a:t>
            </a:r>
            <a:r>
              <a:rPr lang="es-ES" sz="1200" dirty="0" smtClean="0"/>
              <a:t> </a:t>
            </a:r>
            <a:r>
              <a:rPr lang="es-ES" sz="1200" dirty="0"/>
              <a:t>select_2[1]=A;</a:t>
            </a:r>
          </a:p>
          <a:p>
            <a:endParaRPr lang="es-ES" sz="1200" dirty="0"/>
          </a:p>
          <a:p>
            <a:r>
              <a:rPr lang="es-ES" sz="1200" dirty="0" err="1" smtClean="0"/>
              <a:t>always</a:t>
            </a:r>
            <a:r>
              <a:rPr lang="es-ES" sz="1200" dirty="0" smtClean="0"/>
              <a:t> </a:t>
            </a:r>
            <a:r>
              <a:rPr lang="es-ES" sz="1200" dirty="0"/>
              <a:t>@(</a:t>
            </a:r>
            <a:r>
              <a:rPr lang="es-ES" sz="1200" dirty="0" err="1"/>
              <a:t>posedge</a:t>
            </a:r>
            <a:r>
              <a:rPr lang="es-ES" sz="1200" dirty="0"/>
              <a:t> </a:t>
            </a:r>
            <a:r>
              <a:rPr lang="es-ES" sz="1200" dirty="0" err="1"/>
              <a:t>clk</a:t>
            </a:r>
            <a:r>
              <a:rPr lang="es-ES" sz="1200" dirty="0"/>
              <a:t>)</a:t>
            </a:r>
          </a:p>
          <a:p>
            <a:r>
              <a:rPr lang="es-ES" sz="1200" dirty="0"/>
              <a:t>     case (select_2)</a:t>
            </a:r>
          </a:p>
          <a:p>
            <a:r>
              <a:rPr lang="es-ES" sz="1200" dirty="0"/>
              <a:t>         2'b00: Sal_2 = ~D;</a:t>
            </a:r>
          </a:p>
          <a:p>
            <a:r>
              <a:rPr lang="es-ES" sz="1200" dirty="0"/>
              <a:t>         2'b01: Sal_2 = (~C &amp; ~D);</a:t>
            </a:r>
          </a:p>
          <a:p>
            <a:r>
              <a:rPr lang="es-ES" sz="1200" dirty="0"/>
              <a:t>         2'b10: Sal_2 = (C &amp; D);</a:t>
            </a:r>
          </a:p>
          <a:p>
            <a:r>
              <a:rPr lang="es-ES" sz="1200" dirty="0"/>
              <a:t>         2'b11: Sal_2 = 1;</a:t>
            </a:r>
          </a:p>
          <a:p>
            <a:endParaRPr lang="es-ES" sz="1200" dirty="0"/>
          </a:p>
          <a:p>
            <a:r>
              <a:rPr lang="es-ES" sz="1200" dirty="0" err="1" smtClean="0"/>
              <a:t>endcase</a:t>
            </a:r>
            <a:endParaRPr lang="es-ES" sz="1200" dirty="0"/>
          </a:p>
        </p:txBody>
      </p:sp>
      <p:sp>
        <p:nvSpPr>
          <p:cNvPr id="30" name="Flecha derecha 29"/>
          <p:cNvSpPr/>
          <p:nvPr/>
        </p:nvSpPr>
        <p:spPr>
          <a:xfrm flipH="1">
            <a:off x="2409355" y="1124744"/>
            <a:ext cx="2225303" cy="1090813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Síncrono</a:t>
            </a:r>
            <a:endParaRPr lang="es-ES" dirty="0"/>
          </a:p>
        </p:txBody>
      </p:sp>
      <p:sp>
        <p:nvSpPr>
          <p:cNvPr id="12" name="Rectángulo 11"/>
          <p:cNvSpPr/>
          <p:nvPr/>
        </p:nvSpPr>
        <p:spPr>
          <a:xfrm>
            <a:off x="6374939" y="745972"/>
            <a:ext cx="48345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sz="1200" dirty="0"/>
          </a:p>
          <a:p>
            <a:r>
              <a:rPr lang="es-ES" sz="1200" dirty="0" smtClean="0"/>
              <a:t>//Funciones con multiplexor // //(</a:t>
            </a:r>
            <a:r>
              <a:rPr lang="es-ES" sz="1200" dirty="0" err="1"/>
              <a:t>pag</a:t>
            </a:r>
            <a:r>
              <a:rPr lang="es-ES" sz="1200" dirty="0"/>
              <a:t> 12)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assign</a:t>
            </a:r>
            <a:r>
              <a:rPr lang="es-ES" sz="1200" dirty="0" smtClean="0"/>
              <a:t> </a:t>
            </a:r>
            <a:r>
              <a:rPr lang="es-ES" sz="1200" dirty="0"/>
              <a:t>select_2[0]=B;</a:t>
            </a:r>
          </a:p>
          <a:p>
            <a:r>
              <a:rPr lang="es-ES" sz="1200" dirty="0" err="1" smtClean="0"/>
              <a:t>assign</a:t>
            </a:r>
            <a:r>
              <a:rPr lang="es-ES" sz="1200" dirty="0" smtClean="0"/>
              <a:t> </a:t>
            </a:r>
            <a:r>
              <a:rPr lang="es-ES" sz="1200" dirty="0"/>
              <a:t>select_2[1]=A;</a:t>
            </a:r>
          </a:p>
          <a:p>
            <a:endParaRPr lang="es-ES" sz="1200" dirty="0"/>
          </a:p>
          <a:p>
            <a:r>
              <a:rPr lang="es-ES" sz="1200" dirty="0" err="1" smtClean="0"/>
              <a:t>always</a:t>
            </a:r>
            <a:r>
              <a:rPr lang="es-ES" sz="1200" dirty="0" smtClean="0"/>
              <a:t> </a:t>
            </a:r>
            <a:r>
              <a:rPr lang="es-ES" sz="1200" dirty="0"/>
              <a:t>@(</a:t>
            </a:r>
            <a:r>
              <a:rPr lang="es-ES" sz="1200" dirty="0" smtClean="0"/>
              <a:t>select_2,A,B,C,D)</a:t>
            </a:r>
            <a:endParaRPr lang="es-ES" sz="1200" dirty="0"/>
          </a:p>
          <a:p>
            <a:r>
              <a:rPr lang="es-ES" sz="1200" dirty="0"/>
              <a:t>     case (select_2)</a:t>
            </a:r>
          </a:p>
          <a:p>
            <a:r>
              <a:rPr lang="es-ES" sz="1200" dirty="0"/>
              <a:t>         2'b00: Sal_2 = ~D;</a:t>
            </a:r>
          </a:p>
          <a:p>
            <a:r>
              <a:rPr lang="es-ES" sz="1200" dirty="0"/>
              <a:t>         2'b01: Sal_2 = (~C &amp; ~D);</a:t>
            </a:r>
          </a:p>
          <a:p>
            <a:r>
              <a:rPr lang="es-ES" sz="1200" dirty="0"/>
              <a:t>         2'b10: Sal_2 = (C &amp; D);</a:t>
            </a:r>
          </a:p>
          <a:p>
            <a:r>
              <a:rPr lang="es-ES" sz="1200" dirty="0"/>
              <a:t>         2'b11: Sal_2 = 1;</a:t>
            </a:r>
          </a:p>
          <a:p>
            <a:endParaRPr lang="es-ES" sz="1200" dirty="0"/>
          </a:p>
          <a:p>
            <a:r>
              <a:rPr lang="es-ES" sz="1200" dirty="0" err="1" smtClean="0"/>
              <a:t>endcase</a:t>
            </a:r>
            <a:endParaRPr lang="es-ES" sz="1200" dirty="0"/>
          </a:p>
        </p:txBody>
      </p:sp>
      <p:sp>
        <p:nvSpPr>
          <p:cNvPr id="13" name="Flecha derecha 12"/>
          <p:cNvSpPr/>
          <p:nvPr/>
        </p:nvSpPr>
        <p:spPr>
          <a:xfrm flipH="1">
            <a:off x="8629217" y="1484784"/>
            <a:ext cx="2225303" cy="1090813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 smtClean="0"/>
              <a:t>Combinacional</a:t>
            </a:r>
            <a:endParaRPr lang="es-ES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353" y="3432044"/>
            <a:ext cx="5970439" cy="2724150"/>
          </a:xfrm>
          <a:prstGeom prst="rect">
            <a:avLst/>
          </a:prstGeom>
        </p:spPr>
      </p:pic>
      <p:cxnSp>
        <p:nvCxnSpPr>
          <p:cNvPr id="18" name="Conector recto de flecha 17"/>
          <p:cNvCxnSpPr/>
          <p:nvPr/>
        </p:nvCxnSpPr>
        <p:spPr>
          <a:xfrm flipH="1">
            <a:off x="8544273" y="2391565"/>
            <a:ext cx="1080119" cy="1901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/>
          <p:nvPr/>
        </p:nvCxnSpPr>
        <p:spPr>
          <a:xfrm flipH="1">
            <a:off x="8470220" y="2391565"/>
            <a:ext cx="1224860" cy="26936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>
            <a:off x="9984432" y="2391565"/>
            <a:ext cx="1087432" cy="1901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/>
          <p:nvPr/>
        </p:nvCxnSpPr>
        <p:spPr>
          <a:xfrm>
            <a:off x="9912424" y="2391565"/>
            <a:ext cx="1159440" cy="26936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0" y="3378076"/>
            <a:ext cx="6116735" cy="2778118"/>
          </a:xfrm>
          <a:prstGeom prst="rect">
            <a:avLst/>
          </a:prstGeom>
        </p:spPr>
      </p:pic>
      <p:cxnSp>
        <p:nvCxnSpPr>
          <p:cNvPr id="33" name="Conector recto de flecha 32"/>
          <p:cNvCxnSpPr/>
          <p:nvPr/>
        </p:nvCxnSpPr>
        <p:spPr>
          <a:xfrm flipH="1">
            <a:off x="2520754" y="2170802"/>
            <a:ext cx="880140" cy="2122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/>
          <p:nvPr/>
        </p:nvCxnSpPr>
        <p:spPr>
          <a:xfrm flipH="1">
            <a:off x="2540952" y="2167030"/>
            <a:ext cx="928759" cy="24103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>
            <a:off x="3701819" y="2170802"/>
            <a:ext cx="1335922" cy="29143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>
            <a:off x="3776888" y="2167030"/>
            <a:ext cx="1678815" cy="20777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/>
          <p:nvPr/>
        </p:nvCxnSpPr>
        <p:spPr>
          <a:xfrm flipH="1">
            <a:off x="2450066" y="2170802"/>
            <a:ext cx="1071940" cy="31304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32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</a:t>
            </a:r>
            <a:r>
              <a:rPr lang="es-ES" sz="1400" dirty="0" smtClean="0"/>
              <a:t>:. Funciones utilizando </a:t>
            </a:r>
            <a:r>
              <a:rPr lang="es-ES" sz="1400" dirty="0" err="1" smtClean="0"/>
              <a:t>mux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844308" y="51573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</a:t>
            </a:r>
            <a:endParaRPr lang="es-ES" dirty="0"/>
          </a:p>
        </p:txBody>
      </p:sp>
      <p:sp>
        <p:nvSpPr>
          <p:cNvPr id="10" name="CuadroTexto 9"/>
          <p:cNvSpPr txBox="1"/>
          <p:nvPr/>
        </p:nvSpPr>
        <p:spPr>
          <a:xfrm>
            <a:off x="9697553" y="4993455"/>
            <a:ext cx="1796069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chemeClr val="tx1"/>
                </a:solidFill>
                <a:hlinkClick r:id="rId2" action="ppaction://program"/>
              </a:rPr>
              <a:t>Simular </a:t>
            </a:r>
            <a:r>
              <a:rPr lang="es-ES" dirty="0" err="1" smtClean="0">
                <a:solidFill>
                  <a:schemeClr val="tx1"/>
                </a:solidFill>
                <a:hlinkClick r:id="rId2" action="ppaction://program"/>
              </a:rPr>
              <a:t>Proteus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" name="Flecha derecha 3"/>
          <p:cNvSpPr/>
          <p:nvPr/>
        </p:nvSpPr>
        <p:spPr>
          <a:xfrm flipH="1">
            <a:off x="9545168" y="1060403"/>
            <a:ext cx="1944216" cy="151216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</a:t>
            </a:r>
          </a:p>
          <a:p>
            <a:pPr algn="ctr"/>
            <a:r>
              <a:rPr lang="es-ES" dirty="0" err="1" smtClean="0"/>
              <a:t>Verilog</a:t>
            </a: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624932" y="2436706"/>
            <a:ext cx="9215484" cy="18002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dirty="0" smtClean="0"/>
              <a:t>Tarea:</a:t>
            </a:r>
          </a:p>
          <a:p>
            <a:r>
              <a:rPr lang="es-ES" dirty="0" smtClean="0"/>
              <a:t>Implementar las siguientes funciones booleana con multiplexor utilizando como herramienta de descripción de hardware al lenguaje </a:t>
            </a:r>
            <a:r>
              <a:rPr lang="es-ES" dirty="0" err="1" smtClean="0"/>
              <a:t>Verilog</a:t>
            </a:r>
            <a:r>
              <a:rPr lang="es-ES" dirty="0" smtClean="0"/>
              <a:t>.</a:t>
            </a:r>
          </a:p>
          <a:p>
            <a:endParaRPr lang="es-ES" dirty="0" smtClean="0"/>
          </a:p>
          <a:p>
            <a:r>
              <a:rPr lang="es-ES" dirty="0" smtClean="0"/>
              <a:t>Realizar F1 y F2 </a:t>
            </a:r>
            <a:r>
              <a:rPr lang="es-ES" dirty="0"/>
              <a:t>con multiplexor 4 A </a:t>
            </a:r>
            <a:r>
              <a:rPr lang="es-ES" dirty="0" smtClean="0"/>
              <a:t>1</a:t>
            </a:r>
          </a:p>
          <a:p>
            <a:r>
              <a:rPr lang="es-ES" dirty="0"/>
              <a:t>Realizar F1 y F2</a:t>
            </a:r>
            <a:r>
              <a:rPr lang="es-ES" dirty="0" smtClean="0"/>
              <a:t> </a:t>
            </a:r>
            <a:r>
              <a:rPr lang="es-ES" dirty="0"/>
              <a:t>con multiplexor </a:t>
            </a:r>
            <a:r>
              <a:rPr lang="es-ES" dirty="0" smtClean="0"/>
              <a:t>8 </a:t>
            </a:r>
            <a:r>
              <a:rPr lang="es-ES" dirty="0"/>
              <a:t>A </a:t>
            </a:r>
            <a:r>
              <a:rPr lang="es-ES" dirty="0" smtClean="0"/>
              <a:t>1</a:t>
            </a:r>
          </a:p>
          <a:p>
            <a:r>
              <a:rPr lang="es-ES" dirty="0" smtClean="0"/>
              <a:t>Cada proyecto debe tener ambas salidas resueltas con la misma entidad</a:t>
            </a:r>
            <a:endParaRPr lang="es-ES" dirty="0"/>
          </a:p>
          <a:p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623392" y="539808"/>
                <a:ext cx="3045064" cy="67076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𝐴𝐵𝐶𝐷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0,2,5,8,10,14</m:t>
                          </m:r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539808"/>
                <a:ext cx="3045064" cy="67076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623098" y="1281369"/>
                <a:ext cx="2430152" cy="67076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𝐴𝐵𝐶𝐷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2,6,11</m:t>
                          </m:r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98" y="1281369"/>
                <a:ext cx="2430152" cy="67076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417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4" name="Flecha derecha 3"/>
          <p:cNvSpPr/>
          <p:nvPr/>
        </p:nvSpPr>
        <p:spPr>
          <a:xfrm flipH="1">
            <a:off x="9545168" y="1060403"/>
            <a:ext cx="1944216" cy="151216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</a:t>
            </a:r>
          </a:p>
          <a:p>
            <a:pPr algn="ctr"/>
            <a:r>
              <a:rPr lang="es-ES" dirty="0" err="1" smtClean="0"/>
              <a:t>Verilog</a:t>
            </a: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623098" y="2348880"/>
            <a:ext cx="9215484" cy="27777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dirty="0" smtClean="0"/>
              <a:t>Tarea:</a:t>
            </a:r>
          </a:p>
          <a:p>
            <a:r>
              <a:rPr lang="es-ES" dirty="0" smtClean="0"/>
              <a:t>Implementar las siguientes funciones booleana con multiplexor utilizando como herramienta de descripción de hardware al lenguaje </a:t>
            </a:r>
            <a:r>
              <a:rPr lang="es-ES" dirty="0" err="1" smtClean="0"/>
              <a:t>Verilog</a:t>
            </a:r>
            <a:r>
              <a:rPr lang="es-ES" dirty="0" smtClean="0"/>
              <a:t>.</a:t>
            </a:r>
          </a:p>
          <a:p>
            <a:endParaRPr lang="es-ES" dirty="0" smtClean="0"/>
          </a:p>
          <a:p>
            <a:r>
              <a:rPr lang="es-ES" dirty="0" smtClean="0"/>
              <a:t>Realizar F1 y F2 </a:t>
            </a:r>
            <a:r>
              <a:rPr lang="es-ES" dirty="0"/>
              <a:t>con multiplexor 4 A </a:t>
            </a:r>
            <a:r>
              <a:rPr lang="es-ES" dirty="0" smtClean="0"/>
              <a:t>1</a:t>
            </a:r>
          </a:p>
          <a:p>
            <a:r>
              <a:rPr lang="es-ES" dirty="0" smtClean="0"/>
              <a:t>Cada proyecto debe tener ambas salidas resueltas con la misma entidad y con un único </a:t>
            </a:r>
            <a:r>
              <a:rPr lang="es-ES" dirty="0" err="1" smtClean="0"/>
              <a:t>mux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dirty="0" smtClean="0"/>
              <a:t>Nota: El multiplexor debe ser síncrono y debe tener </a:t>
            </a:r>
            <a:r>
              <a:rPr lang="es-ES" dirty="0" err="1" smtClean="0"/>
              <a:t>reset</a:t>
            </a:r>
            <a:r>
              <a:rPr lang="es-ES" dirty="0" smtClean="0"/>
              <a:t> donde toda las salidas, se ponen a ‘0’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623392" y="539808"/>
                <a:ext cx="2279021" cy="67076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𝐴𝐵𝐶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1,2,3,6</m:t>
                          </m:r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539808"/>
                <a:ext cx="2279021" cy="67076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623098" y="1281369"/>
                <a:ext cx="2321341" cy="67076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𝐴𝐵𝐶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0,1,3,4</m:t>
                          </m:r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98" y="1281369"/>
                <a:ext cx="2321341" cy="67076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78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8834906" y="6488668"/>
            <a:ext cx="321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 </a:t>
            </a:r>
            <a:r>
              <a:rPr lang="es-ES" dirty="0" err="1" smtClean="0"/>
              <a:t>Prof</a:t>
            </a:r>
            <a:r>
              <a:rPr lang="es-ES" dirty="0" smtClean="0"/>
              <a:t> JTP .Ing. Sergio Olmedo</a:t>
            </a:r>
            <a:endParaRPr lang="es-ES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9517040" y="95534"/>
            <a:ext cx="2674960" cy="621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mtClean="0">
                <a:solidFill>
                  <a:srgbClr val="002060"/>
                </a:solidFill>
              </a:rPr>
              <a:t>TUP_SPD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7" name="Cubo 36"/>
          <p:cNvSpPr/>
          <p:nvPr/>
        </p:nvSpPr>
        <p:spPr>
          <a:xfrm>
            <a:off x="1" y="0"/>
            <a:ext cx="4838700" cy="375898"/>
          </a:xfrm>
          <a:prstGeom prst="cube">
            <a:avLst>
              <a:gd name="adj" fmla="val 24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Unidad Temática Nº 5:. Circuitos </a:t>
            </a:r>
            <a:r>
              <a:rPr lang="es-ES" sz="1400" dirty="0" err="1"/>
              <a:t>combinacionales</a:t>
            </a:r>
            <a:endParaRPr lang="es-ES" sz="1400" dirty="0"/>
          </a:p>
        </p:txBody>
      </p:sp>
      <p:sp>
        <p:nvSpPr>
          <p:cNvPr id="3" name="Rectángulo 2"/>
          <p:cNvSpPr/>
          <p:nvPr/>
        </p:nvSpPr>
        <p:spPr>
          <a:xfrm>
            <a:off x="5241928" y="95534"/>
            <a:ext cx="2682631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Practico de aula N°4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324" y="464866"/>
            <a:ext cx="9720049" cy="1167020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323531"/>
              </p:ext>
            </p:extLst>
          </p:nvPr>
        </p:nvGraphicFramePr>
        <p:xfrm>
          <a:off x="766763" y="1543050"/>
          <a:ext cx="3192462" cy="503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Hoja de cálculo" r:id="rId4" imgW="3190758" imgH="5772186" progId="Excel.Sheet.12">
                  <p:embed/>
                </p:oleObj>
              </mc:Choice>
              <mc:Fallback>
                <p:oleObj name="Hoja de cálculo" r:id="rId4" imgW="3190758" imgH="577218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6763" y="1543050"/>
                        <a:ext cx="3192462" cy="5033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ángulo 3"/>
          <p:cNvSpPr/>
          <p:nvPr/>
        </p:nvSpPr>
        <p:spPr>
          <a:xfrm>
            <a:off x="1199456" y="1844824"/>
            <a:ext cx="648072" cy="464384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253703"/>
              </p:ext>
            </p:extLst>
          </p:nvPr>
        </p:nvGraphicFramePr>
        <p:xfrm>
          <a:off x="3929317" y="1808019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Hoja de cálculo" r:id="rId6" imgW="1600296" imgH="1000249" progId="Excel.Sheet.12">
                  <p:embed/>
                </p:oleObj>
              </mc:Choice>
              <mc:Fallback>
                <p:oleObj name="Hoja de cálculo" r:id="rId6" imgW="1600296" imgH="10002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29317" y="1808019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666690"/>
              </p:ext>
            </p:extLst>
          </p:nvPr>
        </p:nvGraphicFramePr>
        <p:xfrm>
          <a:off x="3929317" y="3109088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Hoja de cálculo" r:id="rId8" imgW="1600296" imgH="1000249" progId="Excel.Sheet.12">
                  <p:embed/>
                </p:oleObj>
              </mc:Choice>
              <mc:Fallback>
                <p:oleObj name="Hoja de cálculo" r:id="rId8" imgW="1600296" imgH="10002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29317" y="3109088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732802"/>
              </p:ext>
            </p:extLst>
          </p:nvPr>
        </p:nvGraphicFramePr>
        <p:xfrm>
          <a:off x="3935250" y="4363085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Hoja de cálculo" r:id="rId10" imgW="1600296" imgH="1000249" progId="Excel.Sheet.12">
                  <p:embed/>
                </p:oleObj>
              </mc:Choice>
              <mc:Fallback>
                <p:oleObj name="Hoja de cálculo" r:id="rId10" imgW="1600296" imgH="10002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35250" y="4363085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065350"/>
              </p:ext>
            </p:extLst>
          </p:nvPr>
        </p:nvGraphicFramePr>
        <p:xfrm>
          <a:off x="3935250" y="5513943"/>
          <a:ext cx="16002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Hoja de cálculo" r:id="rId11" imgW="1600296" imgH="1000249" progId="Excel.Sheet.12">
                  <p:embed/>
                </p:oleObj>
              </mc:Choice>
              <mc:Fallback>
                <p:oleObj name="Hoja de cálculo" r:id="rId11" imgW="1600296" imgH="10002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35250" y="5513943"/>
                        <a:ext cx="1600200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Conector recto 5"/>
          <p:cNvCxnSpPr/>
          <p:nvPr/>
        </p:nvCxnSpPr>
        <p:spPr>
          <a:xfrm>
            <a:off x="3287688" y="3068960"/>
            <a:ext cx="33843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3287688" y="6577258"/>
            <a:ext cx="48245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3287688" y="5373216"/>
            <a:ext cx="3384376" cy="82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3359696" y="4221088"/>
            <a:ext cx="33123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/>
              <p:cNvSpPr txBox="1"/>
              <p:nvPr/>
            </p:nvSpPr>
            <p:spPr>
              <a:xfrm>
                <a:off x="5757472" y="2247047"/>
                <a:ext cx="9989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21" name="Cuadro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472" y="2247047"/>
                <a:ext cx="998991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14024" t="-31111" r="-8537" b="-4888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ángulo redondeado 21"/>
          <p:cNvSpPr/>
          <p:nvPr/>
        </p:nvSpPr>
        <p:spPr>
          <a:xfrm>
            <a:off x="5087888" y="2295382"/>
            <a:ext cx="288032" cy="473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 redondeado 23"/>
          <p:cNvSpPr/>
          <p:nvPr/>
        </p:nvSpPr>
        <p:spPr>
          <a:xfrm>
            <a:off x="5131343" y="3596450"/>
            <a:ext cx="216260" cy="2291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redondeado 24"/>
          <p:cNvSpPr/>
          <p:nvPr/>
        </p:nvSpPr>
        <p:spPr>
          <a:xfrm>
            <a:off x="4499048" y="6006569"/>
            <a:ext cx="956831" cy="25308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/>
              <p:cNvSpPr txBox="1"/>
              <p:nvPr/>
            </p:nvSpPr>
            <p:spPr>
              <a:xfrm>
                <a:off x="5727638" y="3643738"/>
                <a:ext cx="1490536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26" name="Cuadro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38" y="3643738"/>
                <a:ext cx="1490536" cy="277576"/>
              </a:xfrm>
              <a:prstGeom prst="rect">
                <a:avLst/>
              </a:prstGeom>
              <a:blipFill rotWithShape="0">
                <a:blip r:embed="rId14"/>
                <a:stretch>
                  <a:fillRect l="-9836" t="-28889" r="-5328" b="-5111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/>
              <p:cNvSpPr txBox="1"/>
              <p:nvPr/>
            </p:nvSpPr>
            <p:spPr>
              <a:xfrm>
                <a:off x="5687640" y="5982652"/>
                <a:ext cx="5562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28" name="Cuadro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640" y="5982652"/>
                <a:ext cx="556243" cy="276999"/>
              </a:xfrm>
              <a:prstGeom prst="rect">
                <a:avLst/>
              </a:prstGeom>
              <a:blipFill rotWithShape="0">
                <a:blip r:embed="rId15"/>
                <a:stretch>
                  <a:fillRect l="-25275" t="-30435" r="-16484" b="-4782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lecha derecha 29"/>
          <p:cNvSpPr/>
          <p:nvPr/>
        </p:nvSpPr>
        <p:spPr>
          <a:xfrm flipH="1">
            <a:off x="6423819" y="689231"/>
            <a:ext cx="4536504" cy="151216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En</a:t>
            </a:r>
          </a:p>
          <a:p>
            <a:pPr algn="ctr"/>
            <a:r>
              <a:rPr lang="es-ES" dirty="0" err="1" smtClean="0"/>
              <a:t>Verilog</a:t>
            </a:r>
            <a:endParaRPr lang="es-ES" dirty="0"/>
          </a:p>
        </p:txBody>
      </p:sp>
      <p:sp>
        <p:nvSpPr>
          <p:cNvPr id="29" name="Rectángulo redondeado 28"/>
          <p:cNvSpPr/>
          <p:nvPr/>
        </p:nvSpPr>
        <p:spPr>
          <a:xfrm>
            <a:off x="4516400" y="2265739"/>
            <a:ext cx="939480" cy="2583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redondeado 30"/>
          <p:cNvSpPr/>
          <p:nvPr/>
        </p:nvSpPr>
        <p:spPr>
          <a:xfrm>
            <a:off x="4567511" y="3820289"/>
            <a:ext cx="216260" cy="2291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/>
              <p:cNvSpPr txBox="1"/>
              <p:nvPr/>
            </p:nvSpPr>
            <p:spPr>
              <a:xfrm>
                <a:off x="5924323" y="4772034"/>
                <a:ext cx="9989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dirty="0" smtClean="0"/>
                  <a:t>F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32" name="CuadroTexto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323" y="4772034"/>
                <a:ext cx="998991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14634" t="-31111" r="-8537" b="-4888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622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13916</TotalTime>
  <Words>1114</Words>
  <Application>Microsoft Office PowerPoint</Application>
  <PresentationFormat>Panorámica</PresentationFormat>
  <Paragraphs>353</Paragraphs>
  <Slides>18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30" baseType="lpstr">
      <vt:lpstr>Arial</vt:lpstr>
      <vt:lpstr>Calibri</vt:lpstr>
      <vt:lpstr>Cambria Math</vt:lpstr>
      <vt:lpstr>Montserrat SemiBold</vt:lpstr>
      <vt:lpstr>Tahoma</vt:lpstr>
      <vt:lpstr>Times New Roman</vt:lpstr>
      <vt:lpstr>Trebuchet MS</vt:lpstr>
      <vt:lpstr>Wingdings</vt:lpstr>
      <vt:lpstr>Wingdings 3</vt:lpstr>
      <vt:lpstr>Faceta</vt:lpstr>
      <vt:lpstr>Hoja de cálculo</vt:lpstr>
      <vt:lpstr>Hoja de cálculo de Microsoft Excel</vt:lpstr>
      <vt:lpstr>TD1</vt:lpstr>
      <vt:lpstr>TD1</vt:lpstr>
      <vt:lpstr>TD1</vt:lpstr>
      <vt:lpstr>TD1</vt:lpstr>
      <vt:lpstr>TD1</vt:lpstr>
      <vt:lpstr>TD1</vt:lpstr>
      <vt:lpstr>TD1</vt:lpstr>
      <vt:lpstr>Presentación de PowerPoint</vt:lpstr>
      <vt:lpstr>Presentación de PowerPoint</vt:lpstr>
      <vt:lpstr>TD1</vt:lpstr>
      <vt:lpstr>TD1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EySC- Electrónica</dc:title>
  <dc:creator>Sergio</dc:creator>
  <cp:lastModifiedBy>tecno</cp:lastModifiedBy>
  <cp:revision>397</cp:revision>
  <cp:lastPrinted>2020-08-04T21:34:08Z</cp:lastPrinted>
  <dcterms:created xsi:type="dcterms:W3CDTF">2020-03-19T15:22:29Z</dcterms:created>
  <dcterms:modified xsi:type="dcterms:W3CDTF">2021-08-31T02:10:43Z</dcterms:modified>
</cp:coreProperties>
</file>
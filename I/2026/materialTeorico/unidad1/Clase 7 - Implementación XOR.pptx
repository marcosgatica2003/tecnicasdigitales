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4" r:id="rId4"/>
    <p:sldId id="265" r:id="rId5"/>
    <p:sldId id="266" r:id="rId6"/>
    <p:sldId id="267" r:id="rId7"/>
    <p:sldId id="268" r:id="rId8"/>
    <p:sldId id="270" r:id="rId9"/>
    <p:sldId id="271" r:id="rId10"/>
  </p:sldIdLst>
  <p:sldSz cx="9144000" cy="6858000" type="screen4x3"/>
  <p:notesSz cx="6858000" cy="9144000"/>
  <p:defaultTextStyle>
    <a:defPPr>
      <a:defRPr lang="es-A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FFFF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713" autoAdjust="0"/>
  </p:normalViewPr>
  <p:slideViewPr>
    <p:cSldViewPr>
      <p:cViewPr varScale="1">
        <p:scale>
          <a:sx n="109" d="100"/>
          <a:sy n="109" d="100"/>
        </p:scale>
        <p:origin x="129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36303-8D6F-4CF9-A7BF-DBA46A2FFC5D}" type="datetimeFigureOut">
              <a:rPr lang="es-AR"/>
              <a:pPr>
                <a:defRPr/>
              </a:pPr>
              <a:t>13/5/2021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C2B02-AD21-475F-8054-96C87B3F2151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BBEF0-E2BC-4FA5-AA6C-C6C94F5602BC}" type="datetimeFigureOut">
              <a:rPr lang="es-AR"/>
              <a:pPr>
                <a:defRPr/>
              </a:pPr>
              <a:t>13/5/2021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FD6A5-DECF-4135-BF90-C748D5B0200A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FC39C-A6DD-4AF6-A26A-FBCEC9FD5BB0}" type="datetimeFigureOut">
              <a:rPr lang="es-AR"/>
              <a:pPr>
                <a:defRPr/>
              </a:pPr>
              <a:t>13/5/2021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5DBFD-5377-4082-8FE4-4D729A3F0056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60A3D-68FA-445B-A63D-3C1AB79FE52E}" type="datetimeFigureOut">
              <a:rPr lang="es-AR"/>
              <a:pPr>
                <a:defRPr/>
              </a:pPr>
              <a:t>13/5/2021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9A413-8D17-4F76-97FB-D073ABFDC77E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8057E-58DD-411D-9F63-85015BFC0CC8}" type="datetimeFigureOut">
              <a:rPr lang="es-AR"/>
              <a:pPr>
                <a:defRPr/>
              </a:pPr>
              <a:t>13/5/2021</a:t>
            </a:fld>
            <a:endParaRPr lang="es-AR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9A7BA-DCA6-41CC-8B14-79DF7BDE637B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FF590-AF85-48A7-B448-F0BECBF7C70E}" type="datetimeFigureOut">
              <a:rPr lang="es-AR"/>
              <a:pPr>
                <a:defRPr/>
              </a:pPr>
              <a:t>13/5/2021</a:t>
            </a:fld>
            <a:endParaRPr lang="es-AR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0ED78-EE55-4F2D-A72F-ECD1237ADF08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E637D-4E8B-44A1-9892-805334FB3B20}" type="datetimeFigureOut">
              <a:rPr lang="es-AR"/>
              <a:pPr>
                <a:defRPr/>
              </a:pPr>
              <a:t>13/5/2021</a:t>
            </a:fld>
            <a:endParaRPr lang="es-AR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85EEC-8506-437D-BF5C-F8BB48C378D9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3A12F-8971-4078-A71A-9EDFFFB5379A}" type="datetimeFigureOut">
              <a:rPr lang="es-AR"/>
              <a:pPr>
                <a:defRPr/>
              </a:pPr>
              <a:t>13/5/2021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14F42-C266-40EB-A1D2-BF4F28FF1A2F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smtClean="0"/>
              <a:t>Haga clic en el icono para agregar una imagen</a:t>
            </a:r>
            <a:endParaRPr lang="es-AR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D5612-E5F5-4FEE-B6AF-54F3D0F3EB04}" type="datetimeFigureOut">
              <a:rPr lang="es-AR"/>
              <a:pPr>
                <a:defRPr/>
              </a:pPr>
              <a:t>13/5/2021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175E9-D35A-4C1D-9A41-D8771EDC9292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30D86-6316-4019-82E5-4600938A0610}" type="datetimeFigureOut">
              <a:rPr lang="es-AR"/>
              <a:pPr>
                <a:defRPr/>
              </a:pPr>
              <a:t>13/5/2021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44352-3829-43B0-A7D5-F66A7E62D3B1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CF8E9-280C-42D9-BB4C-5983F9FF6F50}" type="datetimeFigureOut">
              <a:rPr lang="es-AR"/>
              <a:pPr>
                <a:defRPr/>
              </a:pPr>
              <a:t>13/5/2021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04820-D51E-413E-AFE7-F60CEE0FA9A3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AR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44A9A8-C424-487A-8E45-5F7FB71B8188}" type="datetimeFigureOut">
              <a:rPr lang="es-AR"/>
              <a:pPr>
                <a:defRPr/>
              </a:pPr>
              <a:t>13/5/2021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973B51B-9198-4E3F-8B15-817C7408C111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51" name="Line 3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685800" y="35814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052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3167063"/>
            <a:ext cx="27384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latin typeface="Times New Roman" pitchFamily="18" charset="0"/>
              </a:rPr>
              <a:t>Técnicas Digitales I </a:t>
            </a:r>
            <a:endParaRPr lang="en-GB" sz="2400" i="1">
              <a:latin typeface="Times New Roman" pitchFamily="18" charset="0"/>
            </a:endParaRPr>
          </a:p>
        </p:txBody>
      </p:sp>
      <p:sp>
        <p:nvSpPr>
          <p:cNvPr id="2053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89663" y="3595688"/>
            <a:ext cx="2127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Luis Eduardo Toledo</a:t>
            </a:r>
            <a:endParaRPr lang="en-GB">
              <a:latin typeface="Times New Roman" pitchFamily="18" charset="0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CLASE 7: FUNCIÓN 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XOR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2055" name="Picture 3" descr="D:\Luis\Facultad\UTN\240px-UTN_logo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FUNCIÓN </a:t>
            </a:r>
            <a:r>
              <a:rPr lang="en-GB" sz="2400" kern="0" dirty="0" smtClean="0">
                <a:solidFill>
                  <a:srgbClr val="FFC000"/>
                </a:solidFill>
                <a:latin typeface="Arial Black"/>
                <a:ea typeface="+mj-ea"/>
                <a:cs typeface="Arial"/>
              </a:rPr>
              <a:t>XOR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58530" y="1556792"/>
            <a:ext cx="253365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10 Grupo"/>
          <p:cNvGrpSpPr/>
          <p:nvPr/>
        </p:nvGrpSpPr>
        <p:grpSpPr>
          <a:xfrm>
            <a:off x="467544" y="1376772"/>
            <a:ext cx="1944216" cy="1944216"/>
            <a:chOff x="467544" y="1988840"/>
            <a:chExt cx="1944216" cy="1944216"/>
          </a:xfrm>
        </p:grpSpPr>
        <p:cxnSp>
          <p:nvCxnSpPr>
            <p:cNvPr id="12" name="11 Conector recto"/>
            <p:cNvCxnSpPr/>
            <p:nvPr/>
          </p:nvCxnSpPr>
          <p:spPr bwMode="auto">
            <a:xfrm>
              <a:off x="467544" y="2420888"/>
              <a:ext cx="1872208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12 Conector recto"/>
            <p:cNvCxnSpPr/>
            <p:nvPr/>
          </p:nvCxnSpPr>
          <p:spPr bwMode="auto">
            <a:xfrm>
              <a:off x="1763688" y="2060848"/>
              <a:ext cx="0" cy="1872208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" name="13 CuadroTexto"/>
            <p:cNvSpPr txBox="1"/>
            <p:nvPr/>
          </p:nvSpPr>
          <p:spPr>
            <a:xfrm>
              <a:off x="683568" y="1988840"/>
              <a:ext cx="17281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x     y      f        </a:t>
              </a:r>
              <a:endParaRPr lang="es-AR" sz="2400" dirty="0"/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683568" y="2391271"/>
              <a:ext cx="1584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0     0     0</a:t>
              </a:r>
              <a:endParaRPr lang="es-AR" sz="2400" dirty="0"/>
            </a:p>
          </p:txBody>
        </p:sp>
        <p:sp>
          <p:nvSpPr>
            <p:cNvPr id="16" name="15 CuadroTexto"/>
            <p:cNvSpPr txBox="1"/>
            <p:nvPr/>
          </p:nvSpPr>
          <p:spPr>
            <a:xfrm>
              <a:off x="683568" y="2751311"/>
              <a:ext cx="16561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0     1     1</a:t>
              </a:r>
              <a:endParaRPr lang="es-AR" sz="2400" dirty="0"/>
            </a:p>
          </p:txBody>
        </p:sp>
        <p:sp>
          <p:nvSpPr>
            <p:cNvPr id="17" name="16 CuadroTexto"/>
            <p:cNvSpPr txBox="1"/>
            <p:nvPr/>
          </p:nvSpPr>
          <p:spPr>
            <a:xfrm>
              <a:off x="683568" y="3068960"/>
              <a:ext cx="1584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1     0     1</a:t>
              </a:r>
              <a:endParaRPr lang="es-AR" sz="2400" dirty="0"/>
            </a:p>
          </p:txBody>
        </p:sp>
        <p:sp>
          <p:nvSpPr>
            <p:cNvPr id="18" name="17 CuadroTexto"/>
            <p:cNvSpPr txBox="1"/>
            <p:nvPr/>
          </p:nvSpPr>
          <p:spPr>
            <a:xfrm>
              <a:off x="683568" y="3429000"/>
              <a:ext cx="16561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1     1     0</a:t>
              </a:r>
              <a:endParaRPr lang="es-AR" sz="2400" dirty="0"/>
            </a:p>
          </p:txBody>
        </p:sp>
      </p:grpSp>
      <p:sp>
        <p:nvSpPr>
          <p:cNvPr id="21" name="20 CuadroTexto"/>
          <p:cNvSpPr txBox="1"/>
          <p:nvPr/>
        </p:nvSpPr>
        <p:spPr>
          <a:xfrm>
            <a:off x="2591780" y="2201959"/>
            <a:ext cx="64802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 smtClean="0"/>
              <a:t>La OR exclusiva es igual a 1 si únicamente </a:t>
            </a:r>
            <a:r>
              <a:rPr lang="es-AR" sz="2000" i="1" dirty="0" smtClean="0">
                <a:solidFill>
                  <a:srgbClr val="FF0000"/>
                </a:solidFill>
              </a:rPr>
              <a:t>x</a:t>
            </a:r>
            <a:r>
              <a:rPr lang="es-AR" sz="2000" dirty="0" smtClean="0"/>
              <a:t> es igual a 1 o si únicamente </a:t>
            </a:r>
            <a:r>
              <a:rPr lang="es-AR" sz="2000" i="1" dirty="0" smtClean="0">
                <a:solidFill>
                  <a:srgbClr val="FF0000"/>
                </a:solidFill>
              </a:rPr>
              <a:t>y</a:t>
            </a:r>
            <a:r>
              <a:rPr lang="es-AR" sz="2000" dirty="0" smtClean="0"/>
              <a:t> es igual a 1 (es decir, </a:t>
            </a:r>
            <a:r>
              <a:rPr lang="es-AR" sz="2000" i="1" dirty="0" smtClean="0">
                <a:solidFill>
                  <a:srgbClr val="FF0000"/>
                </a:solidFill>
              </a:rPr>
              <a:t>x</a:t>
            </a:r>
            <a:r>
              <a:rPr lang="es-AR" sz="2000" dirty="0" smtClean="0"/>
              <a:t> e </a:t>
            </a:r>
            <a:r>
              <a:rPr lang="es-AR" sz="2000" i="1" dirty="0" smtClean="0">
                <a:solidFill>
                  <a:srgbClr val="FF0000"/>
                </a:solidFill>
              </a:rPr>
              <a:t>y</a:t>
            </a:r>
            <a:r>
              <a:rPr lang="es-AR" sz="2000" dirty="0" smtClean="0"/>
              <a:t> difieren en su valor)</a:t>
            </a:r>
            <a:r>
              <a:rPr lang="es-AR" sz="2400" dirty="0" smtClean="0"/>
              <a:t>.</a:t>
            </a:r>
            <a:endParaRPr lang="es-AR" sz="2400" dirty="0"/>
          </a:p>
        </p:txBody>
      </p:sp>
      <p:sp>
        <p:nvSpPr>
          <p:cNvPr id="22" name="21 Rectángulo"/>
          <p:cNvSpPr/>
          <p:nvPr/>
        </p:nvSpPr>
        <p:spPr>
          <a:xfrm>
            <a:off x="2447764" y="3801234"/>
            <a:ext cx="66607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 smtClean="0"/>
              <a:t>La NOR exclusiva, también conocida como </a:t>
            </a:r>
            <a:r>
              <a:rPr lang="es-AR" sz="2000" i="1" dirty="0" smtClean="0">
                <a:solidFill>
                  <a:srgbClr val="FF0000"/>
                </a:solidFill>
              </a:rPr>
              <a:t>equivalencia</a:t>
            </a:r>
            <a:r>
              <a:rPr lang="es-AR" sz="2000" dirty="0" smtClean="0"/>
              <a:t>, realiza la siguiente operación Booleana:</a:t>
            </a:r>
            <a:endParaRPr lang="es-AR" sz="2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74529" y="4905164"/>
            <a:ext cx="2733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23 Rectángulo"/>
          <p:cNvSpPr/>
          <p:nvPr/>
        </p:nvSpPr>
        <p:spPr>
          <a:xfrm>
            <a:off x="2807804" y="5733256"/>
            <a:ext cx="48605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/>
              <a:t>La NOR exclusiva es igual a 1 si tanto </a:t>
            </a:r>
            <a:r>
              <a:rPr lang="es-AR" i="1" dirty="0" smtClean="0">
                <a:solidFill>
                  <a:srgbClr val="FF0000"/>
                </a:solidFill>
              </a:rPr>
              <a:t>x</a:t>
            </a:r>
            <a:r>
              <a:rPr lang="es-AR" i="1" dirty="0" smtClean="0"/>
              <a:t> </a:t>
            </a:r>
            <a:r>
              <a:rPr lang="es-AR" dirty="0" smtClean="0"/>
              <a:t>como</a:t>
            </a:r>
            <a:r>
              <a:rPr lang="es-AR" i="1" dirty="0" smtClean="0"/>
              <a:t> </a:t>
            </a:r>
            <a:r>
              <a:rPr lang="es-AR" i="1" dirty="0" smtClean="0">
                <a:solidFill>
                  <a:srgbClr val="FF0000"/>
                </a:solidFill>
              </a:rPr>
              <a:t>y</a:t>
            </a:r>
            <a:r>
              <a:rPr lang="es-AR" i="1" dirty="0" smtClean="0"/>
              <a:t> </a:t>
            </a:r>
            <a:r>
              <a:rPr lang="es-AR" dirty="0" smtClean="0"/>
              <a:t>son iguales a 1 o si ambas son iguales a 0.</a:t>
            </a:r>
            <a:endParaRPr lang="es-AR" dirty="0"/>
          </a:p>
        </p:txBody>
      </p:sp>
      <p:grpSp>
        <p:nvGrpSpPr>
          <p:cNvPr id="25" name="24 Grupo"/>
          <p:cNvGrpSpPr/>
          <p:nvPr/>
        </p:nvGrpSpPr>
        <p:grpSpPr>
          <a:xfrm>
            <a:off x="467544" y="4617132"/>
            <a:ext cx="1944216" cy="1944216"/>
            <a:chOff x="467544" y="1988840"/>
            <a:chExt cx="1944216" cy="1944216"/>
          </a:xfrm>
        </p:grpSpPr>
        <p:cxnSp>
          <p:nvCxnSpPr>
            <p:cNvPr id="26" name="25 Conector recto"/>
            <p:cNvCxnSpPr/>
            <p:nvPr/>
          </p:nvCxnSpPr>
          <p:spPr bwMode="auto">
            <a:xfrm>
              <a:off x="467544" y="2420888"/>
              <a:ext cx="1872208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26 Conector recto"/>
            <p:cNvCxnSpPr/>
            <p:nvPr/>
          </p:nvCxnSpPr>
          <p:spPr bwMode="auto">
            <a:xfrm>
              <a:off x="1763688" y="2060848"/>
              <a:ext cx="0" cy="1872208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" name="27 CuadroTexto"/>
            <p:cNvSpPr txBox="1"/>
            <p:nvPr/>
          </p:nvSpPr>
          <p:spPr>
            <a:xfrm>
              <a:off x="683568" y="1988840"/>
              <a:ext cx="17281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x     y      f        </a:t>
              </a:r>
              <a:endParaRPr lang="es-AR" sz="2400" dirty="0"/>
            </a:p>
          </p:txBody>
        </p:sp>
        <p:sp>
          <p:nvSpPr>
            <p:cNvPr id="29" name="28 CuadroTexto"/>
            <p:cNvSpPr txBox="1"/>
            <p:nvPr/>
          </p:nvSpPr>
          <p:spPr>
            <a:xfrm>
              <a:off x="683568" y="2391271"/>
              <a:ext cx="1584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0     0     1</a:t>
              </a:r>
              <a:endParaRPr lang="es-AR" sz="2400" dirty="0"/>
            </a:p>
          </p:txBody>
        </p:sp>
        <p:sp>
          <p:nvSpPr>
            <p:cNvPr id="30" name="29 CuadroTexto"/>
            <p:cNvSpPr txBox="1"/>
            <p:nvPr/>
          </p:nvSpPr>
          <p:spPr>
            <a:xfrm>
              <a:off x="683568" y="2751311"/>
              <a:ext cx="16561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0     1     0</a:t>
              </a:r>
              <a:endParaRPr lang="es-AR" sz="2400" dirty="0"/>
            </a:p>
          </p:txBody>
        </p:sp>
        <p:sp>
          <p:nvSpPr>
            <p:cNvPr id="31" name="30 CuadroTexto"/>
            <p:cNvSpPr txBox="1"/>
            <p:nvPr/>
          </p:nvSpPr>
          <p:spPr>
            <a:xfrm>
              <a:off x="683568" y="3068960"/>
              <a:ext cx="1584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1     0     0</a:t>
              </a:r>
              <a:endParaRPr lang="es-AR" sz="2400" dirty="0"/>
            </a:p>
          </p:txBody>
        </p:sp>
        <p:sp>
          <p:nvSpPr>
            <p:cNvPr id="32" name="31 CuadroTexto"/>
            <p:cNvSpPr txBox="1"/>
            <p:nvPr/>
          </p:nvSpPr>
          <p:spPr>
            <a:xfrm>
              <a:off x="683568" y="3429000"/>
              <a:ext cx="16561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1     1     1</a:t>
              </a:r>
              <a:endParaRPr lang="es-AR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FUNCIÓN </a:t>
            </a:r>
            <a:r>
              <a:rPr lang="en-GB" sz="2400" kern="0" dirty="0" smtClean="0">
                <a:solidFill>
                  <a:srgbClr val="FFC000"/>
                </a:solidFill>
                <a:latin typeface="Arial Black"/>
                <a:cs typeface="Arial"/>
              </a:rPr>
              <a:t>XOR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 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Rectángulo"/>
          <p:cNvSpPr/>
          <p:nvPr/>
        </p:nvSpPr>
        <p:spPr>
          <a:xfrm>
            <a:off x="647564" y="1268760"/>
            <a:ext cx="7272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/>
              <a:t>Las siguientes identidades se aplican a la operación OR exclusiva:</a:t>
            </a:r>
            <a:endParaRPr lang="es-A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7604" y="1736812"/>
            <a:ext cx="15240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07604" y="2492896"/>
            <a:ext cx="1457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4" name="13 Grupo"/>
          <p:cNvGrpSpPr/>
          <p:nvPr/>
        </p:nvGrpSpPr>
        <p:grpSpPr>
          <a:xfrm>
            <a:off x="5328084" y="2276872"/>
            <a:ext cx="1944216" cy="1944216"/>
            <a:chOff x="467544" y="1988840"/>
            <a:chExt cx="1944216" cy="1944216"/>
          </a:xfrm>
        </p:grpSpPr>
        <p:cxnSp>
          <p:nvCxnSpPr>
            <p:cNvPr id="15" name="14 Conector recto"/>
            <p:cNvCxnSpPr/>
            <p:nvPr/>
          </p:nvCxnSpPr>
          <p:spPr bwMode="auto">
            <a:xfrm>
              <a:off x="467544" y="2420888"/>
              <a:ext cx="1872208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15 Conector recto"/>
            <p:cNvCxnSpPr/>
            <p:nvPr/>
          </p:nvCxnSpPr>
          <p:spPr bwMode="auto">
            <a:xfrm>
              <a:off x="1763688" y="2060848"/>
              <a:ext cx="0" cy="1872208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16 CuadroTexto"/>
            <p:cNvSpPr txBox="1"/>
            <p:nvPr/>
          </p:nvSpPr>
          <p:spPr>
            <a:xfrm>
              <a:off x="683568" y="1988840"/>
              <a:ext cx="17281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x     y      f        </a:t>
              </a:r>
              <a:endParaRPr lang="es-AR" sz="2400" dirty="0"/>
            </a:p>
          </p:txBody>
        </p:sp>
        <p:sp>
          <p:nvSpPr>
            <p:cNvPr id="18" name="17 CuadroTexto"/>
            <p:cNvSpPr txBox="1"/>
            <p:nvPr/>
          </p:nvSpPr>
          <p:spPr>
            <a:xfrm>
              <a:off x="683568" y="2391271"/>
              <a:ext cx="1584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0     0     0</a:t>
              </a:r>
              <a:endParaRPr lang="es-AR" sz="2400" dirty="0"/>
            </a:p>
          </p:txBody>
        </p:sp>
        <p:sp>
          <p:nvSpPr>
            <p:cNvPr id="19" name="18 CuadroTexto"/>
            <p:cNvSpPr txBox="1"/>
            <p:nvPr/>
          </p:nvSpPr>
          <p:spPr>
            <a:xfrm>
              <a:off x="683568" y="2751311"/>
              <a:ext cx="16561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0     1     1</a:t>
              </a:r>
              <a:endParaRPr lang="es-AR" sz="2400" dirty="0"/>
            </a:p>
          </p:txBody>
        </p:sp>
        <p:sp>
          <p:nvSpPr>
            <p:cNvPr id="21" name="20 CuadroTexto"/>
            <p:cNvSpPr txBox="1"/>
            <p:nvPr/>
          </p:nvSpPr>
          <p:spPr>
            <a:xfrm>
              <a:off x="683568" y="3068960"/>
              <a:ext cx="1584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1     0     1</a:t>
              </a:r>
              <a:endParaRPr lang="es-AR" sz="2400" dirty="0"/>
            </a:p>
          </p:txBody>
        </p:sp>
        <p:sp>
          <p:nvSpPr>
            <p:cNvPr id="22" name="21 CuadroTexto"/>
            <p:cNvSpPr txBox="1"/>
            <p:nvPr/>
          </p:nvSpPr>
          <p:spPr>
            <a:xfrm>
              <a:off x="683568" y="3429000"/>
              <a:ext cx="16561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1     1     0</a:t>
              </a:r>
              <a:endParaRPr lang="es-AR" sz="2400" dirty="0"/>
            </a:p>
          </p:txBody>
        </p:sp>
      </p:grpSp>
      <p:sp>
        <p:nvSpPr>
          <p:cNvPr id="23" name="22 Rectángulo redondeado"/>
          <p:cNvSpPr/>
          <p:nvPr/>
        </p:nvSpPr>
        <p:spPr bwMode="auto">
          <a:xfrm rot="5400000">
            <a:off x="5850142" y="2402886"/>
            <a:ext cx="324036" cy="1008112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4" name="23 Rectángulo redondeado"/>
          <p:cNvSpPr/>
          <p:nvPr/>
        </p:nvSpPr>
        <p:spPr bwMode="auto">
          <a:xfrm rot="5400000">
            <a:off x="5850142" y="3086962"/>
            <a:ext cx="324036" cy="1008112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5" name="24 Rectángulo redondeado"/>
          <p:cNvSpPr/>
          <p:nvPr/>
        </p:nvSpPr>
        <p:spPr bwMode="auto">
          <a:xfrm rot="5400000">
            <a:off x="5850142" y="3447002"/>
            <a:ext cx="324036" cy="1008112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6" name="25 Rectángulo redondeado"/>
          <p:cNvSpPr/>
          <p:nvPr/>
        </p:nvSpPr>
        <p:spPr bwMode="auto">
          <a:xfrm rot="5400000">
            <a:off x="5850142" y="2762926"/>
            <a:ext cx="324036" cy="1008112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56531" y="3248980"/>
            <a:ext cx="14192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83010" y="3933056"/>
            <a:ext cx="14287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07604" y="4653136"/>
            <a:ext cx="332422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28 CuadroTexto"/>
          <p:cNvSpPr txBox="1"/>
          <p:nvPr/>
        </p:nvSpPr>
        <p:spPr>
          <a:xfrm>
            <a:off x="611560" y="5091571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 smtClean="0"/>
              <a:t>La OR exclusiva es conmutativa y asociativa</a:t>
            </a:r>
            <a:r>
              <a:rPr lang="es-AR" sz="2400" dirty="0" smtClean="0"/>
              <a:t>.</a:t>
            </a:r>
            <a:endParaRPr lang="es-AR" sz="2400" dirty="0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935596" y="5595900"/>
            <a:ext cx="21431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27584" y="6181489"/>
            <a:ext cx="52673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5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5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5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0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3" grpId="2" animBg="1"/>
      <p:bldP spid="23" grpId="3" animBg="1"/>
      <p:bldP spid="24" grpId="0" animBg="1"/>
      <p:bldP spid="24" grpId="1" animBg="1"/>
      <p:bldP spid="24" grpId="2" animBg="1"/>
      <p:bldP spid="24" grpId="3" animBg="1"/>
      <p:bldP spid="25" grpId="0" animBg="1"/>
      <p:bldP spid="25" grpId="1" animBg="1"/>
      <p:bldP spid="26" grpId="0" animBg="1"/>
      <p:bldP spid="26" grpId="1" animBg="1"/>
      <p:bldP spid="26" grpId="2" animBg="1"/>
      <p:bldP spid="26" grpId="3" animBg="1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IMPLEMENTACIÓN DE LA FUNCIÓN </a:t>
            </a:r>
            <a:r>
              <a:rPr lang="en-GB" sz="2400" kern="0" dirty="0" smtClean="0">
                <a:solidFill>
                  <a:srgbClr val="FFC000"/>
                </a:solidFill>
                <a:latin typeface="Arial Black"/>
                <a:cs typeface="Arial"/>
              </a:rPr>
              <a:t>XOR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 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5596" y="1081686"/>
            <a:ext cx="6480720" cy="5695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FUNCIÓN IMPAR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CuadroTexto"/>
          <p:cNvSpPr txBox="1"/>
          <p:nvPr/>
        </p:nvSpPr>
        <p:spPr>
          <a:xfrm>
            <a:off x="1007604" y="1376772"/>
            <a:ext cx="69127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 smtClean="0"/>
              <a:t>La operación OR exclusiva con tres o mas variables puede convertirse en un función Booleana común reemplazando el símbolo    con su equivalente expresión Booleana.</a:t>
            </a:r>
            <a:endParaRPr lang="es-AR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9612" y="2744924"/>
            <a:ext cx="610552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14 CuadroTexto"/>
          <p:cNvSpPr txBox="1"/>
          <p:nvPr/>
        </p:nvSpPr>
        <p:spPr>
          <a:xfrm>
            <a:off x="1007604" y="4077072"/>
            <a:ext cx="6912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 smtClean="0"/>
              <a:t>En el caso de tres o mas variables el requerimiento es que un número impar de variables sea igual a 1. </a:t>
            </a:r>
            <a:endParaRPr lang="es-AR" sz="2400" dirty="0"/>
          </a:p>
        </p:txBody>
      </p:sp>
      <p:sp>
        <p:nvSpPr>
          <p:cNvPr id="17" name="16 CuadroTexto"/>
          <p:cNvSpPr txBox="1"/>
          <p:nvPr/>
        </p:nvSpPr>
        <p:spPr>
          <a:xfrm>
            <a:off x="1007604" y="5157192"/>
            <a:ext cx="61926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 smtClean="0"/>
              <a:t>En general, una OR exclusiva de n variables es una función impar definida como la suma lógica de los 2</a:t>
            </a:r>
            <a:r>
              <a:rPr lang="es-AR" sz="2800" baseline="30000" dirty="0" smtClean="0"/>
              <a:t>n</a:t>
            </a:r>
            <a:r>
              <a:rPr lang="es-AR" sz="2000" dirty="0" smtClean="0"/>
              <a:t>/2 </a:t>
            </a:r>
            <a:r>
              <a:rPr lang="es-AR" sz="2000" dirty="0" err="1" smtClean="0"/>
              <a:t>minitérminos</a:t>
            </a:r>
            <a:r>
              <a:rPr lang="es-AR" sz="2000" dirty="0" smtClean="0"/>
              <a:t> cuyo valor numérico binario tenga un número impar de 1s. </a:t>
            </a:r>
            <a:endParaRPr lang="es-AR" sz="2400" dirty="0"/>
          </a:p>
        </p:txBody>
      </p:sp>
      <p:sp>
        <p:nvSpPr>
          <p:cNvPr id="13" name="12 O"/>
          <p:cNvSpPr/>
          <p:nvPr/>
        </p:nvSpPr>
        <p:spPr>
          <a:xfrm>
            <a:off x="2303748" y="2096852"/>
            <a:ext cx="180020" cy="18002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7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LA FUNCIÓN </a:t>
            </a:r>
            <a:r>
              <a:rPr lang="en-GB" sz="2400" kern="0" dirty="0" smtClean="0">
                <a:solidFill>
                  <a:srgbClr val="FFC000"/>
                </a:solidFill>
                <a:latin typeface="Arial Black"/>
                <a:ea typeface="+mj-ea"/>
                <a:cs typeface="Arial"/>
              </a:rPr>
              <a:t>XOR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 Y EL MAPA DE KARNAUGH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1925" y="1160748"/>
            <a:ext cx="8820150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3648" y="4990616"/>
            <a:ext cx="6165850" cy="128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LA FUNCIÓN </a:t>
            </a:r>
            <a:r>
              <a:rPr lang="en-GB" sz="2400" kern="0" dirty="0" smtClean="0">
                <a:solidFill>
                  <a:srgbClr val="FFC000"/>
                </a:solidFill>
                <a:latin typeface="Arial Black"/>
                <a:cs typeface="Arial"/>
              </a:rPr>
              <a:t>XOR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 Y EL MAPA DE KARNAUGH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718" y="1268760"/>
            <a:ext cx="8419995" cy="406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GENERACIÓN Y COMPROBACIÓN DE PARIDAD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500" y="1366838"/>
            <a:ext cx="5153025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82083" y="3127226"/>
            <a:ext cx="41624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GENERACIÓN Y COMPROBACIÓN DE PARIDAD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508" y="1223567"/>
            <a:ext cx="4331022" cy="5013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24858" y="2998254"/>
            <a:ext cx="48196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UC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UCC</Template>
  <TotalTime>3060</TotalTime>
  <Words>265</Words>
  <Application>Microsoft Office PowerPoint</Application>
  <PresentationFormat>Presentación en pantalla (4:3)</PresentationFormat>
  <Paragraphs>34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Times New Roman</vt:lpstr>
      <vt:lpstr>UCC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RevolucionUnattended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usuario</dc:creator>
  <cp:lastModifiedBy>Luis</cp:lastModifiedBy>
  <cp:revision>422</cp:revision>
  <dcterms:created xsi:type="dcterms:W3CDTF">2015-08-11T02:22:31Z</dcterms:created>
  <dcterms:modified xsi:type="dcterms:W3CDTF">2021-05-13T13:08:33Z</dcterms:modified>
</cp:coreProperties>
</file>
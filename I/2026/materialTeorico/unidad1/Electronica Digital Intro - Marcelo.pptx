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60" r:id="rId4"/>
    <p:sldId id="299" r:id="rId5"/>
    <p:sldId id="300" r:id="rId6"/>
    <p:sldId id="301" r:id="rId7"/>
    <p:sldId id="281" r:id="rId8"/>
    <p:sldId id="302" r:id="rId9"/>
    <p:sldId id="303" r:id="rId10"/>
    <p:sldId id="304" r:id="rId11"/>
    <p:sldId id="305" r:id="rId12"/>
    <p:sldId id="306" r:id="rId13"/>
    <p:sldId id="307" r:id="rId14"/>
    <p:sldId id="308" r:id="rId15"/>
    <p:sldId id="309"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6400"/>
    <a:srgbClr val="D65700"/>
    <a:srgbClr val="F26200"/>
    <a:srgbClr val="FF74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56" autoAdjust="0"/>
    <p:restoredTop sz="94660"/>
  </p:normalViewPr>
  <p:slideViewPr>
    <p:cSldViewPr snapToGrid="0">
      <p:cViewPr varScale="1">
        <p:scale>
          <a:sx n="63" d="100"/>
          <a:sy n="63" d="100"/>
        </p:scale>
        <p:origin x="120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0A98AF03-7270-45C2-A683-C5E353EF01A5}" type="datetime4">
              <a:rPr lang="en-US" smtClean="0"/>
              <a:pPr/>
              <a:t>March 19, 2025</a:t>
            </a:fld>
            <a:endParaRPr lang="en-US" dirty="0"/>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dirty="0"/>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8B37D5FE-740C-46F5-801A-FA5477D9711F}" type="slidenum">
              <a:rPr lang="en-US" smtClean="0"/>
              <a:pPr/>
              <a:t>‹Nº›</a:t>
            </a:fld>
            <a:endParaRPr lang="en-US" dirty="0"/>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481914" y="755810"/>
            <a:ext cx="8204886" cy="547227"/>
          </a:xfrm>
        </p:spPr>
        <p:txBody>
          <a:bodyPr anchor="ctr" anchorCtr="0">
            <a:noAutofit/>
          </a:bodyPr>
          <a:lstStyle>
            <a:lvl1pPr>
              <a:defRPr sz="3600">
                <a:effectLst>
                  <a:outerShdw blurRad="38100" dist="38100" dir="2700000" algn="tl">
                    <a:srgbClr val="000000">
                      <a:alpha val="43137"/>
                    </a:srgbClr>
                  </a:outerShdw>
                </a:effectLst>
                <a:latin typeface="Britannic Bold" panose="020B0903060703020204" pitchFamily="34" charset="0"/>
              </a:defRPr>
            </a:lvl1pPr>
          </a:lstStyle>
          <a:p>
            <a:r>
              <a:rPr lang="es-ES" dirty="0"/>
              <a:t>Haga clic para modificar el estilo de título del patrón</a:t>
            </a:r>
            <a:endParaRPr lang="en-US" dirty="0"/>
          </a:p>
        </p:txBody>
      </p:sp>
      <p:sp>
        <p:nvSpPr>
          <p:cNvPr id="3" name="Content Placeholder 2"/>
          <p:cNvSpPr>
            <a:spLocks noGrp="1"/>
          </p:cNvSpPr>
          <p:nvPr>
            <p:ph idx="1"/>
          </p:nvPr>
        </p:nvSpPr>
        <p:spPr>
          <a:xfrm>
            <a:off x="481914" y="1433384"/>
            <a:ext cx="8204886" cy="5059491"/>
          </a:xfrm>
        </p:spPr>
        <p:txBody>
          <a:bodyPr>
            <a:normAutofit/>
          </a:bodyPr>
          <a:lstStyle>
            <a:lvl1pPr marL="342900" indent="-274320">
              <a:buFont typeface="Wingdings" panose="05000000000000000000" pitchFamily="2" charset="2"/>
              <a:buChar char="§"/>
              <a:defRPr sz="2800">
                <a:solidFill>
                  <a:srgbClr val="0070C0"/>
                </a:solidFill>
                <a:effectLst>
                  <a:outerShdw blurRad="38100" dist="38100" dir="2700000" algn="tl">
                    <a:srgbClr val="000000">
                      <a:alpha val="43137"/>
                    </a:srgbClr>
                  </a:outerShdw>
                </a:effectLst>
                <a:latin typeface="Calibri Light" panose="020F0302020204030204" pitchFamily="34" charset="0"/>
              </a:defRPr>
            </a:lvl1pPr>
            <a:lvl2pPr marL="640080" indent="-274320">
              <a:buSzPct val="90000"/>
              <a:buFont typeface="Arial" panose="020B0604020202020204" pitchFamily="34" charset="0"/>
              <a:buChar char="•"/>
              <a:defRPr sz="2400">
                <a:solidFill>
                  <a:srgbClr val="0070C0"/>
                </a:solidFill>
                <a:effectLst>
                  <a:outerShdw blurRad="38100" dist="38100" dir="2700000" algn="tl">
                    <a:srgbClr val="000000">
                      <a:alpha val="43137"/>
                    </a:srgbClr>
                  </a:outerShdw>
                </a:effectLst>
                <a:latin typeface="Calibri Light" panose="020F0302020204030204" pitchFamily="34" charset="0"/>
              </a:defRPr>
            </a:lvl2pPr>
            <a:lvl3pPr marL="914400" indent="-228600">
              <a:buFont typeface="Wingdings" panose="05000000000000000000" pitchFamily="2" charset="2"/>
              <a:buChar char="Ø"/>
              <a:defRPr sz="2400">
                <a:solidFill>
                  <a:srgbClr val="0070C0"/>
                </a:solidFill>
                <a:effectLst>
                  <a:outerShdw blurRad="38100" dist="38100" dir="2700000" algn="tl">
                    <a:srgbClr val="000000">
                      <a:alpha val="43137"/>
                    </a:srgbClr>
                  </a:outerShdw>
                </a:effectLst>
                <a:latin typeface="Calibri Light" panose="020F0302020204030204" pitchFamily="34" charset="0"/>
              </a:defRPr>
            </a:lvl3pPr>
            <a:lvl4pPr>
              <a:defRPr sz="2000">
                <a:solidFill>
                  <a:srgbClr val="0070C0"/>
                </a:solidFill>
                <a:effectLst>
                  <a:outerShdw blurRad="38100" dist="38100" dir="2700000" algn="tl">
                    <a:srgbClr val="000000">
                      <a:alpha val="43137"/>
                    </a:srgbClr>
                  </a:outerShdw>
                </a:effectLst>
                <a:latin typeface="Calibri Light" panose="020F0302020204030204" pitchFamily="34" charset="0"/>
              </a:defRPr>
            </a:lvl4pPr>
            <a:lvl5pPr>
              <a:defRPr>
                <a:effectLst>
                  <a:outerShdw blurRad="38100" dist="38100" dir="2700000" algn="tl">
                    <a:srgbClr val="000000">
                      <a:alpha val="43137"/>
                    </a:srgbClr>
                  </a:outerShdw>
                </a:effectLst>
                <a:latin typeface="Calibri Light" panose="020F0302020204030204" pitchFamily="34" charset="0"/>
              </a:defRPr>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p:txBody>
      </p:sp>
      <p:sp>
        <p:nvSpPr>
          <p:cNvPr id="6" name="Slide Number Placeholder 5"/>
          <p:cNvSpPr>
            <a:spLocks noGrp="1"/>
          </p:cNvSpPr>
          <p:nvPr>
            <p:ph type="sldNum" sz="quarter" idx="12"/>
          </p:nvPr>
        </p:nvSpPr>
        <p:spPr>
          <a:xfrm>
            <a:off x="8686800" y="6492875"/>
            <a:ext cx="457200" cy="365125"/>
          </a:xfrm>
        </p:spPr>
        <p:txBody>
          <a:bodyPr/>
          <a:lstStyle>
            <a:lvl1pPr algn="r">
              <a:defRPr b="1">
                <a:effectLst>
                  <a:outerShdw blurRad="38100" dist="38100" dir="2700000" algn="tl">
                    <a:srgbClr val="000000">
                      <a:alpha val="43137"/>
                    </a:srgbClr>
                  </a:outerShdw>
                </a:effectLst>
                <a:latin typeface="Britannic Bold" panose="020B0903060703020204" pitchFamily="34" charset="0"/>
              </a:defRPr>
            </a:lvl1pPr>
          </a:lstStyle>
          <a:p>
            <a:fld id="{8B37D5FE-740C-46F5-801A-FA5477D9711F}" type="slidenum">
              <a:rPr lang="en-US" smtClean="0"/>
              <a:pPr/>
              <a:t>‹Nº›</a:t>
            </a:fld>
            <a:endParaRPr lang="en-US"/>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1250"/>
                            </p:stCondLst>
                            <p:childTnLst>
                              <p:par>
                                <p:cTn id="10" presetID="22" presetClass="entr" presetSubtype="1" fill="hold" grpId="0" nodeType="after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1000"/>
                                        <p:tgtEl>
                                          <p:spTgt spid="3">
                                            <p:txEl>
                                              <p:pRg st="0" end="0"/>
                                            </p:txEl>
                                          </p:spTgt>
                                        </p:tgtEl>
                                      </p:cBhvr>
                                    </p:animEffect>
                                  </p:childTnLst>
                                </p:cTn>
                              </p:par>
                            </p:childTnLst>
                          </p:cTn>
                        </p:par>
                        <p:par>
                          <p:cTn id="13" fill="hold">
                            <p:stCondLst>
                              <p:cond delay="2750"/>
                            </p:stCondLst>
                            <p:childTnLst>
                              <p:par>
                                <p:cTn id="14" presetID="22" presetClass="entr" presetSubtype="1" fill="hold" grpId="0" nodeType="afterEffect">
                                  <p:stCondLst>
                                    <p:cond delay="50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up)">
                                      <p:cBhvr>
                                        <p:cTn id="16" dur="1000"/>
                                        <p:tgtEl>
                                          <p:spTgt spid="3">
                                            <p:txEl>
                                              <p:pRg st="1" end="1"/>
                                            </p:txEl>
                                          </p:spTgt>
                                        </p:tgtEl>
                                      </p:cBhvr>
                                    </p:animEffect>
                                  </p:childTnLst>
                                </p:cTn>
                              </p:par>
                            </p:childTnLst>
                          </p:cTn>
                        </p:par>
                        <p:par>
                          <p:cTn id="17" fill="hold">
                            <p:stCondLst>
                              <p:cond delay="4250"/>
                            </p:stCondLst>
                            <p:childTnLst>
                              <p:par>
                                <p:cTn id="18" presetID="22" presetClass="entr" presetSubtype="1" fill="hold" grpId="0" nodeType="afterEffect">
                                  <p:stCondLst>
                                    <p:cond delay="50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up)">
                                      <p:cBhvr>
                                        <p:cTn id="20" dur="1000"/>
                                        <p:tgtEl>
                                          <p:spTgt spid="3">
                                            <p:txEl>
                                              <p:pRg st="2" end="2"/>
                                            </p:txEl>
                                          </p:spTgt>
                                        </p:tgtEl>
                                      </p:cBhvr>
                                    </p:animEffect>
                                  </p:childTnLst>
                                </p:cTn>
                              </p:par>
                            </p:childTnLst>
                          </p:cTn>
                        </p:par>
                        <p:par>
                          <p:cTn id="21" fill="hold">
                            <p:stCondLst>
                              <p:cond delay="5750"/>
                            </p:stCondLst>
                            <p:childTnLst>
                              <p:par>
                                <p:cTn id="22" presetID="22" presetClass="entr" presetSubtype="1" fill="hold" grpId="0" nodeType="afterEffect">
                                  <p:stCondLst>
                                    <p:cond delay="50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up)">
                                      <p:cBhvr>
                                        <p:cTn id="24"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afterEffect">
                  <p:stCondLst>
                    <p:cond delay="500"/>
                  </p:stCondLst>
                  <p:childTnLst>
                    <p:set>
                      <p:cBhvr>
                        <p:cTn dur="1" fill="hold">
                          <p:stCondLst>
                            <p:cond delay="0"/>
                          </p:stCondLst>
                        </p:cTn>
                        <p:tgtEl>
                          <p:spTgt spid="3"/>
                        </p:tgtEl>
                        <p:attrNameLst>
                          <p:attrName>style.visibility</p:attrName>
                        </p:attrNameLst>
                      </p:cBhvr>
                      <p:to>
                        <p:strVal val="visible"/>
                      </p:to>
                    </p:set>
                    <p:animEffect transition="in" filter="wipe(up)">
                      <p:cBhvr>
                        <p:cTn dur="1000"/>
                        <p:tgtEl>
                          <p:spTgt spid="3"/>
                        </p:tgtEl>
                      </p:cBhvr>
                    </p:animEffect>
                  </p:childTnLst>
                </p:cTn>
              </p:par>
            </p:tnLst>
          </p:tmpl>
          <p:tmpl lvl="2">
            <p:tnLst>
              <p:par>
                <p:cTn presetID="22" presetClass="entr" presetSubtype="1" fill="hold" nodeType="afterEffect">
                  <p:stCondLst>
                    <p:cond delay="500"/>
                  </p:stCondLst>
                  <p:childTnLst>
                    <p:set>
                      <p:cBhvr>
                        <p:cTn dur="1" fill="hold">
                          <p:stCondLst>
                            <p:cond delay="0"/>
                          </p:stCondLst>
                        </p:cTn>
                        <p:tgtEl>
                          <p:spTgt spid="3"/>
                        </p:tgtEl>
                        <p:attrNameLst>
                          <p:attrName>style.visibility</p:attrName>
                        </p:attrNameLst>
                      </p:cBhvr>
                      <p:to>
                        <p:strVal val="visible"/>
                      </p:to>
                    </p:set>
                    <p:animEffect transition="in" filter="wipe(up)">
                      <p:cBhvr>
                        <p:cTn dur="1000"/>
                        <p:tgtEl>
                          <p:spTgt spid="3"/>
                        </p:tgtEl>
                      </p:cBhvr>
                    </p:animEffect>
                  </p:childTnLst>
                </p:cTn>
              </p:par>
            </p:tnLst>
          </p:tmpl>
          <p:tmpl lvl="3">
            <p:tnLst>
              <p:par>
                <p:cTn presetID="22" presetClass="entr" presetSubtype="1" fill="hold" nodeType="afterEffect">
                  <p:stCondLst>
                    <p:cond delay="500"/>
                  </p:stCondLst>
                  <p:childTnLst>
                    <p:set>
                      <p:cBhvr>
                        <p:cTn dur="1" fill="hold">
                          <p:stCondLst>
                            <p:cond delay="0"/>
                          </p:stCondLst>
                        </p:cTn>
                        <p:tgtEl>
                          <p:spTgt spid="3"/>
                        </p:tgtEl>
                        <p:attrNameLst>
                          <p:attrName>style.visibility</p:attrName>
                        </p:attrNameLst>
                      </p:cBhvr>
                      <p:to>
                        <p:strVal val="visible"/>
                      </p:to>
                    </p:set>
                    <p:animEffect transition="in" filter="wipe(up)">
                      <p:cBhvr>
                        <p:cTn dur="1000"/>
                        <p:tgtEl>
                          <p:spTgt spid="3"/>
                        </p:tgtEl>
                      </p:cBhvr>
                    </p:animEffect>
                  </p:childTnLst>
                </p:cTn>
              </p:par>
            </p:tnLst>
          </p:tmpl>
          <p:tmpl lvl="4">
            <p:tnLst>
              <p:par>
                <p:cTn presetID="22" presetClass="entr" presetSubtype="1" fill="hold" nodeType="afterEffect">
                  <p:stCondLst>
                    <p:cond delay="500"/>
                  </p:stCondLst>
                  <p:childTnLst>
                    <p:set>
                      <p:cBhvr>
                        <p:cTn dur="1" fill="hold">
                          <p:stCondLst>
                            <p:cond delay="0"/>
                          </p:stCondLst>
                        </p:cTn>
                        <p:tgtEl>
                          <p:spTgt spid="3"/>
                        </p:tgtEl>
                        <p:attrNameLst>
                          <p:attrName>style.visibility</p:attrName>
                        </p:attrNameLst>
                      </p:cBhvr>
                      <p:to>
                        <p:strVal val="visible"/>
                      </p:to>
                    </p:set>
                    <p:animEffect transition="in" filter="wipe(up)">
                      <p:cBhvr>
                        <p:cTn dur="10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FBB7EAE1-CAAC-4AEF-919E-158692B1E55E}" type="datetime4">
              <a:rPr lang="en-US" smtClean="0"/>
              <a:pPr/>
              <a:t>March 19,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5" name="Date Placeholder 4"/>
          <p:cNvSpPr>
            <a:spLocks noGrp="1"/>
          </p:cNvSpPr>
          <p:nvPr>
            <p:ph type="dt" sz="half" idx="10"/>
          </p:nvPr>
        </p:nvSpPr>
        <p:spPr/>
        <p:txBody>
          <a:bodyPr/>
          <a:lstStyle/>
          <a:p>
            <a:fld id="{9525A706-D8F2-4D1A-855A-CADC92600C26}" type="datetime4">
              <a:rPr lang="en-US" smtClean="0"/>
              <a:pPr/>
              <a:t>March 19,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37D5FE-740C-46F5-801A-FA5477D9711F}" type="slidenum">
              <a:rPr lang="en-US" smtClean="0"/>
              <a:pPr/>
              <a:t>‹Nº›</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9B4F123-1704-49AC-9D15-C4B1462B8014}" type="datetime4">
              <a:rPr lang="en-US" smtClean="0"/>
              <a:pPr/>
              <a:t>March 19, 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E3127EC2-47FB-48A1-8644-C8A81DDAA119}" type="datetime4">
              <a:rPr lang="en-US" smtClean="0"/>
              <a:pPr/>
              <a:t>March 19, 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3EC3ED-7435-49F9-84C8-03CCA2F8DEDB}" type="datetime4">
              <a:rPr lang="en-US" smtClean="0"/>
              <a:pPr/>
              <a:t>March 19, 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3FC49BF1-FCD3-4395-8FF6-0047AF66228E}" type="datetime4">
              <a:rPr lang="en-US" smtClean="0"/>
              <a:pPr/>
              <a:t>March 19, 2025</a:t>
            </a:fld>
            <a:endParaRPr lang="en-US"/>
          </a:p>
        </p:txBody>
      </p:sp>
      <p:sp>
        <p:nvSpPr>
          <p:cNvPr id="7" name="Slide Number Placeholder 6"/>
          <p:cNvSpPr>
            <a:spLocks noGrp="1"/>
          </p:cNvSpPr>
          <p:nvPr>
            <p:ph type="sldNum" sz="quarter" idx="12"/>
          </p:nvPr>
        </p:nvSpPr>
        <p:spPr/>
        <p:txBody>
          <a:bodyPr/>
          <a:lstStyle/>
          <a:p>
            <a:fld id="{8B37D5FE-740C-46F5-801A-FA5477D9711F}" type="slidenum">
              <a:rPr lang="en-US" smtClean="0"/>
              <a:pPr/>
              <a:t>‹Nº›</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s-ES"/>
              <a:t>Haga clic para modificar el estilo de título del patrón</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s-ES"/>
              <a:t>Haga clic para modificar el estilo de título del patrón</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CA861222-2C8B-4501-BE87-6797EC025925}" type="datetime4">
              <a:rPr lang="en-US" smtClean="0"/>
              <a:pPr/>
              <a:t>March 19, 2025</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7" name="Slide Number Placeholder 6"/>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2FB5AFD-D735-4504-A039-ADEBB6448D55}" type="datetime4">
              <a:rPr lang="en-US" smtClean="0"/>
              <a:pPr/>
              <a:t>March 19,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B5C8118-FB93-4E87-B380-0175F2FE2167}" type="datetime4">
              <a:rPr lang="en-US" smtClean="0"/>
              <a:pPr/>
              <a:t>March 19,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6C01193-8287-4834-A286-6B880643E934}" type="datetime4">
              <a:rPr lang="en-US" smtClean="0"/>
              <a:pPr/>
              <a:t>March 19, 2025</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8B37D5FE-740C-46F5-801A-FA5477D9711F}" type="slidenum">
              <a:rPr lang="en-US" smtClean="0"/>
              <a:pPr/>
              <a:t>‹Nº›</a:t>
            </a:fld>
            <a:endParaRPr lang="en-US"/>
          </a:p>
        </p:txBody>
      </p:sp>
      <p:sp>
        <p:nvSpPr>
          <p:cNvPr id="8" name="CuadroTexto 7">
            <a:extLst>
              <a:ext uri="{FF2B5EF4-FFF2-40B4-BE49-F238E27FC236}">
                <a16:creationId xmlns:a16="http://schemas.microsoft.com/office/drawing/2014/main" id="{E04FFAE8-2A0E-813C-B8A6-B57E85DB897A}"/>
              </a:ext>
            </a:extLst>
          </p:cNvPr>
          <p:cNvSpPr txBox="1"/>
          <p:nvPr userDrawn="1">
            <p:extLst>
              <p:ext uri="{1162E1C5-73C7-4A58-AE30-91384D911F3F}">
                <p184:classification xmlns:p184="http://schemas.microsoft.com/office/powerpoint/2018/4/main" val="ftr"/>
              </p:ext>
            </p:extLst>
          </p:nvPr>
        </p:nvSpPr>
        <p:spPr>
          <a:xfrm>
            <a:off x="8286750" y="6642100"/>
            <a:ext cx="828675" cy="152400"/>
          </a:xfrm>
          <a:prstGeom prst="rect">
            <a:avLst/>
          </a:prstGeom>
        </p:spPr>
        <p:txBody>
          <a:bodyPr horzOverflow="overflow" lIns="0" tIns="0" rIns="0" bIns="0">
            <a:spAutoFit/>
          </a:bodyPr>
          <a:lstStyle/>
          <a:p>
            <a:pPr algn="l"/>
            <a:r>
              <a:rPr lang="es-AR" sz="1000">
                <a:solidFill>
                  <a:srgbClr val="000000"/>
                </a:solidFill>
                <a:latin typeface="Arial" panose="020B0604020202020204" pitchFamily="34" charset="0"/>
                <a:cs typeface="Arial" panose="020B0604020202020204" pitchFamily="34" charset="0"/>
              </a:rPr>
              <a:t>Confidential C</a:t>
            </a:r>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spd="slow">
    <p:pull/>
  </p:transition>
  <p:hf hdr="0"/>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clifford.at/" TargetMode="Externa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www.clifford.at/icestor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75364" y="1866378"/>
            <a:ext cx="3870543" cy="2755726"/>
          </a:xfrm>
        </p:spPr>
        <p:txBody>
          <a:bodyPr anchor="ctr" anchorCtr="0">
            <a:noAutofit/>
          </a:bodyPr>
          <a:lstStyle/>
          <a:p>
            <a:pPr algn="ctr"/>
            <a:r>
              <a:rPr lang="es-PE" sz="4000" b="1" dirty="0">
                <a:solidFill>
                  <a:schemeClr val="bg1"/>
                </a:solidFill>
                <a:effectLst>
                  <a:outerShdw blurRad="38100" dist="38100" dir="2700000" algn="tl">
                    <a:srgbClr val="000000">
                      <a:alpha val="43137"/>
                    </a:srgbClr>
                  </a:outerShdw>
                </a:effectLst>
              </a:rPr>
              <a:t>ELECTRÓNICA</a:t>
            </a:r>
            <a:br>
              <a:rPr lang="es-PE" sz="4000" b="1" dirty="0">
                <a:solidFill>
                  <a:schemeClr val="bg1"/>
                </a:solidFill>
                <a:effectLst>
                  <a:outerShdw blurRad="38100" dist="38100" dir="2700000" algn="tl">
                    <a:srgbClr val="000000">
                      <a:alpha val="43137"/>
                    </a:srgbClr>
                  </a:outerShdw>
                </a:effectLst>
              </a:rPr>
            </a:br>
            <a:r>
              <a:rPr lang="es-PE" sz="4000" b="1" dirty="0">
                <a:solidFill>
                  <a:schemeClr val="bg1"/>
                </a:solidFill>
                <a:effectLst>
                  <a:outerShdw blurRad="38100" dist="38100" dir="2700000" algn="tl">
                    <a:srgbClr val="000000">
                      <a:alpha val="43137"/>
                    </a:srgbClr>
                  </a:outerShdw>
                </a:effectLst>
              </a:rPr>
              <a:t>DIGITAL</a:t>
            </a:r>
          </a:p>
        </p:txBody>
      </p:sp>
      <p:pic>
        <p:nvPicPr>
          <p:cNvPr id="7" name="Imagen 6"/>
          <p:cNvPicPr>
            <a:picLocks noChangeAspect="1"/>
          </p:cNvPicPr>
          <p:nvPr/>
        </p:nvPicPr>
        <p:blipFill>
          <a:blip r:embed="rId2"/>
          <a:stretch>
            <a:fillRect/>
          </a:stretch>
        </p:blipFill>
        <p:spPr>
          <a:xfrm>
            <a:off x="4691755" y="2821209"/>
            <a:ext cx="3478869" cy="3366647"/>
          </a:xfrm>
          <a:prstGeom prst="rect">
            <a:avLst/>
          </a:prstGeom>
        </p:spPr>
      </p:pic>
      <p:sp>
        <p:nvSpPr>
          <p:cNvPr id="3" name="Marcador de contenido 2">
            <a:extLst>
              <a:ext uri="{FF2B5EF4-FFF2-40B4-BE49-F238E27FC236}">
                <a16:creationId xmlns:a16="http://schemas.microsoft.com/office/drawing/2014/main" id="{BDF63E10-579A-6285-434E-7110CB4B4073}"/>
              </a:ext>
            </a:extLst>
          </p:cNvPr>
          <p:cNvSpPr txBox="1">
            <a:spLocks/>
          </p:cNvSpPr>
          <p:nvPr/>
        </p:nvSpPr>
        <p:spPr>
          <a:xfrm>
            <a:off x="87681" y="6359052"/>
            <a:ext cx="5337759" cy="498948"/>
          </a:xfrm>
          <a:prstGeom prst="rect">
            <a:avLst/>
          </a:prstGeom>
        </p:spPr>
        <p:txBody>
          <a:bodyPr vert="horz" lIns="91440" tIns="45720" rIns="91440" bIns="45720" rtlCol="0">
            <a:normAutofit fontScale="85000" lnSpcReduction="10000"/>
          </a:bodyPr>
          <a:lstStyle>
            <a:lvl1pPr marL="342900" indent="-274320" algn="l" defTabSz="914400" rtl="0" eaLnBrk="1" latinLnBrk="0" hangingPunct="1">
              <a:spcBef>
                <a:spcPct val="20000"/>
              </a:spcBef>
              <a:buClr>
                <a:schemeClr val="accent1"/>
              </a:buClr>
              <a:buSzPct val="76000"/>
              <a:buFont typeface="Wingdings" panose="05000000000000000000" pitchFamily="2" charset="2"/>
              <a:buChar char="§"/>
              <a:defRPr sz="2800" kern="1200">
                <a:solidFill>
                  <a:schemeClr val="tx2"/>
                </a:solidFill>
                <a:effectLst>
                  <a:outerShdw blurRad="38100" dist="38100" dir="2700000" algn="tl">
                    <a:srgbClr val="000000">
                      <a:alpha val="43137"/>
                    </a:srgbClr>
                  </a:outerShdw>
                </a:effectLst>
                <a:latin typeface="Calibri Light" panose="020F0302020204030204" pitchFamily="34" charset="0"/>
                <a:ea typeface="+mn-ea"/>
                <a:cs typeface="+mn-cs"/>
              </a:defRPr>
            </a:lvl1pPr>
            <a:lvl2pPr marL="640080" indent="-27432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2"/>
                </a:solidFill>
                <a:effectLst>
                  <a:outerShdw blurRad="38100" dist="38100" dir="2700000" algn="tl">
                    <a:srgbClr val="000000">
                      <a:alpha val="43137"/>
                    </a:srgbClr>
                  </a:outerShdw>
                </a:effectLst>
                <a:latin typeface="Calibri Light" panose="020F0302020204030204" pitchFamily="34" charset="0"/>
                <a:ea typeface="+mn-ea"/>
                <a:cs typeface="+mn-cs"/>
              </a:defRPr>
            </a:lvl2pPr>
            <a:lvl3pPr marL="914400" indent="-228600" algn="l" defTabSz="914400" rtl="0" eaLnBrk="1" latinLnBrk="0" hangingPunct="1">
              <a:spcBef>
                <a:spcPct val="20000"/>
              </a:spcBef>
              <a:buClr>
                <a:schemeClr val="accent1"/>
              </a:buClr>
              <a:buSzPct val="76000"/>
              <a:buFont typeface="Wingdings" panose="05000000000000000000" pitchFamily="2" charset="2"/>
              <a:buChar char="Ø"/>
              <a:defRPr sz="2400" kern="1200">
                <a:solidFill>
                  <a:schemeClr val="tx2"/>
                </a:solidFill>
                <a:effectLst>
                  <a:outerShdw blurRad="38100" dist="38100" dir="2700000" algn="tl">
                    <a:srgbClr val="000000">
                      <a:alpha val="43137"/>
                    </a:srgbClr>
                  </a:outerShdw>
                </a:effectLst>
                <a:latin typeface="Calibri Light" panose="020F0302020204030204" pitchFamily="34" charset="0"/>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effectLst>
                  <a:outerShdw blurRad="38100" dist="38100" dir="2700000" algn="tl">
                    <a:srgbClr val="000000">
                      <a:alpha val="43137"/>
                    </a:srgbClr>
                  </a:outerShdw>
                </a:effectLst>
                <a:latin typeface="Calibri Light" panose="020F0302020204030204" pitchFamily="34" charset="0"/>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effectLst>
                  <a:outerShdw blurRad="38100" dist="38100" dir="2700000" algn="tl">
                    <a:srgbClr val="000000">
                      <a:alpha val="43137"/>
                    </a:srgbClr>
                  </a:outerShdw>
                </a:effectLst>
                <a:latin typeface="Calibri Light" panose="020F0302020204030204" pitchFamily="34" charset="0"/>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panose="05000000000000000000" pitchFamily="2" charset="2"/>
              <a:buNone/>
            </a:pPr>
            <a:r>
              <a:rPr lang="es-PE" dirty="0">
                <a:solidFill>
                  <a:srgbClr val="0070C0"/>
                </a:solidFill>
              </a:rPr>
              <a:t>Esp. Ing. Marcelo Casasnovas Año 2025</a:t>
            </a:r>
          </a:p>
        </p:txBody>
      </p:sp>
    </p:spTree>
    <p:extLst>
      <p:ext uri="{BB962C8B-B14F-4D97-AF65-F5344CB8AC3E}">
        <p14:creationId xmlns:p14="http://schemas.microsoft.com/office/powerpoint/2010/main" val="270174246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53" presetClass="entr" presetSubtype="16" fill="hold" nodeType="withEffect">
                                  <p:stCondLst>
                                    <p:cond delay="500"/>
                                  </p:stCondLst>
                                  <p:childTnLst>
                                    <p:set>
                                      <p:cBhvr>
                                        <p:cTn id="11" dur="1" fill="hold">
                                          <p:stCondLst>
                                            <p:cond delay="0"/>
                                          </p:stCondLst>
                                        </p:cTn>
                                        <p:tgtEl>
                                          <p:spTgt spid="7"/>
                                        </p:tgtEl>
                                        <p:attrNameLst>
                                          <p:attrName>style.visibility</p:attrName>
                                        </p:attrNameLst>
                                      </p:cBhvr>
                                      <p:to>
                                        <p:strVal val="visible"/>
                                      </p:to>
                                    </p:set>
                                    <p:anim calcmode="lin" valueType="num">
                                      <p:cBhvr>
                                        <p:cTn id="12" dur="2000" fill="hold"/>
                                        <p:tgtEl>
                                          <p:spTgt spid="7"/>
                                        </p:tgtEl>
                                        <p:attrNameLst>
                                          <p:attrName>ppt_w</p:attrName>
                                        </p:attrNameLst>
                                      </p:cBhvr>
                                      <p:tavLst>
                                        <p:tav tm="0">
                                          <p:val>
                                            <p:fltVal val="0"/>
                                          </p:val>
                                        </p:tav>
                                        <p:tav tm="100000">
                                          <p:val>
                                            <p:strVal val="#ppt_w"/>
                                          </p:val>
                                        </p:tav>
                                      </p:tavLst>
                                    </p:anim>
                                    <p:anim calcmode="lin" valueType="num">
                                      <p:cBhvr>
                                        <p:cTn id="13" dur="2000" fill="hold"/>
                                        <p:tgtEl>
                                          <p:spTgt spid="7"/>
                                        </p:tgtEl>
                                        <p:attrNameLst>
                                          <p:attrName>ppt_h</p:attrName>
                                        </p:attrNameLst>
                                      </p:cBhvr>
                                      <p:tavLst>
                                        <p:tav tm="0">
                                          <p:val>
                                            <p:fltVal val="0"/>
                                          </p:val>
                                        </p:tav>
                                        <p:tav tm="100000">
                                          <p:val>
                                            <p:strVal val="#ppt_h"/>
                                          </p:val>
                                        </p:tav>
                                      </p:tavLst>
                                    </p:anim>
                                    <p:animEffect transition="in" filter="fade">
                                      <p:cBhvr>
                                        <p:cTn id="14" dur="2000"/>
                                        <p:tgtEl>
                                          <p:spTgt spid="7"/>
                                        </p:tgtEl>
                                      </p:cBhvr>
                                    </p:animEffect>
                                  </p:childTnLst>
                                </p:cTn>
                              </p:par>
                            </p:childTnLst>
                          </p:cTn>
                        </p:par>
                        <p:par>
                          <p:cTn id="15" fill="hold">
                            <p:stCondLst>
                              <p:cond delay="2500"/>
                            </p:stCondLst>
                            <p:childTnLst>
                              <p:par>
                                <p:cTn id="16" presetID="22" presetClass="entr" presetSubtype="1" fill="hold" grpId="0" nodeType="afterEffect">
                                  <p:stCondLst>
                                    <p:cond delay="4000"/>
                                  </p:stCondLst>
                                  <p:childTnLst>
                                    <p:set>
                                      <p:cBhvr>
                                        <p:cTn id="17" dur="1" fill="hold">
                                          <p:stCondLst>
                                            <p:cond delay="0"/>
                                          </p:stCondLst>
                                        </p:cTn>
                                        <p:tgtEl>
                                          <p:spTgt spid="3"/>
                                        </p:tgtEl>
                                        <p:attrNameLst>
                                          <p:attrName>style.visibility</p:attrName>
                                        </p:attrNameLst>
                                      </p:cBhvr>
                                      <p:to>
                                        <p:strVal val="visible"/>
                                      </p:to>
                                    </p:set>
                                    <p:animEffect transition="in" filter="wipe(up)">
                                      <p:cBhvr>
                                        <p:cTn id="18"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p:cNvSpPr>
            <a:spLocks noGrp="1"/>
          </p:cNvSpPr>
          <p:nvPr>
            <p:ph type="dt" sz="half" idx="4294967295"/>
          </p:nvPr>
        </p:nvSpPr>
        <p:spPr>
          <a:xfrm>
            <a:off x="5997388" y="224492"/>
            <a:ext cx="2133600" cy="365125"/>
          </a:xfrm>
        </p:spPr>
        <p:txBody>
          <a:bodyPr/>
          <a:lstStyle/>
          <a:p>
            <a:fld id="{05A93482-8E69-40F7-BCAD-5662A6CADB27}" type="datetime4">
              <a:rPr lang="en-US" smtClean="0"/>
              <a:pPr/>
              <a:t>March 19, 2025</a:t>
            </a:fld>
            <a:endParaRPr lang="en-US" dirty="0"/>
          </a:p>
        </p:txBody>
      </p:sp>
      <p:sp>
        <p:nvSpPr>
          <p:cNvPr id="5" name="Marcador de pie de página 4"/>
          <p:cNvSpPr>
            <a:spLocks noGrp="1"/>
          </p:cNvSpPr>
          <p:nvPr>
            <p:ph type="ftr" sz="quarter" idx="4294967295"/>
          </p:nvPr>
        </p:nvSpPr>
        <p:spPr>
          <a:xfrm>
            <a:off x="5643528" y="6503512"/>
            <a:ext cx="3502152" cy="365125"/>
          </a:xfrm>
        </p:spPr>
        <p:txBody>
          <a:bodyPr/>
          <a:lstStyle/>
          <a:p>
            <a:endParaRPr lang="en-US"/>
          </a:p>
        </p:txBody>
      </p:sp>
      <p:sp>
        <p:nvSpPr>
          <p:cNvPr id="6" name="Marcador de número de diapositiva 5"/>
          <p:cNvSpPr>
            <a:spLocks noGrp="1"/>
          </p:cNvSpPr>
          <p:nvPr>
            <p:ph type="sldNum" sz="quarter" idx="12"/>
          </p:nvPr>
        </p:nvSpPr>
        <p:spPr/>
        <p:txBody>
          <a:bodyPr/>
          <a:lstStyle/>
          <a:p>
            <a:fld id="{8B37D5FE-740C-46F5-801A-FA5477D9711F}" type="slidenum">
              <a:rPr lang="en-US" smtClean="0"/>
              <a:pPr/>
              <a:t>2</a:t>
            </a:fld>
            <a:endParaRPr lang="en-US"/>
          </a:p>
        </p:txBody>
      </p:sp>
      <p:cxnSp>
        <p:nvCxnSpPr>
          <p:cNvPr id="9" name="Conector recto 8"/>
          <p:cNvCxnSpPr/>
          <p:nvPr/>
        </p:nvCxnSpPr>
        <p:spPr>
          <a:xfrm>
            <a:off x="642039" y="1350763"/>
            <a:ext cx="7884000" cy="25052"/>
          </a:xfrm>
          <a:prstGeom prst="line">
            <a:avLst/>
          </a:prstGeom>
          <a:ln w="63500">
            <a:gradFill flip="none" rotWithShape="1">
              <a:gsLst>
                <a:gs pos="1000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p:spPr>
        <p:style>
          <a:lnRef idx="1">
            <a:schemeClr val="accent1"/>
          </a:lnRef>
          <a:fillRef idx="0">
            <a:schemeClr val="accent1"/>
          </a:fillRef>
          <a:effectRef idx="0">
            <a:schemeClr val="accent1"/>
          </a:effectRef>
          <a:fontRef idx="minor">
            <a:schemeClr val="tx1"/>
          </a:fontRef>
        </p:style>
      </p:cxnSp>
      <p:sp>
        <p:nvSpPr>
          <p:cNvPr id="13" name="Marcador de contenido 12">
            <a:extLst>
              <a:ext uri="{FF2B5EF4-FFF2-40B4-BE49-F238E27FC236}">
                <a16:creationId xmlns:a16="http://schemas.microsoft.com/office/drawing/2014/main" id="{8476C4A0-4C10-B5BC-97F7-80D768E68C54}"/>
              </a:ext>
            </a:extLst>
          </p:cNvPr>
          <p:cNvSpPr>
            <a:spLocks noGrp="1"/>
          </p:cNvSpPr>
          <p:nvPr>
            <p:ph idx="1"/>
          </p:nvPr>
        </p:nvSpPr>
        <p:spPr/>
        <p:txBody>
          <a:bodyPr/>
          <a:lstStyle/>
          <a:p>
            <a:pPr marL="68580" indent="0">
              <a:buNone/>
            </a:pPr>
            <a:endParaRPr lang="es-AR" dirty="0"/>
          </a:p>
        </p:txBody>
      </p:sp>
      <p:pic>
        <p:nvPicPr>
          <p:cNvPr id="15" name="Imagen 14">
            <a:extLst>
              <a:ext uri="{FF2B5EF4-FFF2-40B4-BE49-F238E27FC236}">
                <a16:creationId xmlns:a16="http://schemas.microsoft.com/office/drawing/2014/main" id="{1D8367C2-DDD6-4DE2-B8D3-86A6B3FDDA1C}"/>
              </a:ext>
            </a:extLst>
          </p:cNvPr>
          <p:cNvPicPr>
            <a:picLocks noChangeAspect="1"/>
          </p:cNvPicPr>
          <p:nvPr/>
        </p:nvPicPr>
        <p:blipFill>
          <a:blip r:embed="rId2"/>
          <a:stretch>
            <a:fillRect/>
          </a:stretch>
        </p:blipFill>
        <p:spPr>
          <a:xfrm>
            <a:off x="1193800" y="1809706"/>
            <a:ext cx="6756400" cy="4306846"/>
          </a:xfrm>
          <a:prstGeom prst="rect">
            <a:avLst/>
          </a:prstGeom>
        </p:spPr>
      </p:pic>
    </p:spTree>
    <p:extLst>
      <p:ext uri="{BB962C8B-B14F-4D97-AF65-F5344CB8AC3E}">
        <p14:creationId xmlns:p14="http://schemas.microsoft.com/office/powerpoint/2010/main" val="1678280407"/>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8B37D5FE-740C-46F5-801A-FA5477D9711F}" type="slidenum">
              <a:rPr lang="en-US" smtClean="0"/>
              <a:pPr/>
              <a:t>3</a:t>
            </a:fld>
            <a:endParaRPr lang="en-US"/>
          </a:p>
        </p:txBody>
      </p:sp>
      <p:sp>
        <p:nvSpPr>
          <p:cNvPr id="9" name="Marcador de contenido 8">
            <a:extLst>
              <a:ext uri="{FF2B5EF4-FFF2-40B4-BE49-F238E27FC236}">
                <a16:creationId xmlns:a16="http://schemas.microsoft.com/office/drawing/2014/main" id="{1D95C512-2389-A6E0-9B46-807167372956}"/>
              </a:ext>
            </a:extLst>
          </p:cNvPr>
          <p:cNvSpPr>
            <a:spLocks noGrp="1"/>
          </p:cNvSpPr>
          <p:nvPr>
            <p:ph idx="1"/>
          </p:nvPr>
        </p:nvSpPr>
        <p:spPr>
          <a:xfrm>
            <a:off x="365074" y="295465"/>
            <a:ext cx="8550326" cy="2155008"/>
          </a:xfrm>
        </p:spPr>
        <p:txBody>
          <a:bodyPr>
            <a:normAutofit lnSpcReduction="10000"/>
          </a:bodyPr>
          <a:lstStyle/>
          <a:p>
            <a:pPr algn="l"/>
            <a:r>
              <a:rPr lang="es-ES" sz="2600" b="1" dirty="0"/>
              <a:t>Pensamiento algorítmico</a:t>
            </a:r>
          </a:p>
          <a:p>
            <a:pPr marL="68580" indent="0" algn="l">
              <a:buNone/>
            </a:pPr>
            <a:r>
              <a:rPr lang="es-ES" sz="1800" dirty="0"/>
              <a:t>Estamos acostumbrados al pensamiento algorítmico, que es el que usamos cuando programamos, por ejemplo un Arduino. Hay un elemento, el microprocesador, que ejecuta las instrucciones almacenadas en su memoria. Una detrás de otra, secuencialmente. Como programadores tenemos que determinar qué instrucciones usar y en qué orden para que el procesador resuelva un problema o haga lo que nosotros queremos. Pensamos en tiempo, y de manera secuencial</a:t>
            </a:r>
          </a:p>
          <a:p>
            <a:endParaRPr lang="es-AR" dirty="0"/>
          </a:p>
        </p:txBody>
      </p:sp>
      <p:pic>
        <p:nvPicPr>
          <p:cNvPr id="13" name="Imagen 12">
            <a:extLst>
              <a:ext uri="{FF2B5EF4-FFF2-40B4-BE49-F238E27FC236}">
                <a16:creationId xmlns:a16="http://schemas.microsoft.com/office/drawing/2014/main" id="{5480BC8B-3FFF-A4FF-C887-907E825717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7520" y="2237112"/>
            <a:ext cx="2662862" cy="4010464"/>
          </a:xfrm>
          <a:prstGeom prst="rect">
            <a:avLst/>
          </a:prstGeom>
        </p:spPr>
      </p:pic>
    </p:spTree>
    <p:extLst>
      <p:ext uri="{BB962C8B-B14F-4D97-AF65-F5344CB8AC3E}">
        <p14:creationId xmlns:p14="http://schemas.microsoft.com/office/powerpoint/2010/main" val="3625391747"/>
      </p:ext>
    </p:extLst>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11B67-D04D-3959-6BEB-ACE4820E977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FCBA626-7FB4-18F1-AC22-8F6DA5D38CB7}"/>
              </a:ext>
            </a:extLst>
          </p:cNvPr>
          <p:cNvSpPr>
            <a:spLocks noGrp="1"/>
          </p:cNvSpPr>
          <p:nvPr>
            <p:ph type="sldNum" sz="quarter" idx="12"/>
          </p:nvPr>
        </p:nvSpPr>
        <p:spPr/>
        <p:txBody>
          <a:bodyPr/>
          <a:lstStyle/>
          <a:p>
            <a:fld id="{8B37D5FE-740C-46F5-801A-FA5477D9711F}" type="slidenum">
              <a:rPr lang="en-US" smtClean="0"/>
              <a:pPr/>
              <a:t>4</a:t>
            </a:fld>
            <a:endParaRPr lang="en-US"/>
          </a:p>
        </p:txBody>
      </p:sp>
      <p:sp>
        <p:nvSpPr>
          <p:cNvPr id="9" name="Marcador de contenido 8">
            <a:extLst>
              <a:ext uri="{FF2B5EF4-FFF2-40B4-BE49-F238E27FC236}">
                <a16:creationId xmlns:a16="http://schemas.microsoft.com/office/drawing/2014/main" id="{C2AF354C-332A-A2CA-CC35-698C8858F25F}"/>
              </a:ext>
            </a:extLst>
          </p:cNvPr>
          <p:cNvSpPr>
            <a:spLocks noGrp="1"/>
          </p:cNvSpPr>
          <p:nvPr>
            <p:ph idx="1"/>
          </p:nvPr>
        </p:nvSpPr>
        <p:spPr>
          <a:xfrm>
            <a:off x="365074" y="295465"/>
            <a:ext cx="8550326" cy="2155008"/>
          </a:xfrm>
        </p:spPr>
        <p:txBody>
          <a:bodyPr>
            <a:normAutofit/>
          </a:bodyPr>
          <a:lstStyle/>
          <a:p>
            <a:pPr algn="l"/>
            <a:r>
              <a:rPr lang="es-ES" sz="2600" b="1" dirty="0"/>
              <a:t>Pensamiento hardware</a:t>
            </a:r>
          </a:p>
          <a:p>
            <a:pPr marL="68580" indent="0" algn="l">
              <a:buNone/>
            </a:pPr>
            <a:r>
              <a:rPr lang="es-ES" sz="1800" dirty="0"/>
              <a:t>Sin embargo, en los circuitos digitales las cosas suceden en paralelo. El pensamiento hardware es espacial. Hay caminos físicos por los que la información pasa de un lugar a otro, y es un pensamiento paralelo: Las cosas suceden a la vez. Es similar a una ciudad donde hay coches que se mueven a la vez, en paralelo, siguiendo unas reglas de tráfico</a:t>
            </a:r>
          </a:p>
          <a:p>
            <a:endParaRPr lang="es-AR" dirty="0"/>
          </a:p>
        </p:txBody>
      </p:sp>
      <p:pic>
        <p:nvPicPr>
          <p:cNvPr id="3" name="Imagen 2">
            <a:extLst>
              <a:ext uri="{FF2B5EF4-FFF2-40B4-BE49-F238E27FC236}">
                <a16:creationId xmlns:a16="http://schemas.microsoft.com/office/drawing/2014/main" id="{45495F3C-7B04-235D-A30C-6C49C17CF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1125" y="2005330"/>
            <a:ext cx="6037466" cy="4232910"/>
          </a:xfrm>
          <a:prstGeom prst="rect">
            <a:avLst/>
          </a:prstGeom>
        </p:spPr>
      </p:pic>
    </p:spTree>
    <p:extLst>
      <p:ext uri="{BB962C8B-B14F-4D97-AF65-F5344CB8AC3E}">
        <p14:creationId xmlns:p14="http://schemas.microsoft.com/office/powerpoint/2010/main" val="1868695603"/>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9CEB-6625-0797-8D04-D122BC2A7450}"/>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A99F5E5-86D7-0693-674F-55812955FAA6}"/>
              </a:ext>
            </a:extLst>
          </p:cNvPr>
          <p:cNvSpPr>
            <a:spLocks noGrp="1"/>
          </p:cNvSpPr>
          <p:nvPr>
            <p:ph type="sldNum" sz="quarter" idx="12"/>
          </p:nvPr>
        </p:nvSpPr>
        <p:spPr/>
        <p:txBody>
          <a:bodyPr/>
          <a:lstStyle/>
          <a:p>
            <a:fld id="{8B37D5FE-740C-46F5-801A-FA5477D9711F}" type="slidenum">
              <a:rPr lang="en-US" smtClean="0"/>
              <a:pPr/>
              <a:t>5</a:t>
            </a:fld>
            <a:endParaRPr lang="en-US"/>
          </a:p>
        </p:txBody>
      </p:sp>
      <p:sp>
        <p:nvSpPr>
          <p:cNvPr id="9" name="Marcador de contenido 8">
            <a:extLst>
              <a:ext uri="{FF2B5EF4-FFF2-40B4-BE49-F238E27FC236}">
                <a16:creationId xmlns:a16="http://schemas.microsoft.com/office/drawing/2014/main" id="{0CC0978B-1D4D-E54F-1714-79F723F049C5}"/>
              </a:ext>
            </a:extLst>
          </p:cNvPr>
          <p:cNvSpPr>
            <a:spLocks noGrp="1"/>
          </p:cNvSpPr>
          <p:nvPr>
            <p:ph idx="1"/>
          </p:nvPr>
        </p:nvSpPr>
        <p:spPr>
          <a:xfrm>
            <a:off x="365074" y="295465"/>
            <a:ext cx="8550326" cy="2155008"/>
          </a:xfrm>
        </p:spPr>
        <p:txBody>
          <a:bodyPr>
            <a:normAutofit/>
          </a:bodyPr>
          <a:lstStyle/>
          <a:p>
            <a:pPr algn="l"/>
            <a:r>
              <a:rPr lang="es-ES" sz="2600" b="1" dirty="0"/>
              <a:t>Pensamiento hardware</a:t>
            </a:r>
          </a:p>
          <a:p>
            <a:pPr marL="68580" indent="0" algn="l">
              <a:buNone/>
            </a:pPr>
            <a:r>
              <a:rPr lang="es-ES" sz="1800" dirty="0"/>
              <a:t>Los chips digitales son la base de la tecnología actual y se diseñan a partir de electrónica digital y pensamiento hardware. La electrónica digital es de lo que están hechos los procesadores que programamos. Conocerla nos permite no sólo entender cómo funcionan, sino crear procesadores nuevos. Chips diferentes. Arquitecturas alternativas</a:t>
            </a:r>
          </a:p>
          <a:p>
            <a:endParaRPr lang="es-AR" dirty="0"/>
          </a:p>
        </p:txBody>
      </p:sp>
      <p:pic>
        <p:nvPicPr>
          <p:cNvPr id="5" name="Imagen 4" descr="Diagrama&#10;&#10;El contenido generado por IA puede ser incorrecto.">
            <a:extLst>
              <a:ext uri="{FF2B5EF4-FFF2-40B4-BE49-F238E27FC236}">
                <a16:creationId xmlns:a16="http://schemas.microsoft.com/office/drawing/2014/main" id="{21C67924-91E2-A07A-F936-3907078967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0720" y="2319593"/>
            <a:ext cx="7782560" cy="2713886"/>
          </a:xfrm>
          <a:prstGeom prst="rect">
            <a:avLst/>
          </a:prstGeom>
        </p:spPr>
      </p:pic>
    </p:spTree>
    <p:extLst>
      <p:ext uri="{BB962C8B-B14F-4D97-AF65-F5344CB8AC3E}">
        <p14:creationId xmlns:p14="http://schemas.microsoft.com/office/powerpoint/2010/main" val="1572092853"/>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C4FD3-3EBE-B37D-D1A8-1109518F5D0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90F6453-81A5-8EC1-1396-0C5E5D82B41D}"/>
              </a:ext>
            </a:extLst>
          </p:cNvPr>
          <p:cNvSpPr>
            <a:spLocks noGrp="1"/>
          </p:cNvSpPr>
          <p:nvPr>
            <p:ph type="sldNum" sz="quarter" idx="12"/>
          </p:nvPr>
        </p:nvSpPr>
        <p:spPr/>
        <p:txBody>
          <a:bodyPr/>
          <a:lstStyle/>
          <a:p>
            <a:fld id="{8B37D5FE-740C-46F5-801A-FA5477D9711F}" type="slidenum">
              <a:rPr lang="en-US" smtClean="0"/>
              <a:pPr/>
              <a:t>6</a:t>
            </a:fld>
            <a:endParaRPr lang="en-US"/>
          </a:p>
        </p:txBody>
      </p:sp>
      <p:sp>
        <p:nvSpPr>
          <p:cNvPr id="9" name="Marcador de contenido 8">
            <a:extLst>
              <a:ext uri="{FF2B5EF4-FFF2-40B4-BE49-F238E27FC236}">
                <a16:creationId xmlns:a16="http://schemas.microsoft.com/office/drawing/2014/main" id="{49A2C914-FA13-C411-005C-961741DCFAE6}"/>
              </a:ext>
            </a:extLst>
          </p:cNvPr>
          <p:cNvSpPr>
            <a:spLocks noGrp="1"/>
          </p:cNvSpPr>
          <p:nvPr>
            <p:ph idx="1"/>
          </p:nvPr>
        </p:nvSpPr>
        <p:spPr>
          <a:xfrm>
            <a:off x="365074" y="234505"/>
            <a:ext cx="8550326" cy="1431735"/>
          </a:xfrm>
        </p:spPr>
        <p:txBody>
          <a:bodyPr>
            <a:normAutofit/>
          </a:bodyPr>
          <a:lstStyle/>
          <a:p>
            <a:pPr algn="l"/>
            <a:r>
              <a:rPr lang="es-ES" sz="2600" b="1" dirty="0"/>
              <a:t>Niveles</a:t>
            </a:r>
          </a:p>
          <a:p>
            <a:pPr marL="68580" indent="0" algn="l">
              <a:buNone/>
            </a:pPr>
            <a:r>
              <a:rPr lang="es-ES" sz="1800" dirty="0"/>
              <a:t>En ciencia y en ingeniería dividimos el conocimiento en niveles. El mundo de la electrónica digital está "por debajo" del software. En este dibujo se muestran varios niveles, donde los átomos están en la parte inferior y el software en la superior</a:t>
            </a:r>
          </a:p>
          <a:p>
            <a:pPr marL="68580" indent="0">
              <a:buNone/>
            </a:pPr>
            <a:endParaRPr lang="es-AR" dirty="0"/>
          </a:p>
        </p:txBody>
      </p:sp>
      <p:pic>
        <p:nvPicPr>
          <p:cNvPr id="3" name="Imagen 2" descr="Diagrama&#10;&#10;El contenido generado por IA puede ser incorrecto.">
            <a:extLst>
              <a:ext uri="{FF2B5EF4-FFF2-40B4-BE49-F238E27FC236}">
                <a16:creationId xmlns:a16="http://schemas.microsoft.com/office/drawing/2014/main" id="{4E8D5D48-922D-4012-A83A-2659B4762D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2264" y="1535845"/>
            <a:ext cx="5339472" cy="4957030"/>
          </a:xfrm>
          <a:prstGeom prst="rect">
            <a:avLst/>
          </a:prstGeom>
        </p:spPr>
      </p:pic>
    </p:spTree>
    <p:extLst>
      <p:ext uri="{BB962C8B-B14F-4D97-AF65-F5344CB8AC3E}">
        <p14:creationId xmlns:p14="http://schemas.microsoft.com/office/powerpoint/2010/main" val="2930064059"/>
      </p:ext>
    </p:extLst>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81914" y="1007500"/>
            <a:ext cx="8204886" cy="5059491"/>
          </a:xfrm>
        </p:spPr>
        <p:txBody>
          <a:bodyPr>
            <a:normAutofit/>
          </a:bodyPr>
          <a:lstStyle/>
          <a:p>
            <a:r>
              <a:rPr lang="es-PE" dirty="0"/>
              <a:t> </a:t>
            </a:r>
            <a:r>
              <a:rPr lang="es-ES" dirty="0">
                <a:effectLst/>
              </a:rPr>
              <a:t>Cuando trabajamos con un </a:t>
            </a:r>
            <a:r>
              <a:rPr lang="es-ES" b="1" dirty="0">
                <a:effectLst/>
              </a:rPr>
              <a:t>Arduino</a:t>
            </a:r>
            <a:r>
              <a:rPr lang="es-ES" dirty="0">
                <a:effectLst/>
              </a:rPr>
              <a:t> estamos en el </a:t>
            </a:r>
            <a:r>
              <a:rPr lang="es-ES" b="1" dirty="0">
                <a:effectLst/>
              </a:rPr>
              <a:t>nivel de software</a:t>
            </a:r>
            <a:r>
              <a:rPr lang="es-ES" dirty="0">
                <a:effectLst/>
              </a:rPr>
              <a:t> (7), de programación. Los programas se ejecutan sobre un </a:t>
            </a:r>
            <a:r>
              <a:rPr lang="es-ES" b="1" dirty="0">
                <a:effectLst/>
              </a:rPr>
              <a:t>microprocesador</a:t>
            </a:r>
            <a:r>
              <a:rPr lang="es-ES" dirty="0">
                <a:effectLst/>
              </a:rPr>
              <a:t> que está en el nivel inferior (Nivel 6). Los microprocesadores se diseñan con </a:t>
            </a:r>
            <a:r>
              <a:rPr lang="es-ES" b="1" dirty="0">
                <a:effectLst/>
              </a:rPr>
              <a:t>electrónica digital</a:t>
            </a:r>
            <a:r>
              <a:rPr lang="es-ES" dirty="0">
                <a:effectLst/>
              </a:rPr>
              <a:t> (Nivel 5), que es lo que veremos en esta materia. Por debajo tenemos los </a:t>
            </a:r>
            <a:r>
              <a:rPr lang="es-ES" b="1" dirty="0">
                <a:effectLst/>
              </a:rPr>
              <a:t>transistores</a:t>
            </a:r>
            <a:r>
              <a:rPr lang="es-ES" dirty="0">
                <a:effectLst/>
              </a:rPr>
              <a:t> (Nivel 4) que están hechos a partir de </a:t>
            </a:r>
            <a:r>
              <a:rPr lang="es-ES" b="1" dirty="0">
                <a:effectLst/>
              </a:rPr>
              <a:t>semiconductores</a:t>
            </a:r>
            <a:r>
              <a:rPr lang="es-ES" dirty="0">
                <a:effectLst/>
              </a:rPr>
              <a:t> (Nivel 3), que son </a:t>
            </a:r>
            <a:r>
              <a:rPr lang="es-ES" b="1" dirty="0">
                <a:effectLst/>
              </a:rPr>
              <a:t>cristales de silicio</a:t>
            </a:r>
            <a:r>
              <a:rPr lang="es-ES" dirty="0">
                <a:effectLst/>
              </a:rPr>
              <a:t> (Nivel 2) a los que se introducen impurezas. En el último nivel tenemos los </a:t>
            </a:r>
            <a:r>
              <a:rPr lang="es-ES" b="1" dirty="0">
                <a:effectLst/>
              </a:rPr>
              <a:t>átomos</a:t>
            </a:r>
            <a:r>
              <a:rPr lang="es-ES" dirty="0">
                <a:effectLst/>
              </a:rPr>
              <a:t> (Nivel 1)</a:t>
            </a:r>
            <a:r>
              <a:rPr lang="es-PE" dirty="0"/>
              <a:t>.</a:t>
            </a:r>
          </a:p>
        </p:txBody>
      </p:sp>
      <p:sp>
        <p:nvSpPr>
          <p:cNvPr id="4" name="Marcador de número de diapositiva 3"/>
          <p:cNvSpPr>
            <a:spLocks noGrp="1"/>
          </p:cNvSpPr>
          <p:nvPr>
            <p:ph type="sldNum" sz="quarter" idx="12"/>
          </p:nvPr>
        </p:nvSpPr>
        <p:spPr/>
        <p:txBody>
          <a:bodyPr/>
          <a:lstStyle/>
          <a:p>
            <a:fld id="{8B37D5FE-740C-46F5-801A-FA5477D9711F}" type="slidenum">
              <a:rPr lang="en-US" smtClean="0"/>
              <a:pPr/>
              <a:t>7</a:t>
            </a:fld>
            <a:endParaRPr lang="en-US"/>
          </a:p>
        </p:txBody>
      </p:sp>
    </p:spTree>
    <p:extLst>
      <p:ext uri="{BB962C8B-B14F-4D97-AF65-F5344CB8AC3E}">
        <p14:creationId xmlns:p14="http://schemas.microsoft.com/office/powerpoint/2010/main" val="2218386898"/>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783E2-AE7B-C95C-AE62-1E9AE25E8D2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17CA459-DD4B-1ACF-E2B3-1355BE0AA492}"/>
              </a:ext>
            </a:extLst>
          </p:cNvPr>
          <p:cNvSpPr>
            <a:spLocks noGrp="1"/>
          </p:cNvSpPr>
          <p:nvPr>
            <p:ph type="sldNum" sz="quarter" idx="12"/>
          </p:nvPr>
        </p:nvSpPr>
        <p:spPr/>
        <p:txBody>
          <a:bodyPr/>
          <a:lstStyle/>
          <a:p>
            <a:fld id="{8B37D5FE-740C-46F5-801A-FA5477D9711F}" type="slidenum">
              <a:rPr lang="en-US" smtClean="0"/>
              <a:pPr/>
              <a:t>8</a:t>
            </a:fld>
            <a:endParaRPr lang="en-US"/>
          </a:p>
        </p:txBody>
      </p:sp>
      <p:sp>
        <p:nvSpPr>
          <p:cNvPr id="9" name="Marcador de contenido 8">
            <a:extLst>
              <a:ext uri="{FF2B5EF4-FFF2-40B4-BE49-F238E27FC236}">
                <a16:creationId xmlns:a16="http://schemas.microsoft.com/office/drawing/2014/main" id="{ED9FA5BB-2EDA-B524-1B7B-86888D89C8E5}"/>
              </a:ext>
            </a:extLst>
          </p:cNvPr>
          <p:cNvSpPr>
            <a:spLocks noGrp="1"/>
          </p:cNvSpPr>
          <p:nvPr>
            <p:ph idx="1"/>
          </p:nvPr>
        </p:nvSpPr>
        <p:spPr>
          <a:xfrm>
            <a:off x="365074" y="234505"/>
            <a:ext cx="8321726" cy="1431735"/>
          </a:xfrm>
        </p:spPr>
        <p:txBody>
          <a:bodyPr>
            <a:normAutofit/>
          </a:bodyPr>
          <a:lstStyle/>
          <a:p>
            <a:pPr algn="l"/>
            <a:r>
              <a:rPr lang="es-ES" sz="2600" b="1" dirty="0"/>
              <a:t>Un circuito de ejemplo</a:t>
            </a:r>
          </a:p>
          <a:p>
            <a:pPr marL="68580" indent="0">
              <a:buNone/>
            </a:pPr>
            <a:r>
              <a:rPr lang="es-ES" sz="1800" dirty="0"/>
              <a:t>En este tutorial estaremos en el nivel 5, diseñando circuitos digitales de manera práctica, a los que conectaremos sensores y actuadores, y que físicamente tendrán una apariencia como esta</a:t>
            </a:r>
          </a:p>
          <a:p>
            <a:pPr marL="68580" indent="0">
              <a:buNone/>
            </a:pPr>
            <a:endParaRPr lang="es-AR" dirty="0"/>
          </a:p>
        </p:txBody>
      </p:sp>
      <p:pic>
        <p:nvPicPr>
          <p:cNvPr id="7" name="Imagen 6">
            <a:extLst>
              <a:ext uri="{FF2B5EF4-FFF2-40B4-BE49-F238E27FC236}">
                <a16:creationId xmlns:a16="http://schemas.microsoft.com/office/drawing/2014/main" id="{B2D061C6-F667-D4C4-5E6C-1625B13DF9EA}"/>
              </a:ext>
            </a:extLst>
          </p:cNvPr>
          <p:cNvPicPr>
            <a:picLocks noChangeAspect="1"/>
          </p:cNvPicPr>
          <p:nvPr/>
        </p:nvPicPr>
        <p:blipFill>
          <a:blip r:embed="rId2"/>
          <a:stretch>
            <a:fillRect/>
          </a:stretch>
        </p:blipFill>
        <p:spPr>
          <a:xfrm>
            <a:off x="949960" y="1666240"/>
            <a:ext cx="7244080" cy="4443848"/>
          </a:xfrm>
          <a:prstGeom prst="rect">
            <a:avLst/>
          </a:prstGeom>
        </p:spPr>
      </p:pic>
    </p:spTree>
    <p:extLst>
      <p:ext uri="{BB962C8B-B14F-4D97-AF65-F5344CB8AC3E}">
        <p14:creationId xmlns:p14="http://schemas.microsoft.com/office/powerpoint/2010/main" val="1636840229"/>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D0DE7-2622-EB2B-334D-A733FA4FA57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C6F3C80-1190-13DC-1938-F5E75FCD29D2}"/>
              </a:ext>
            </a:extLst>
          </p:cNvPr>
          <p:cNvSpPr>
            <a:spLocks noGrp="1"/>
          </p:cNvSpPr>
          <p:nvPr>
            <p:ph type="sldNum" sz="quarter" idx="12"/>
          </p:nvPr>
        </p:nvSpPr>
        <p:spPr/>
        <p:txBody>
          <a:bodyPr/>
          <a:lstStyle/>
          <a:p>
            <a:fld id="{8B37D5FE-740C-46F5-801A-FA5477D9711F}" type="slidenum">
              <a:rPr lang="en-US" smtClean="0"/>
              <a:pPr/>
              <a:t>9</a:t>
            </a:fld>
            <a:endParaRPr lang="en-US"/>
          </a:p>
        </p:txBody>
      </p:sp>
      <p:sp>
        <p:nvSpPr>
          <p:cNvPr id="9" name="Marcador de contenido 8">
            <a:extLst>
              <a:ext uri="{FF2B5EF4-FFF2-40B4-BE49-F238E27FC236}">
                <a16:creationId xmlns:a16="http://schemas.microsoft.com/office/drawing/2014/main" id="{8CF56A50-045A-81A5-B812-FB239062237C}"/>
              </a:ext>
            </a:extLst>
          </p:cNvPr>
          <p:cNvSpPr>
            <a:spLocks noGrp="1"/>
          </p:cNvSpPr>
          <p:nvPr>
            <p:ph idx="1"/>
          </p:nvPr>
        </p:nvSpPr>
        <p:spPr>
          <a:xfrm>
            <a:off x="365074" y="336105"/>
            <a:ext cx="8321726" cy="1859763"/>
          </a:xfrm>
        </p:spPr>
        <p:txBody>
          <a:bodyPr>
            <a:normAutofit fontScale="77500" lnSpcReduction="20000"/>
          </a:bodyPr>
          <a:lstStyle/>
          <a:p>
            <a:pPr algn="l"/>
            <a:r>
              <a:rPr lang="es-ES" sz="2600" b="1" dirty="0"/>
              <a:t>Construyendo circuitos digitales</a:t>
            </a:r>
          </a:p>
          <a:p>
            <a:pPr marL="68580" indent="0">
              <a:buNone/>
            </a:pPr>
            <a:r>
              <a:rPr lang="es-ES" sz="2300" dirty="0"/>
              <a:t>¿Cómo se hacen los circuitos digitales? La manera clásica es la siguiente. Primero se diseña el circuito usando los componentes de electrónica digital: puertas lógicas, biestables, registros, etc. Luego se simula para comprobar que está bien diseñado. Y por último hay que construirlo físicamente. Los elementos a usar se encuentran en el interior de los chips. El fabricante te facilita un esquema con todos los componentes que hay en lo chips que vende</a:t>
            </a:r>
          </a:p>
          <a:p>
            <a:pPr marL="68580" indent="0">
              <a:buNone/>
            </a:pPr>
            <a:endParaRPr lang="es-AR" dirty="0"/>
          </a:p>
        </p:txBody>
      </p:sp>
      <p:pic>
        <p:nvPicPr>
          <p:cNvPr id="3" name="Imagen 2">
            <a:extLst>
              <a:ext uri="{FF2B5EF4-FFF2-40B4-BE49-F238E27FC236}">
                <a16:creationId xmlns:a16="http://schemas.microsoft.com/office/drawing/2014/main" id="{DC149519-2E42-5A45-6EA8-541E73E54F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337" y="2195868"/>
            <a:ext cx="7823200" cy="2343588"/>
          </a:xfrm>
          <a:prstGeom prst="rect">
            <a:avLst/>
          </a:prstGeom>
        </p:spPr>
      </p:pic>
      <p:sp>
        <p:nvSpPr>
          <p:cNvPr id="6" name="CuadroTexto 5">
            <a:extLst>
              <a:ext uri="{FF2B5EF4-FFF2-40B4-BE49-F238E27FC236}">
                <a16:creationId xmlns:a16="http://schemas.microsoft.com/office/drawing/2014/main" id="{5BFC6968-2E09-A163-FA0C-BA6A430320FC}"/>
              </a:ext>
            </a:extLst>
          </p:cNvPr>
          <p:cNvSpPr txBox="1"/>
          <p:nvPr/>
        </p:nvSpPr>
        <p:spPr>
          <a:xfrm>
            <a:off x="614336" y="4539456"/>
            <a:ext cx="7381583" cy="923330"/>
          </a:xfrm>
          <a:prstGeom prst="rect">
            <a:avLst/>
          </a:prstGeom>
          <a:noFill/>
        </p:spPr>
        <p:txBody>
          <a:bodyPr wrap="square">
            <a:spAutoFit/>
          </a:bodyPr>
          <a:lstStyle/>
          <a:p>
            <a:r>
              <a:rPr lang="es-ES" dirty="0">
                <a:solidFill>
                  <a:srgbClr val="0070C0"/>
                </a:solidFill>
                <a:effectLst>
                  <a:outerShdw blurRad="38100" dist="38100" dir="2700000" algn="tl">
                    <a:srgbClr val="000000">
                      <a:alpha val="43137"/>
                    </a:srgbClr>
                  </a:outerShdw>
                </a:effectLst>
                <a:latin typeface="Calibri Light" panose="020F0302020204030204" pitchFamily="34" charset="0"/>
              </a:rPr>
              <a:t>Por ejemplo, en el chip de esta figura hay 4 puertas NAND, de 2 entradas. En el mapa podemos ver en qué patas del chip están las entradas de las NAND, y por dónde se conectan sus salidas</a:t>
            </a:r>
            <a:endParaRPr lang="es-AR" dirty="0">
              <a:solidFill>
                <a:srgbClr val="0070C0"/>
              </a:solidFill>
              <a:effectLst>
                <a:outerShdw blurRad="38100" dist="38100" dir="2700000" algn="tl">
                  <a:srgbClr val="000000">
                    <a:alpha val="43137"/>
                  </a:srgbClr>
                </a:outerShdw>
              </a:effectLst>
              <a:latin typeface="Calibri Light" panose="020F0302020204030204" pitchFamily="34" charset="0"/>
            </a:endParaRPr>
          </a:p>
        </p:txBody>
      </p:sp>
    </p:spTree>
    <p:extLst>
      <p:ext uri="{BB962C8B-B14F-4D97-AF65-F5344CB8AC3E}">
        <p14:creationId xmlns:p14="http://schemas.microsoft.com/office/powerpoint/2010/main" val="2093143971"/>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ED95C-052D-FAB3-BC74-DDD156A4923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ADC6E19-0038-0C2A-8CEA-2DF5CBF4DCF9}"/>
              </a:ext>
            </a:extLst>
          </p:cNvPr>
          <p:cNvSpPr>
            <a:spLocks noGrp="1"/>
          </p:cNvSpPr>
          <p:nvPr>
            <p:ph type="sldNum" sz="quarter" idx="12"/>
          </p:nvPr>
        </p:nvSpPr>
        <p:spPr/>
        <p:txBody>
          <a:bodyPr/>
          <a:lstStyle/>
          <a:p>
            <a:fld id="{8B37D5FE-740C-46F5-801A-FA5477D9711F}" type="slidenum">
              <a:rPr lang="en-US" smtClean="0"/>
              <a:pPr/>
              <a:t>10</a:t>
            </a:fld>
            <a:endParaRPr lang="en-US"/>
          </a:p>
        </p:txBody>
      </p:sp>
      <p:sp>
        <p:nvSpPr>
          <p:cNvPr id="9" name="Marcador de contenido 8">
            <a:extLst>
              <a:ext uri="{FF2B5EF4-FFF2-40B4-BE49-F238E27FC236}">
                <a16:creationId xmlns:a16="http://schemas.microsoft.com/office/drawing/2014/main" id="{2F70DBBE-5050-7A06-E6B0-7BAFB5DA7D99}"/>
              </a:ext>
            </a:extLst>
          </p:cNvPr>
          <p:cNvSpPr>
            <a:spLocks noGrp="1"/>
          </p:cNvSpPr>
          <p:nvPr>
            <p:ph idx="1"/>
          </p:nvPr>
        </p:nvSpPr>
        <p:spPr>
          <a:xfrm>
            <a:off x="365074" y="336105"/>
            <a:ext cx="8321726" cy="1859763"/>
          </a:xfrm>
        </p:spPr>
        <p:txBody>
          <a:bodyPr>
            <a:normAutofit fontScale="70000" lnSpcReduction="20000"/>
          </a:bodyPr>
          <a:lstStyle/>
          <a:p>
            <a:pPr algn="l"/>
            <a:r>
              <a:rPr lang="es-ES" sz="2600" b="1" dirty="0"/>
              <a:t>Construyendo circuitos digitales</a:t>
            </a:r>
          </a:p>
          <a:p>
            <a:pPr marL="68580" indent="0">
              <a:buNone/>
            </a:pPr>
            <a:endParaRPr lang="es-ES" sz="2300" dirty="0"/>
          </a:p>
          <a:p>
            <a:pPr marL="68580" indent="0" algn="l">
              <a:buNone/>
            </a:pPr>
            <a:r>
              <a:rPr lang="es-ES" sz="2600" dirty="0"/>
              <a:t>Para construir el circuito, necesitamos comprar los chips necesarios, en la tienda o por internet. Para el montaje físico, una opción es usar una placa de entrenamiento (</a:t>
            </a:r>
            <a:r>
              <a:rPr lang="es-ES" sz="2600" dirty="0" err="1"/>
              <a:t>protoboard</a:t>
            </a:r>
            <a:r>
              <a:rPr lang="es-ES" sz="2600" dirty="0"/>
              <a:t>):</a:t>
            </a:r>
          </a:p>
          <a:p>
            <a:pPr marL="68580" indent="0">
              <a:buNone/>
            </a:pPr>
            <a:br>
              <a:rPr lang="es-ES" sz="2600" dirty="0"/>
            </a:br>
            <a:endParaRPr lang="es-ES" sz="2600" dirty="0"/>
          </a:p>
          <a:p>
            <a:pPr marL="68580" indent="0">
              <a:buNone/>
            </a:pPr>
            <a:endParaRPr lang="es-AR" dirty="0"/>
          </a:p>
        </p:txBody>
      </p:sp>
      <p:pic>
        <p:nvPicPr>
          <p:cNvPr id="5" name="Imagen 4">
            <a:extLst>
              <a:ext uri="{FF2B5EF4-FFF2-40B4-BE49-F238E27FC236}">
                <a16:creationId xmlns:a16="http://schemas.microsoft.com/office/drawing/2014/main" id="{342D18E5-F940-1F86-7F11-0D00E3E8E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1584452"/>
            <a:ext cx="7223760" cy="3973068"/>
          </a:xfrm>
          <a:prstGeom prst="rect">
            <a:avLst/>
          </a:prstGeom>
        </p:spPr>
      </p:pic>
    </p:spTree>
    <p:extLst>
      <p:ext uri="{BB962C8B-B14F-4D97-AF65-F5344CB8AC3E}">
        <p14:creationId xmlns:p14="http://schemas.microsoft.com/office/powerpoint/2010/main" val="4062669129"/>
      </p:ext>
    </p:extLst>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3B45F-1CC9-F5FF-C448-D4D3472951B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ED31007-20A2-4CF3-2A63-AD2F8D2870E6}"/>
              </a:ext>
            </a:extLst>
          </p:cNvPr>
          <p:cNvSpPr>
            <a:spLocks noGrp="1"/>
          </p:cNvSpPr>
          <p:nvPr>
            <p:ph type="sldNum" sz="quarter" idx="12"/>
          </p:nvPr>
        </p:nvSpPr>
        <p:spPr/>
        <p:txBody>
          <a:bodyPr/>
          <a:lstStyle/>
          <a:p>
            <a:fld id="{8B37D5FE-740C-46F5-801A-FA5477D9711F}" type="slidenum">
              <a:rPr lang="en-US" smtClean="0"/>
              <a:pPr/>
              <a:t>11</a:t>
            </a:fld>
            <a:endParaRPr lang="en-US"/>
          </a:p>
        </p:txBody>
      </p:sp>
      <p:sp>
        <p:nvSpPr>
          <p:cNvPr id="9" name="Marcador de contenido 8">
            <a:extLst>
              <a:ext uri="{FF2B5EF4-FFF2-40B4-BE49-F238E27FC236}">
                <a16:creationId xmlns:a16="http://schemas.microsoft.com/office/drawing/2014/main" id="{17A5A2C4-D886-0A02-70AC-1A36AC36C636}"/>
              </a:ext>
            </a:extLst>
          </p:cNvPr>
          <p:cNvSpPr>
            <a:spLocks noGrp="1"/>
          </p:cNvSpPr>
          <p:nvPr>
            <p:ph idx="1"/>
          </p:nvPr>
        </p:nvSpPr>
        <p:spPr>
          <a:xfrm>
            <a:off x="365074" y="336105"/>
            <a:ext cx="8321726" cy="1859763"/>
          </a:xfrm>
        </p:spPr>
        <p:txBody>
          <a:bodyPr>
            <a:normAutofit fontScale="77500" lnSpcReduction="20000"/>
          </a:bodyPr>
          <a:lstStyle/>
          <a:p>
            <a:pPr algn="l"/>
            <a:r>
              <a:rPr lang="es-ES" sz="2600" b="1" dirty="0"/>
              <a:t>Construyendo circuitos digitales</a:t>
            </a:r>
          </a:p>
          <a:p>
            <a:pPr marL="68580" indent="0">
              <a:buNone/>
            </a:pPr>
            <a:endParaRPr lang="es-ES" sz="2300" dirty="0"/>
          </a:p>
          <a:p>
            <a:pPr marL="68580" indent="0" algn="l">
              <a:buNone/>
            </a:pPr>
            <a:r>
              <a:rPr lang="es-ES" sz="2600" dirty="0"/>
              <a:t>Otra opción es soldarte los componentes en una placa. Con esto se consigue un prototipo que dura más y no se salen los cables</a:t>
            </a:r>
          </a:p>
          <a:p>
            <a:pPr marL="68580" indent="0">
              <a:buNone/>
            </a:pPr>
            <a:br>
              <a:rPr lang="es-ES" sz="2600" dirty="0"/>
            </a:br>
            <a:endParaRPr lang="es-ES" sz="2600" dirty="0"/>
          </a:p>
          <a:p>
            <a:pPr marL="68580" indent="0">
              <a:buNone/>
            </a:pPr>
            <a:endParaRPr lang="es-AR" dirty="0"/>
          </a:p>
        </p:txBody>
      </p:sp>
      <p:pic>
        <p:nvPicPr>
          <p:cNvPr id="3" name="Imagen 2">
            <a:extLst>
              <a:ext uri="{FF2B5EF4-FFF2-40B4-BE49-F238E27FC236}">
                <a16:creationId xmlns:a16="http://schemas.microsoft.com/office/drawing/2014/main" id="{7CC1C2A3-3894-8BB4-54E9-22ACB628BC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 y="1798042"/>
            <a:ext cx="7823200" cy="4071177"/>
          </a:xfrm>
          <a:prstGeom prst="rect">
            <a:avLst/>
          </a:prstGeom>
        </p:spPr>
      </p:pic>
    </p:spTree>
    <p:extLst>
      <p:ext uri="{BB962C8B-B14F-4D97-AF65-F5344CB8AC3E}">
        <p14:creationId xmlns:p14="http://schemas.microsoft.com/office/powerpoint/2010/main" val="3308864811"/>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D5194-AEA2-71DA-D75D-E6A0AF8CA639}"/>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0D766F6-4989-400B-E7EB-00A0E09CC027}"/>
              </a:ext>
            </a:extLst>
          </p:cNvPr>
          <p:cNvSpPr>
            <a:spLocks noGrp="1"/>
          </p:cNvSpPr>
          <p:nvPr>
            <p:ph type="sldNum" sz="quarter" idx="12"/>
          </p:nvPr>
        </p:nvSpPr>
        <p:spPr/>
        <p:txBody>
          <a:bodyPr/>
          <a:lstStyle/>
          <a:p>
            <a:fld id="{8B37D5FE-740C-46F5-801A-FA5477D9711F}" type="slidenum">
              <a:rPr lang="en-US" smtClean="0"/>
              <a:pPr/>
              <a:t>12</a:t>
            </a:fld>
            <a:endParaRPr lang="en-US"/>
          </a:p>
        </p:txBody>
      </p:sp>
      <p:sp>
        <p:nvSpPr>
          <p:cNvPr id="9" name="Marcador de contenido 8">
            <a:extLst>
              <a:ext uri="{FF2B5EF4-FFF2-40B4-BE49-F238E27FC236}">
                <a16:creationId xmlns:a16="http://schemas.microsoft.com/office/drawing/2014/main" id="{65B42F47-0ABB-3DF8-A28C-F6D48F51A04E}"/>
              </a:ext>
            </a:extLst>
          </p:cNvPr>
          <p:cNvSpPr>
            <a:spLocks noGrp="1"/>
          </p:cNvSpPr>
          <p:nvPr>
            <p:ph idx="1"/>
          </p:nvPr>
        </p:nvSpPr>
        <p:spPr>
          <a:xfrm>
            <a:off x="365074" y="336105"/>
            <a:ext cx="8321726" cy="1859763"/>
          </a:xfrm>
        </p:spPr>
        <p:txBody>
          <a:bodyPr>
            <a:normAutofit fontScale="77500" lnSpcReduction="20000"/>
          </a:bodyPr>
          <a:lstStyle/>
          <a:p>
            <a:pPr algn="l"/>
            <a:r>
              <a:rPr lang="es-ES" sz="2600" b="1" dirty="0"/>
              <a:t>Construyendo circuitos digitales</a:t>
            </a:r>
          </a:p>
          <a:p>
            <a:pPr marL="68580" indent="0">
              <a:buNone/>
            </a:pPr>
            <a:endParaRPr lang="es-ES" sz="2300" dirty="0"/>
          </a:p>
          <a:p>
            <a:pPr marL="68580" indent="0">
              <a:buNone/>
            </a:pPr>
            <a:r>
              <a:rPr lang="es-ES" sz="2600" dirty="0"/>
              <a:t>Y para placas ya más depuradas, se puede hacer un PCB prototipo, que permite hacer tiradas mayores</a:t>
            </a:r>
          </a:p>
          <a:p>
            <a:pPr marL="68580" indent="0">
              <a:buNone/>
            </a:pPr>
            <a:br>
              <a:rPr lang="es-ES" sz="2600" dirty="0"/>
            </a:br>
            <a:endParaRPr lang="es-ES" sz="2600" dirty="0"/>
          </a:p>
          <a:p>
            <a:pPr marL="68580" indent="0">
              <a:buNone/>
            </a:pPr>
            <a:endParaRPr lang="es-AR" dirty="0"/>
          </a:p>
        </p:txBody>
      </p:sp>
      <p:pic>
        <p:nvPicPr>
          <p:cNvPr id="5" name="Imagen 4">
            <a:extLst>
              <a:ext uri="{FF2B5EF4-FFF2-40B4-BE49-F238E27FC236}">
                <a16:creationId xmlns:a16="http://schemas.microsoft.com/office/drawing/2014/main" id="{F2D34C74-B890-0F3B-449A-3DD4E90C41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657" y="1536700"/>
            <a:ext cx="6512560" cy="4884420"/>
          </a:xfrm>
          <a:prstGeom prst="rect">
            <a:avLst/>
          </a:prstGeom>
        </p:spPr>
      </p:pic>
    </p:spTree>
    <p:extLst>
      <p:ext uri="{BB962C8B-B14F-4D97-AF65-F5344CB8AC3E}">
        <p14:creationId xmlns:p14="http://schemas.microsoft.com/office/powerpoint/2010/main" val="4094519711"/>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E75E5-01DB-7D3B-8BE1-E4EE30E65EE2}"/>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947CB87-60D6-0D7F-F657-5F8F5B652558}"/>
              </a:ext>
            </a:extLst>
          </p:cNvPr>
          <p:cNvSpPr>
            <a:spLocks noGrp="1"/>
          </p:cNvSpPr>
          <p:nvPr>
            <p:ph type="sldNum" sz="quarter" idx="12"/>
          </p:nvPr>
        </p:nvSpPr>
        <p:spPr/>
        <p:txBody>
          <a:bodyPr/>
          <a:lstStyle/>
          <a:p>
            <a:fld id="{8B37D5FE-740C-46F5-801A-FA5477D9711F}" type="slidenum">
              <a:rPr lang="en-US" smtClean="0"/>
              <a:pPr/>
              <a:t>13</a:t>
            </a:fld>
            <a:endParaRPr lang="en-US"/>
          </a:p>
        </p:txBody>
      </p:sp>
      <p:sp>
        <p:nvSpPr>
          <p:cNvPr id="9" name="Marcador de contenido 8">
            <a:extLst>
              <a:ext uri="{FF2B5EF4-FFF2-40B4-BE49-F238E27FC236}">
                <a16:creationId xmlns:a16="http://schemas.microsoft.com/office/drawing/2014/main" id="{5C1EB90C-BC64-4F3C-7B8D-08C99ECAD668}"/>
              </a:ext>
            </a:extLst>
          </p:cNvPr>
          <p:cNvSpPr>
            <a:spLocks noGrp="1"/>
          </p:cNvSpPr>
          <p:nvPr>
            <p:ph idx="1"/>
          </p:nvPr>
        </p:nvSpPr>
        <p:spPr>
          <a:xfrm>
            <a:off x="365238" y="417385"/>
            <a:ext cx="8321726" cy="2823655"/>
          </a:xfrm>
        </p:spPr>
        <p:txBody>
          <a:bodyPr>
            <a:normAutofit fontScale="62500" lnSpcReduction="20000"/>
          </a:bodyPr>
          <a:lstStyle/>
          <a:p>
            <a:pPr algn="l"/>
            <a:r>
              <a:rPr lang="es-ES" sz="2900" b="1" dirty="0"/>
              <a:t>Construyendo circuitos digitales</a:t>
            </a:r>
          </a:p>
          <a:p>
            <a:pPr marL="68580" indent="0">
              <a:buNone/>
            </a:pPr>
            <a:r>
              <a:rPr lang="es-ES" sz="3300" dirty="0"/>
              <a:t>Sin embargo, nosotros usaremos </a:t>
            </a:r>
            <a:r>
              <a:rPr lang="es-ES" sz="3300" dirty="0" err="1"/>
              <a:t>FPGAs</a:t>
            </a:r>
            <a:r>
              <a:rPr lang="es-ES" sz="3300" dirty="0"/>
              <a:t> . Y todo será mucho más fácil y más rápido. Igual de ágil que el desarrollo software. Sintetizaremos circuitos reales en pocos segundos</a:t>
            </a:r>
          </a:p>
          <a:p>
            <a:pPr marL="68580" indent="0">
              <a:buNone/>
            </a:pPr>
            <a:r>
              <a:rPr lang="es-ES" sz="3300" dirty="0"/>
              <a:t>Esta magia se consigue usando unos chips que se llaman </a:t>
            </a:r>
            <a:r>
              <a:rPr lang="es-ES" sz="3300" dirty="0" err="1"/>
              <a:t>FPGAs</a:t>
            </a:r>
            <a:r>
              <a:rPr lang="es-ES" sz="3300" dirty="0"/>
              <a:t>, que tienen en su interior los tres elementos básicos para realizar cualquier circuito digital: puertas lógicas, cables y biestables. Pero están sin conectar.</a:t>
            </a:r>
          </a:p>
          <a:p>
            <a:pPr marL="68580" indent="0">
              <a:buNone/>
            </a:pPr>
            <a:endParaRPr lang="es-ES" sz="3300" dirty="0"/>
          </a:p>
          <a:p>
            <a:pPr marL="68580" indent="0">
              <a:buNone/>
            </a:pPr>
            <a:br>
              <a:rPr lang="es-ES" sz="2600" dirty="0"/>
            </a:br>
            <a:endParaRPr lang="es-ES" sz="2600" dirty="0"/>
          </a:p>
          <a:p>
            <a:pPr marL="68580" indent="0">
              <a:buNone/>
            </a:pPr>
            <a:endParaRPr lang="es-AR" dirty="0"/>
          </a:p>
        </p:txBody>
      </p:sp>
      <p:pic>
        <p:nvPicPr>
          <p:cNvPr id="3" name="Imagen 2">
            <a:extLst>
              <a:ext uri="{FF2B5EF4-FFF2-40B4-BE49-F238E27FC236}">
                <a16:creationId xmlns:a16="http://schemas.microsoft.com/office/drawing/2014/main" id="{78C28C38-03DE-8300-078F-8ACBD65704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8080" y="2451145"/>
            <a:ext cx="4796042" cy="3909332"/>
          </a:xfrm>
          <a:prstGeom prst="rect">
            <a:avLst/>
          </a:prstGeom>
        </p:spPr>
      </p:pic>
    </p:spTree>
    <p:extLst>
      <p:ext uri="{BB962C8B-B14F-4D97-AF65-F5344CB8AC3E}">
        <p14:creationId xmlns:p14="http://schemas.microsoft.com/office/powerpoint/2010/main" val="2335382859"/>
      </p:ext>
    </p:extLst>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AD94A-B967-E4D4-8C7A-4C9C32442A92}"/>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92BC89C-BEAF-93DB-D3B6-D9512CBDDC5C}"/>
              </a:ext>
            </a:extLst>
          </p:cNvPr>
          <p:cNvSpPr>
            <a:spLocks noGrp="1"/>
          </p:cNvSpPr>
          <p:nvPr>
            <p:ph type="sldNum" sz="quarter" idx="12"/>
          </p:nvPr>
        </p:nvSpPr>
        <p:spPr/>
        <p:txBody>
          <a:bodyPr/>
          <a:lstStyle/>
          <a:p>
            <a:fld id="{8B37D5FE-740C-46F5-801A-FA5477D9711F}" type="slidenum">
              <a:rPr lang="en-US" smtClean="0"/>
              <a:pPr/>
              <a:t>14</a:t>
            </a:fld>
            <a:endParaRPr lang="en-US"/>
          </a:p>
        </p:txBody>
      </p:sp>
      <p:sp>
        <p:nvSpPr>
          <p:cNvPr id="9" name="Marcador de contenido 8">
            <a:extLst>
              <a:ext uri="{FF2B5EF4-FFF2-40B4-BE49-F238E27FC236}">
                <a16:creationId xmlns:a16="http://schemas.microsoft.com/office/drawing/2014/main" id="{B262563D-2543-4DF1-8B1F-88CB46A504CB}"/>
              </a:ext>
            </a:extLst>
          </p:cNvPr>
          <p:cNvSpPr>
            <a:spLocks noGrp="1"/>
          </p:cNvSpPr>
          <p:nvPr>
            <p:ph idx="1"/>
          </p:nvPr>
        </p:nvSpPr>
        <p:spPr>
          <a:xfrm>
            <a:off x="365238" y="417385"/>
            <a:ext cx="8321726" cy="2823655"/>
          </a:xfrm>
        </p:spPr>
        <p:txBody>
          <a:bodyPr>
            <a:normAutofit fontScale="70000" lnSpcReduction="20000"/>
          </a:bodyPr>
          <a:lstStyle/>
          <a:p>
            <a:pPr algn="l"/>
            <a:r>
              <a:rPr lang="es-ES" sz="2900" b="1" dirty="0"/>
              <a:t>Construyendo circuitos digitales</a:t>
            </a:r>
          </a:p>
          <a:p>
            <a:pPr marL="68580" indent="0">
              <a:buNone/>
            </a:pPr>
            <a:r>
              <a:rPr lang="es-ES" sz="3400" dirty="0"/>
              <a:t>Las </a:t>
            </a:r>
            <a:r>
              <a:rPr lang="es-ES" sz="3400" dirty="0" err="1"/>
              <a:t>FPGAs</a:t>
            </a:r>
            <a:r>
              <a:rPr lang="es-ES" sz="3400" dirty="0"/>
              <a:t> son como chips en blanco. Un lienzo donde podemos hacer cualquier circuito digital. Las uniones son programables, y al establecerlas, la FPGA se configura y nuestro circuito aparece. En cuestión de segundos. Decimos que nuestro circuito se ha sintetizado</a:t>
            </a:r>
          </a:p>
          <a:p>
            <a:pPr marL="68580" indent="0">
              <a:buNone/>
            </a:pPr>
            <a:endParaRPr lang="es-ES" sz="3300" dirty="0"/>
          </a:p>
          <a:p>
            <a:pPr marL="68580" indent="0">
              <a:buNone/>
            </a:pPr>
            <a:br>
              <a:rPr lang="es-ES" sz="2600" dirty="0"/>
            </a:br>
            <a:endParaRPr lang="es-ES" sz="2600" dirty="0"/>
          </a:p>
          <a:p>
            <a:pPr marL="68580" indent="0">
              <a:buNone/>
            </a:pPr>
            <a:endParaRPr lang="es-AR" dirty="0"/>
          </a:p>
        </p:txBody>
      </p:sp>
      <p:pic>
        <p:nvPicPr>
          <p:cNvPr id="5" name="Imagen 4">
            <a:extLst>
              <a:ext uri="{FF2B5EF4-FFF2-40B4-BE49-F238E27FC236}">
                <a16:creationId xmlns:a16="http://schemas.microsoft.com/office/drawing/2014/main" id="{EBA3A80A-BE25-93CD-8F44-4270563BC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960" y="1913027"/>
            <a:ext cx="8006080" cy="2188667"/>
          </a:xfrm>
          <a:prstGeom prst="rect">
            <a:avLst/>
          </a:prstGeom>
        </p:spPr>
      </p:pic>
      <p:sp>
        <p:nvSpPr>
          <p:cNvPr id="7" name="CuadroTexto 6">
            <a:extLst>
              <a:ext uri="{FF2B5EF4-FFF2-40B4-BE49-F238E27FC236}">
                <a16:creationId xmlns:a16="http://schemas.microsoft.com/office/drawing/2014/main" id="{237D4815-635D-862B-DBE3-C04E3A4FFE6F}"/>
              </a:ext>
            </a:extLst>
          </p:cNvPr>
          <p:cNvSpPr txBox="1"/>
          <p:nvPr/>
        </p:nvSpPr>
        <p:spPr>
          <a:xfrm>
            <a:off x="513080" y="4166175"/>
            <a:ext cx="8117840" cy="2862322"/>
          </a:xfrm>
          <a:prstGeom prst="rect">
            <a:avLst/>
          </a:prstGeom>
          <a:noFill/>
        </p:spPr>
        <p:txBody>
          <a:bodyPr wrap="square">
            <a:spAutoFit/>
          </a:bodyPr>
          <a:lstStyle/>
          <a:p>
            <a:pPr algn="l"/>
            <a:r>
              <a:rPr lang="es-ES" dirty="0">
                <a:solidFill>
                  <a:srgbClr val="0070C0"/>
                </a:solidFill>
                <a:effectLst>
                  <a:outerShdw blurRad="38100" dist="38100" dir="2700000" algn="tl">
                    <a:srgbClr val="000000">
                      <a:alpha val="43137"/>
                    </a:srgbClr>
                  </a:outerShdw>
                </a:effectLst>
                <a:latin typeface="Calibri Light" panose="020F0302020204030204" pitchFamily="34" charset="0"/>
              </a:rPr>
              <a:t>Estas uniones no son permanentes, lo que nos permite meter muchos circuitos. Ahora tenemos un circuito, y después podemos sustituirlo por otro circuito</a:t>
            </a:r>
          </a:p>
          <a:p>
            <a:pPr algn="l"/>
            <a:r>
              <a:rPr lang="es-ES" dirty="0">
                <a:solidFill>
                  <a:srgbClr val="0070C0"/>
                </a:solidFill>
                <a:effectLst>
                  <a:outerShdw blurRad="38100" dist="38100" dir="2700000" algn="tl">
                    <a:srgbClr val="000000">
                      <a:alpha val="43137"/>
                    </a:srgbClr>
                  </a:outerShdw>
                </a:effectLst>
                <a:latin typeface="Calibri Light" panose="020F0302020204030204" pitchFamily="34" charset="0"/>
              </a:rPr>
              <a:t>Las </a:t>
            </a:r>
            <a:r>
              <a:rPr lang="es-ES" dirty="0" err="1">
                <a:solidFill>
                  <a:srgbClr val="0070C0"/>
                </a:solidFill>
                <a:effectLst>
                  <a:outerShdw blurRad="38100" dist="38100" dir="2700000" algn="tl">
                    <a:srgbClr val="000000">
                      <a:alpha val="43137"/>
                    </a:srgbClr>
                  </a:outerShdw>
                </a:effectLst>
                <a:latin typeface="Calibri Light" panose="020F0302020204030204" pitchFamily="34" charset="0"/>
              </a:rPr>
              <a:t>FPGAs</a:t>
            </a:r>
            <a:r>
              <a:rPr lang="es-ES" dirty="0">
                <a:solidFill>
                  <a:srgbClr val="0070C0"/>
                </a:solidFill>
                <a:effectLst>
                  <a:outerShdw blurRad="38100" dist="38100" dir="2700000" algn="tl">
                    <a:srgbClr val="000000">
                      <a:alpha val="43137"/>
                    </a:srgbClr>
                  </a:outerShdw>
                </a:effectLst>
                <a:latin typeface="Calibri Light" panose="020F0302020204030204" pitchFamily="34" charset="0"/>
              </a:rPr>
              <a:t> se conocen desde los años 80, pero era una tecnología privativa, igual que lo eran las impresoras 3D. Esto implicaba que sólo unos pocos tenían acceso a ella, y menos aún conocían sus detalles. A partir de mayo de 2015, el ingeniero austriaco </a:t>
            </a:r>
            <a:r>
              <a:rPr lang="es-ES" dirty="0">
                <a:solidFill>
                  <a:srgbClr val="0070C0"/>
                </a:solidFill>
                <a:effectLst>
                  <a:outerShdw blurRad="38100" dist="38100" dir="2700000" algn="tl">
                    <a:srgbClr val="000000">
                      <a:alpha val="43137"/>
                    </a:srgbClr>
                  </a:outerShdw>
                </a:effectLst>
                <a:latin typeface="Calibri Light" panose="020F0302020204030204" pitchFamily="34" charset="0"/>
                <a:hlinkClick r:id="rId3">
                  <a:extLst>
                    <a:ext uri="{A12FA001-AC4F-418D-AE19-62706E023703}">
                      <ahyp:hlinkClr xmlns:ahyp="http://schemas.microsoft.com/office/drawing/2018/hyperlinkcolor" val="tx"/>
                    </a:ext>
                  </a:extLst>
                </a:hlinkClick>
              </a:rPr>
              <a:t>Clifford Wolf</a:t>
            </a:r>
            <a:r>
              <a:rPr lang="es-ES" dirty="0">
                <a:solidFill>
                  <a:srgbClr val="0070C0"/>
                </a:solidFill>
                <a:effectLst>
                  <a:outerShdw blurRad="38100" dist="38100" dir="2700000" algn="tl">
                    <a:srgbClr val="000000">
                      <a:alpha val="43137"/>
                    </a:srgbClr>
                  </a:outerShdw>
                </a:effectLst>
                <a:latin typeface="Calibri Light" panose="020F0302020204030204" pitchFamily="34" charset="0"/>
              </a:rPr>
              <a:t> hizo ingeniería inversa de la familia ICE40 de </a:t>
            </a:r>
            <a:r>
              <a:rPr lang="es-ES" dirty="0" err="1">
                <a:solidFill>
                  <a:srgbClr val="0070C0"/>
                </a:solidFill>
                <a:effectLst>
                  <a:outerShdw blurRad="38100" dist="38100" dir="2700000" algn="tl">
                    <a:srgbClr val="000000">
                      <a:alpha val="43137"/>
                    </a:srgbClr>
                  </a:outerShdw>
                </a:effectLst>
                <a:latin typeface="Calibri Light" panose="020F0302020204030204" pitchFamily="34" charset="0"/>
              </a:rPr>
              <a:t>Lattice</a:t>
            </a:r>
            <a:r>
              <a:rPr lang="es-ES" dirty="0">
                <a:solidFill>
                  <a:srgbClr val="0070C0"/>
                </a:solidFill>
                <a:effectLst>
                  <a:outerShdw blurRad="38100" dist="38100" dir="2700000" algn="tl">
                    <a:srgbClr val="000000">
                      <a:alpha val="43137"/>
                    </a:srgbClr>
                  </a:outerShdw>
                </a:effectLst>
                <a:latin typeface="Calibri Light" panose="020F0302020204030204" pitchFamily="34" charset="0"/>
              </a:rPr>
              <a:t>, publicó toda su información (</a:t>
            </a:r>
            <a:r>
              <a:rPr lang="es-ES" dirty="0">
                <a:solidFill>
                  <a:srgbClr val="0070C0"/>
                </a:solidFill>
                <a:effectLst>
                  <a:outerShdw blurRad="38100" dist="38100" dir="2700000" algn="tl">
                    <a:srgbClr val="000000">
                      <a:alpha val="43137"/>
                    </a:srgbClr>
                  </a:outerShdw>
                </a:effectLst>
                <a:latin typeface="Calibri Light" panose="020F0302020204030204" pitchFamily="34" charset="0"/>
                <a:hlinkClick r:id="rId4">
                  <a:extLst>
                    <a:ext uri="{A12FA001-AC4F-418D-AE19-62706E023703}">
                      <ahyp:hlinkClr xmlns:ahyp="http://schemas.microsoft.com/office/drawing/2018/hyperlinkcolor" val="tx"/>
                    </a:ext>
                  </a:extLst>
                </a:hlinkClick>
              </a:rPr>
              <a:t>proyecto </a:t>
            </a:r>
            <a:r>
              <a:rPr lang="es-ES" dirty="0" err="1">
                <a:solidFill>
                  <a:srgbClr val="0070C0"/>
                </a:solidFill>
                <a:effectLst>
                  <a:outerShdw blurRad="38100" dist="38100" dir="2700000" algn="tl">
                    <a:srgbClr val="000000">
                      <a:alpha val="43137"/>
                    </a:srgbClr>
                  </a:outerShdw>
                </a:effectLst>
                <a:latin typeface="Calibri Light" panose="020F0302020204030204" pitchFamily="34" charset="0"/>
                <a:hlinkClick r:id="rId4">
                  <a:extLst>
                    <a:ext uri="{A12FA001-AC4F-418D-AE19-62706E023703}">
                      <ahyp:hlinkClr xmlns:ahyp="http://schemas.microsoft.com/office/drawing/2018/hyperlinkcolor" val="tx"/>
                    </a:ext>
                  </a:extLst>
                </a:hlinkClick>
              </a:rPr>
              <a:t>icestorm</a:t>
            </a:r>
            <a:r>
              <a:rPr lang="es-ES" dirty="0">
                <a:solidFill>
                  <a:srgbClr val="0070C0"/>
                </a:solidFill>
                <a:effectLst>
                  <a:outerShdw blurRad="38100" dist="38100" dir="2700000" algn="tl">
                    <a:srgbClr val="000000">
                      <a:alpha val="43137"/>
                    </a:srgbClr>
                  </a:outerShdw>
                </a:effectLst>
                <a:latin typeface="Calibri Light" panose="020F0302020204030204" pitchFamily="34" charset="0"/>
              </a:rPr>
              <a:t>) y creó el primer sintetizador libre de la historia</a:t>
            </a:r>
          </a:p>
          <a:p>
            <a:br>
              <a:rPr lang="es-ES" dirty="0"/>
            </a:br>
            <a:endParaRPr lang="es-AR" dirty="0"/>
          </a:p>
        </p:txBody>
      </p:sp>
    </p:spTree>
    <p:extLst>
      <p:ext uri="{BB962C8B-B14F-4D97-AF65-F5344CB8AC3E}">
        <p14:creationId xmlns:p14="http://schemas.microsoft.com/office/powerpoint/2010/main" val="2970358192"/>
      </p:ext>
    </p:extLst>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ACB9C-C300-0C94-2D73-459F3545110A}"/>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55E46BA-ABA1-3D6A-D7B4-9A3A78A66392}"/>
              </a:ext>
            </a:extLst>
          </p:cNvPr>
          <p:cNvSpPr>
            <a:spLocks noGrp="1"/>
          </p:cNvSpPr>
          <p:nvPr>
            <p:ph type="sldNum" sz="quarter" idx="12"/>
          </p:nvPr>
        </p:nvSpPr>
        <p:spPr/>
        <p:txBody>
          <a:bodyPr/>
          <a:lstStyle/>
          <a:p>
            <a:fld id="{8B37D5FE-740C-46F5-801A-FA5477D9711F}" type="slidenum">
              <a:rPr lang="en-US" smtClean="0"/>
              <a:pPr/>
              <a:t>15</a:t>
            </a:fld>
            <a:endParaRPr lang="en-US"/>
          </a:p>
        </p:txBody>
      </p:sp>
      <p:sp>
        <p:nvSpPr>
          <p:cNvPr id="9" name="Marcador de contenido 8">
            <a:extLst>
              <a:ext uri="{FF2B5EF4-FFF2-40B4-BE49-F238E27FC236}">
                <a16:creationId xmlns:a16="http://schemas.microsoft.com/office/drawing/2014/main" id="{C62B7F68-3C7A-FDEF-1288-892D9D4C323C}"/>
              </a:ext>
            </a:extLst>
          </p:cNvPr>
          <p:cNvSpPr>
            <a:spLocks noGrp="1"/>
          </p:cNvSpPr>
          <p:nvPr>
            <p:ph idx="1"/>
          </p:nvPr>
        </p:nvSpPr>
        <p:spPr>
          <a:xfrm>
            <a:off x="365074" y="732345"/>
            <a:ext cx="8321726" cy="2823655"/>
          </a:xfrm>
        </p:spPr>
        <p:txBody>
          <a:bodyPr>
            <a:normAutofit fontScale="70000" lnSpcReduction="20000"/>
          </a:bodyPr>
          <a:lstStyle/>
          <a:p>
            <a:pPr algn="l"/>
            <a:r>
              <a:rPr lang="es-ES" sz="2900" b="1" dirty="0"/>
              <a:t>Construyendo circuitos digitales</a:t>
            </a:r>
          </a:p>
          <a:p>
            <a:pPr marL="68580" indent="0">
              <a:buNone/>
            </a:pPr>
            <a:r>
              <a:rPr lang="es-ES" sz="3400" dirty="0"/>
              <a:t>Las </a:t>
            </a:r>
            <a:r>
              <a:rPr lang="es-ES" sz="3400" dirty="0" err="1"/>
              <a:t>FPGAs</a:t>
            </a:r>
            <a:r>
              <a:rPr lang="es-ES" sz="3400" dirty="0"/>
              <a:t> son como chips en blanco. Un lienzo donde podemos hacer cualquier circuito digital. Las uniones son programables, y al establecerlas, la FPGA se configura y nuestro circuito aparece. En cuestión de segundos. Decimos que nuestro circuito se ha sintetizado</a:t>
            </a:r>
          </a:p>
          <a:p>
            <a:pPr marL="68580" indent="0">
              <a:buNone/>
            </a:pPr>
            <a:endParaRPr lang="es-ES" sz="3300" dirty="0"/>
          </a:p>
          <a:p>
            <a:pPr marL="68580" indent="0">
              <a:buNone/>
            </a:pPr>
            <a:br>
              <a:rPr lang="es-ES" sz="2600" dirty="0"/>
            </a:br>
            <a:endParaRPr lang="es-ES" sz="2600" dirty="0"/>
          </a:p>
          <a:p>
            <a:pPr marL="68580" indent="0">
              <a:buNone/>
            </a:pPr>
            <a:endParaRPr lang="es-AR" dirty="0"/>
          </a:p>
        </p:txBody>
      </p:sp>
    </p:spTree>
    <p:extLst>
      <p:ext uri="{BB962C8B-B14F-4D97-AF65-F5344CB8AC3E}">
        <p14:creationId xmlns:p14="http://schemas.microsoft.com/office/powerpoint/2010/main" val="2919318435"/>
      </p:ext>
    </p:extLst>
  </p:cSld>
  <p:clrMapOvr>
    <a:masterClrMapping/>
  </p:clrMapOvr>
  <p:transition spd="slow">
    <p:pull/>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Metadata/LabelInfo.xml><?xml version="1.0" encoding="utf-8"?>
<clbl:labelList xmlns:clbl="http://schemas.microsoft.com/office/2020/mipLabelMetadata">
  <clbl:label id="{fd1c0902-ed92-4fed-896d-2e7725de02d4}" enabled="1" method="Standard" siteId="{d6b0bbee-7cd9-4d60-bce6-4a67b543e2ae}" contentBits="2" removed="0"/>
</clbl:labelList>
</file>

<file path=docProps/app.xml><?xml version="1.0" encoding="utf-8"?>
<Properties xmlns="http://schemas.openxmlformats.org/officeDocument/2006/extended-properties" xmlns:vt="http://schemas.openxmlformats.org/officeDocument/2006/docPropsVTypes">
  <Template>Austin</Template>
  <TotalTime>6689</TotalTime>
  <Words>922</Words>
  <Application>Microsoft Office PowerPoint</Application>
  <PresentationFormat>Presentación en pantalla (4:3)</PresentationFormat>
  <Paragraphs>59</Paragraphs>
  <Slides>15</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15</vt:i4>
      </vt:variant>
    </vt:vector>
  </HeadingPairs>
  <TitlesOfParts>
    <vt:vector size="22" baseType="lpstr">
      <vt:lpstr>Arial</vt:lpstr>
      <vt:lpstr>Britannic Bold</vt:lpstr>
      <vt:lpstr>Calibri Light</vt:lpstr>
      <vt:lpstr>Century Gothic</vt:lpstr>
      <vt:lpstr>Wingdings</vt:lpstr>
      <vt:lpstr>Wingdings 2</vt:lpstr>
      <vt:lpstr>Austin</vt:lpstr>
      <vt:lpstr>ELECTRÓNICA DIGITAL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MUE_aqp</dc:creator>
  <cp:lastModifiedBy>CASASNOVAS Marcelo</cp:lastModifiedBy>
  <cp:revision>97</cp:revision>
  <dcterms:created xsi:type="dcterms:W3CDTF">2017-06-21T19:04:47Z</dcterms:created>
  <dcterms:modified xsi:type="dcterms:W3CDTF">2025-03-19T11:21:43Z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Austin:8</vt:lpwstr>
  </property>
  <property fmtid="{D5CDD505-2E9C-101B-9397-08002B2CF9AE}" pid="3" name="ClassificationContentMarkingFooterText">
    <vt:lpwstr>Confidential C</vt:lpwstr>
  </property>
</Properties>
</file>